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1" r:id="rId7"/>
    <p:sldId id="262" r:id="rId8"/>
    <p:sldId id="263" r:id="rId9"/>
    <p:sldId id="265" r:id="rId10"/>
    <p:sldId id="266" r:id="rId11"/>
    <p:sldId id="268"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4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234440"/>
            <a:ext cx="2834640" cy="457200"/>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公开技术材料 · 2026</a:t>
            </a:r>
          </a:p>
        </p:txBody>
      </p:sp>
      <p:sp>
        <p:nvSpPr>
          <p:cNvPr id="7" name="TextBox 6"/>
          <p:cNvSpPr txBox="1"/>
          <p:nvPr/>
        </p:nvSpPr>
        <p:spPr>
          <a:xfrm>
            <a:off x="804672" y="1965960"/>
            <a:ext cx="10607040" cy="768350"/>
          </a:xfrm>
          <a:prstGeom prst="rect">
            <a:avLst/>
          </a:prstGeom>
          <a:noFill/>
        </p:spPr>
        <p:txBody>
          <a:bodyPr wrap="square">
            <a:spAutoFit/>
          </a:bodyPr>
          <a:lstStyle/>
          <a:p>
            <a:pPr>
              <a:spcAft>
                <a:spcPts val="200"/>
              </a:spcAft>
              <a:defRPr sz="4400" b="1">
                <a:solidFill>
                  <a:srgbClr val="F1F6FD"/>
                </a:solidFill>
                <a:latin typeface="微软雅黑" panose="020B0503020204020204" charset="-122"/>
              </a:defRPr>
            </a:pPr>
            <a:r>
              <a:rPr lang="en-US"/>
              <a:t>Project IDEA</a:t>
            </a:r>
            <a:endParaRPr lang="en-US"/>
          </a:p>
        </p:txBody>
      </p:sp>
      <p:sp>
        <p:nvSpPr>
          <p:cNvPr id="8" name="TextBox 7"/>
          <p:cNvSpPr txBox="1"/>
          <p:nvPr/>
        </p:nvSpPr>
        <p:spPr>
          <a:xfrm>
            <a:off x="822833" y="2734310"/>
            <a:ext cx="10424160" cy="457200"/>
          </a:xfrm>
          <a:prstGeom prst="rect">
            <a:avLst/>
          </a:prstGeom>
          <a:noFill/>
        </p:spPr>
        <p:txBody>
          <a:bodyPr wrap="none">
            <a:spAutoFit/>
          </a:bodyPr>
          <a:lstStyle/>
          <a:p>
            <a:pPr>
              <a:defRPr sz="1700">
                <a:solidFill>
                  <a:srgbClr val="96A8C1"/>
                </a:solidFill>
                <a:latin typeface="微软雅黑" panose="020B0503020204020204" charset="-122"/>
              </a:defRPr>
            </a:pPr>
            <a:r>
              <a:t>公开技术材料合集：项目介绍 · 技术栈 · 产品需求</a:t>
            </a:r>
          </a:p>
        </p:txBody>
      </p:sp>
      <p:sp>
        <p:nvSpPr>
          <p:cNvPr id="24" name="TextBox 23"/>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1 / 31</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777240"/>
            <a:ext cx="10972800" cy="621792"/>
          </a:xfrm>
          <a:prstGeom prst="rect">
            <a:avLst/>
          </a:prstGeom>
          <a:noFill/>
        </p:spPr>
        <p:txBody>
          <a:bodyPr wrap="square">
            <a:spAutoFit/>
          </a:bodyPr>
          <a:lstStyle/>
          <a:p>
            <a:pPr>
              <a:defRPr sz="3400" b="1">
                <a:solidFill>
                  <a:srgbClr val="F1F6FD"/>
                </a:solidFill>
                <a:latin typeface="微软雅黑" panose="020B0503020204020204" charset="-122"/>
              </a:defRPr>
            </a:pPr>
            <a:r>
              <a:t>目录</a:t>
            </a:r>
          </a:p>
        </p:txBody>
      </p:sp>
      <p:sp>
        <p:nvSpPr>
          <p:cNvPr id="7" name="Rounded Rectangle 6"/>
          <p:cNvSpPr/>
          <p:nvPr/>
        </p:nvSpPr>
        <p:spPr>
          <a:xfrm>
            <a:off x="731520" y="1600200"/>
            <a:ext cx="10698480" cy="1371600"/>
          </a:xfrm>
          <a:prstGeom prst="roundRect">
            <a:avLst>
              <a:gd name="adj" fmla="val 7000"/>
            </a:avLst>
          </a:prstGeom>
          <a:solidFill>
            <a:srgbClr val="142642">
              <a:alpha val="82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73152" cy="100584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37943"/>
            <a:ext cx="868680" cy="822960"/>
          </a:xfrm>
          <a:prstGeom prst="rect">
            <a:avLst/>
          </a:prstGeom>
          <a:noFill/>
        </p:spPr>
        <p:txBody>
          <a:bodyPr wrap="none">
            <a:spAutoFit/>
          </a:bodyPr>
          <a:lstStyle/>
          <a:p>
            <a:pPr>
              <a:defRPr sz="3000" b="1">
                <a:solidFill>
                  <a:srgbClr val="50DCC3"/>
                </a:solidFill>
                <a:latin typeface="Arial" panose="020B0604020202020204"/>
              </a:defRPr>
            </a:pPr>
            <a:r>
              <a:t>01</a:t>
            </a:r>
          </a:p>
        </p:txBody>
      </p:sp>
      <p:sp>
        <p:nvSpPr>
          <p:cNvPr id="10" name="TextBox 9"/>
          <p:cNvSpPr txBox="1"/>
          <p:nvPr/>
        </p:nvSpPr>
        <p:spPr>
          <a:xfrm>
            <a:off x="2103120" y="1819656"/>
            <a:ext cx="2926080" cy="457200"/>
          </a:xfrm>
          <a:prstGeom prst="rect">
            <a:avLst/>
          </a:prstGeom>
          <a:noFill/>
        </p:spPr>
        <p:txBody>
          <a:bodyPr wrap="none">
            <a:spAutoFit/>
          </a:bodyPr>
          <a:lstStyle/>
          <a:p>
            <a:pPr>
              <a:defRPr sz="2000" b="1">
                <a:solidFill>
                  <a:srgbClr val="F1F6FD"/>
                </a:solidFill>
                <a:latin typeface="微软雅黑" panose="020B0503020204020204" charset="-122"/>
              </a:defRPr>
            </a:pPr>
            <a:r>
              <a:t>项目介绍</a:t>
            </a:r>
          </a:p>
        </p:txBody>
      </p:sp>
      <p:sp>
        <p:nvSpPr>
          <p:cNvPr id="11" name="TextBox 10"/>
          <p:cNvSpPr txBox="1"/>
          <p:nvPr/>
        </p:nvSpPr>
        <p:spPr>
          <a:xfrm>
            <a:off x="5212080" y="1874519"/>
            <a:ext cx="5394960" cy="868680"/>
          </a:xfrm>
          <a:prstGeom prst="rect">
            <a:avLst/>
          </a:prstGeom>
          <a:noFill/>
        </p:spPr>
        <p:txBody>
          <a:bodyPr wrap="square">
            <a:spAutoFit/>
          </a:bodyPr>
          <a:lstStyle/>
          <a:p>
            <a:pPr>
              <a:lnSpc>
                <a:spcPct val="120000"/>
              </a:lnSpc>
              <a:defRPr sz="1250">
                <a:solidFill>
                  <a:srgbClr val="96A8C1"/>
                </a:solidFill>
                <a:latin typeface="微软雅黑" panose="020B0503020204020204" charset="-122"/>
              </a:defRPr>
            </a:pPr>
            <a:r>
              <a:t>定位与背景 · 端到端工作流 · 客户端 / 服务端与智能体 · 知识与记忆 · 权限边界 · 当前状态与价值</a:t>
            </a:r>
          </a:p>
        </p:txBody>
      </p:sp>
      <p:sp>
        <p:nvSpPr>
          <p:cNvPr id="12" name="TextBox 11"/>
          <p:cNvSpPr txBox="1"/>
          <p:nvPr/>
        </p:nvSpPr>
        <p:spPr>
          <a:xfrm>
            <a:off x="10149840" y="2075688"/>
            <a:ext cx="1097280" cy="365760"/>
          </a:xfrm>
          <a:prstGeom prst="rect">
            <a:avLst/>
          </a:prstGeom>
          <a:noFill/>
        </p:spPr>
        <p:txBody>
          <a:bodyPr wrap="none">
            <a:spAutoFit/>
          </a:bodyPr>
          <a:lstStyle/>
          <a:p>
            <a:pPr algn="ctr">
              <a:defRPr sz="1200">
                <a:solidFill>
                  <a:srgbClr val="7084A0"/>
                </a:solidFill>
                <a:latin typeface="Consolas" panose="020B0609020204030204"/>
              </a:defRPr>
            </a:pPr>
            <a:r>
              <a:t>3 – 12</a:t>
            </a:r>
          </a:p>
        </p:txBody>
      </p:sp>
      <p:sp>
        <p:nvSpPr>
          <p:cNvPr id="13" name="Rounded Rectangle 12"/>
          <p:cNvSpPr/>
          <p:nvPr/>
        </p:nvSpPr>
        <p:spPr>
          <a:xfrm>
            <a:off x="731520" y="3172968"/>
            <a:ext cx="10698480" cy="1371600"/>
          </a:xfrm>
          <a:prstGeom prst="roundRect">
            <a:avLst>
              <a:gd name="adj" fmla="val 7000"/>
            </a:avLst>
          </a:prstGeom>
          <a:solidFill>
            <a:srgbClr val="142642">
              <a:alpha val="82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355848"/>
            <a:ext cx="73152" cy="100584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410711"/>
            <a:ext cx="868680" cy="822960"/>
          </a:xfrm>
          <a:prstGeom prst="rect">
            <a:avLst/>
          </a:prstGeom>
          <a:noFill/>
        </p:spPr>
        <p:txBody>
          <a:bodyPr wrap="none">
            <a:spAutoFit/>
          </a:bodyPr>
          <a:lstStyle/>
          <a:p>
            <a:pPr>
              <a:defRPr sz="3000" b="1">
                <a:solidFill>
                  <a:srgbClr val="5EB7FF"/>
                </a:solidFill>
                <a:latin typeface="Arial" panose="020B0604020202020204"/>
              </a:defRPr>
            </a:pPr>
            <a:r>
              <a:t>02</a:t>
            </a:r>
          </a:p>
        </p:txBody>
      </p:sp>
      <p:sp>
        <p:nvSpPr>
          <p:cNvPr id="16" name="TextBox 15"/>
          <p:cNvSpPr txBox="1"/>
          <p:nvPr/>
        </p:nvSpPr>
        <p:spPr>
          <a:xfrm>
            <a:off x="2103120" y="3392424"/>
            <a:ext cx="2926080" cy="457200"/>
          </a:xfrm>
          <a:prstGeom prst="rect">
            <a:avLst/>
          </a:prstGeom>
          <a:noFill/>
        </p:spPr>
        <p:txBody>
          <a:bodyPr wrap="none">
            <a:spAutoFit/>
          </a:bodyPr>
          <a:lstStyle/>
          <a:p>
            <a:pPr>
              <a:defRPr sz="2000" b="1">
                <a:solidFill>
                  <a:srgbClr val="F1F6FD"/>
                </a:solidFill>
                <a:latin typeface="微软雅黑" panose="020B0503020204020204" charset="-122"/>
              </a:defRPr>
            </a:pPr>
            <a:r>
              <a:t>技术栈</a:t>
            </a:r>
          </a:p>
        </p:txBody>
      </p:sp>
      <p:sp>
        <p:nvSpPr>
          <p:cNvPr id="17" name="TextBox 16"/>
          <p:cNvSpPr txBox="1"/>
          <p:nvPr/>
        </p:nvSpPr>
        <p:spPr>
          <a:xfrm>
            <a:off x="5212080" y="3447287"/>
            <a:ext cx="5394960" cy="868680"/>
          </a:xfrm>
          <a:prstGeom prst="rect">
            <a:avLst/>
          </a:prstGeom>
          <a:noFill/>
        </p:spPr>
        <p:txBody>
          <a:bodyPr wrap="square">
            <a:spAutoFit/>
          </a:bodyPr>
          <a:lstStyle/>
          <a:p>
            <a:pPr>
              <a:lnSpc>
                <a:spcPct val="120000"/>
              </a:lnSpc>
              <a:defRPr sz="1250">
                <a:solidFill>
                  <a:srgbClr val="96A8C1"/>
                </a:solidFill>
                <a:latin typeface="微软雅黑" panose="020B0503020204020204" charset="-122"/>
              </a:defRPr>
            </a:pPr>
            <a:r>
              <a:t>总体分层与数据流 · Electron 三层边界 · FastAPI 服务端 · Agent Runtime 与模型 · RAG 与记忆 · 权限部署 · 测试与可靠性</a:t>
            </a:r>
          </a:p>
        </p:txBody>
      </p:sp>
      <p:sp>
        <p:nvSpPr>
          <p:cNvPr id="18" name="TextBox 17"/>
          <p:cNvSpPr txBox="1"/>
          <p:nvPr/>
        </p:nvSpPr>
        <p:spPr>
          <a:xfrm>
            <a:off x="10149840" y="3648456"/>
            <a:ext cx="1097280" cy="365760"/>
          </a:xfrm>
          <a:prstGeom prst="rect">
            <a:avLst/>
          </a:prstGeom>
          <a:noFill/>
        </p:spPr>
        <p:txBody>
          <a:bodyPr wrap="none">
            <a:spAutoFit/>
          </a:bodyPr>
          <a:lstStyle/>
          <a:p>
            <a:pPr algn="ctr">
              <a:defRPr sz="1200">
                <a:solidFill>
                  <a:srgbClr val="7084A0"/>
                </a:solidFill>
                <a:latin typeface="Consolas" panose="020B0609020204030204"/>
              </a:defRPr>
            </a:pPr>
            <a:r>
              <a:t>13 – 20</a:t>
            </a:r>
          </a:p>
        </p:txBody>
      </p:sp>
      <p:sp>
        <p:nvSpPr>
          <p:cNvPr id="19" name="Rounded Rectangle 18"/>
          <p:cNvSpPr/>
          <p:nvPr/>
        </p:nvSpPr>
        <p:spPr>
          <a:xfrm>
            <a:off x="731520" y="4745736"/>
            <a:ext cx="10698480" cy="1371600"/>
          </a:xfrm>
          <a:prstGeom prst="roundRect">
            <a:avLst>
              <a:gd name="adj" fmla="val 7000"/>
            </a:avLst>
          </a:prstGeom>
          <a:solidFill>
            <a:srgbClr val="142642">
              <a:alpha val="82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928616"/>
            <a:ext cx="73152" cy="100584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983479"/>
            <a:ext cx="868680" cy="822960"/>
          </a:xfrm>
          <a:prstGeom prst="rect">
            <a:avLst/>
          </a:prstGeom>
          <a:noFill/>
        </p:spPr>
        <p:txBody>
          <a:bodyPr wrap="none">
            <a:spAutoFit/>
          </a:bodyPr>
          <a:lstStyle/>
          <a:p>
            <a:pPr>
              <a:defRPr sz="3000" b="1">
                <a:solidFill>
                  <a:srgbClr val="F2B454"/>
                </a:solidFill>
                <a:latin typeface="Arial" panose="020B0604020202020204"/>
              </a:defRPr>
            </a:pPr>
            <a:r>
              <a:t>03</a:t>
            </a:r>
          </a:p>
        </p:txBody>
      </p:sp>
      <p:sp>
        <p:nvSpPr>
          <p:cNvPr id="22" name="TextBox 21"/>
          <p:cNvSpPr txBox="1"/>
          <p:nvPr/>
        </p:nvSpPr>
        <p:spPr>
          <a:xfrm>
            <a:off x="2103120" y="4965192"/>
            <a:ext cx="2926080" cy="457200"/>
          </a:xfrm>
          <a:prstGeom prst="rect">
            <a:avLst/>
          </a:prstGeom>
          <a:noFill/>
        </p:spPr>
        <p:txBody>
          <a:bodyPr wrap="none">
            <a:spAutoFit/>
          </a:bodyPr>
          <a:lstStyle/>
          <a:p>
            <a:pPr>
              <a:defRPr sz="2000" b="1">
                <a:solidFill>
                  <a:srgbClr val="F1F6FD"/>
                </a:solidFill>
                <a:latin typeface="微软雅黑" panose="020B0503020204020204" charset="-122"/>
              </a:defRPr>
            </a:pPr>
            <a:r>
              <a:t>产品需求</a:t>
            </a:r>
          </a:p>
        </p:txBody>
      </p:sp>
      <p:sp>
        <p:nvSpPr>
          <p:cNvPr id="23" name="TextBox 22"/>
          <p:cNvSpPr txBox="1"/>
          <p:nvPr/>
        </p:nvSpPr>
        <p:spPr>
          <a:xfrm>
            <a:off x="5212080" y="5020055"/>
            <a:ext cx="5394960" cy="868680"/>
          </a:xfrm>
          <a:prstGeom prst="rect">
            <a:avLst/>
          </a:prstGeom>
          <a:noFill/>
        </p:spPr>
        <p:txBody>
          <a:bodyPr wrap="square">
            <a:spAutoFit/>
          </a:bodyPr>
          <a:lstStyle/>
          <a:p>
            <a:pPr>
              <a:lnSpc>
                <a:spcPct val="120000"/>
              </a:lnSpc>
              <a:defRPr sz="1250">
                <a:solidFill>
                  <a:srgbClr val="96A8C1"/>
                </a:solidFill>
                <a:latin typeface="微软雅黑" panose="020B0503020204020204" charset="-122"/>
              </a:defRPr>
            </a:pPr>
            <a:r>
              <a:t>用户与场景 · 目标与范围 · 功能需求 · 任务模型 · Agent 与工具 · 知识记忆 · 权限安全 · 跨设备与模型路由 · 非功能指标 · 阶段路线</a:t>
            </a:r>
          </a:p>
        </p:txBody>
      </p:sp>
      <p:sp>
        <p:nvSpPr>
          <p:cNvPr id="24" name="TextBox 23"/>
          <p:cNvSpPr txBox="1"/>
          <p:nvPr/>
        </p:nvSpPr>
        <p:spPr>
          <a:xfrm>
            <a:off x="10149840" y="5221223"/>
            <a:ext cx="1097280" cy="365760"/>
          </a:xfrm>
          <a:prstGeom prst="rect">
            <a:avLst/>
          </a:prstGeom>
          <a:noFill/>
        </p:spPr>
        <p:txBody>
          <a:bodyPr wrap="none">
            <a:spAutoFit/>
          </a:bodyPr>
          <a:lstStyle/>
          <a:p>
            <a:pPr algn="ctr">
              <a:defRPr sz="1200">
                <a:solidFill>
                  <a:srgbClr val="7084A0"/>
                </a:solidFill>
                <a:latin typeface="Consolas" panose="020B0609020204030204"/>
              </a:defRPr>
            </a:pPr>
            <a:r>
              <a:t>21 – 31</a:t>
            </a:r>
          </a:p>
        </p:txBody>
      </p:sp>
      <p:sp>
        <p:nvSpPr>
          <p:cNvPr id="25" name="TextBox 24"/>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2 / 31</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0" y="822960"/>
            <a:ext cx="4023360" cy="3200400"/>
          </a:xfrm>
          <a:prstGeom prst="rect">
            <a:avLst/>
          </a:prstGeom>
          <a:noFill/>
        </p:spPr>
        <p:txBody>
          <a:bodyPr wrap="none">
            <a:spAutoFit/>
          </a:bodyPr>
          <a:lstStyle/>
          <a:p>
            <a:pPr>
              <a:defRPr sz="17000" b="1">
                <a:solidFill>
                  <a:srgbClr val="235B5E"/>
                </a:solidFill>
                <a:latin typeface="Arial" panose="020B0604020202020204"/>
              </a:defRPr>
            </a:pPr>
            <a:r>
              <a:t>01</a:t>
            </a:r>
          </a:p>
        </p:txBody>
      </p:sp>
      <p:sp>
        <p:nvSpPr>
          <p:cNvPr id="7" name="TextBox 6"/>
          <p:cNvSpPr txBox="1"/>
          <p:nvPr/>
        </p:nvSpPr>
        <p:spPr>
          <a:xfrm>
            <a:off x="868680" y="1965960"/>
            <a:ext cx="10058400" cy="457200"/>
          </a:xfrm>
          <a:prstGeom prst="rect">
            <a:avLst/>
          </a:prstGeom>
          <a:noFill/>
        </p:spPr>
        <p:txBody>
          <a:bodyPr wrap="none">
            <a:spAutoFit/>
          </a:bodyPr>
          <a:lstStyle/>
          <a:p>
            <a:pPr>
              <a:defRPr sz="1700" b="1">
                <a:solidFill>
                  <a:srgbClr val="50DCC3"/>
                </a:solidFill>
                <a:latin typeface="Consolas" panose="020B0609020204030204"/>
              </a:defRPr>
            </a:pPr>
            <a:r>
              <a:t>PART 01</a:t>
            </a:r>
          </a:p>
        </p:txBody>
      </p:sp>
      <p:sp>
        <p:nvSpPr>
          <p:cNvPr id="8" name="TextBox 7"/>
          <p:cNvSpPr txBox="1"/>
          <p:nvPr/>
        </p:nvSpPr>
        <p:spPr>
          <a:xfrm>
            <a:off x="841248" y="2468880"/>
            <a:ext cx="10058400" cy="1005840"/>
          </a:xfrm>
          <a:prstGeom prst="rect">
            <a:avLst/>
          </a:prstGeom>
          <a:noFill/>
        </p:spPr>
        <p:txBody>
          <a:bodyPr wrap="none">
            <a:spAutoFit/>
          </a:bodyPr>
          <a:lstStyle/>
          <a:p>
            <a:pPr>
              <a:defRPr sz="4400" b="1">
                <a:solidFill>
                  <a:srgbClr val="F1F6FD"/>
                </a:solidFill>
                <a:latin typeface="微软雅黑" panose="020B0503020204020204" charset="-122"/>
              </a:defRPr>
            </a:pPr>
            <a:r>
              <a:t>项目介绍</a:t>
            </a:r>
          </a:p>
        </p:txBody>
      </p:sp>
      <p:sp>
        <p:nvSpPr>
          <p:cNvPr id="9" name="Rectangle 8"/>
          <p:cNvSpPr/>
          <p:nvPr/>
        </p:nvSpPr>
        <p:spPr>
          <a:xfrm>
            <a:off x="896112" y="3566160"/>
            <a:ext cx="594360" cy="4572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01 · 项目介绍</a:t>
            </a:r>
          </a:p>
        </p:txBody>
      </p:sp>
      <p:sp>
        <p:nvSpPr>
          <p:cNvPr id="12" name="TextBox 11"/>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3 / 31</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项目介绍</a:t>
            </a:r>
          </a:p>
        </p:txBody>
      </p:sp>
      <p:sp>
        <p:nvSpPr>
          <p:cNvPr id="7" name="TextBox 6"/>
          <p:cNvSpPr txBox="1"/>
          <p:nvPr/>
        </p:nvSpPr>
        <p:spPr>
          <a:xfrm>
            <a:off x="658368" y="987552"/>
            <a:ext cx="10972800" cy="475615"/>
          </a:xfrm>
          <a:prstGeom prst="rect">
            <a:avLst/>
          </a:prstGeom>
          <a:noFill/>
        </p:spPr>
        <p:txBody>
          <a:bodyPr wrap="square">
            <a:spAutoFit/>
          </a:bodyPr>
          <a:lstStyle/>
          <a:p>
            <a:pPr>
              <a:defRPr sz="2500" b="1">
                <a:solidFill>
                  <a:srgbClr val="F1F6FD"/>
                </a:solidFill>
                <a:latin typeface="微软雅黑" panose="020B0503020204020204" charset="-122"/>
              </a:defRPr>
            </a:pPr>
            <a:r>
              <a:rPr lang="zh-CN"/>
              <a:t>项目构想</a:t>
            </a:r>
            <a:endParaRPr lang="zh-CN"/>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8820" y="1427480"/>
            <a:ext cx="10881995" cy="4639310"/>
          </a:xfrm>
          <a:prstGeom prst="rect">
            <a:avLst/>
          </a:prstGeom>
          <a:noFill/>
        </p:spPr>
        <p:txBody>
          <a:bodyPr wrap="square" lIns="36576" rIns="36576">
            <a:noAutofit/>
          </a:bodyPr>
          <a:lstStyle/>
          <a:p>
            <a:pPr>
              <a:lnSpc>
                <a:spcPct val="116000"/>
              </a:lnSpc>
              <a:spcAft>
                <a:spcPts val="700"/>
              </a:spcAft>
              <a:defRPr sz="1350">
                <a:solidFill>
                  <a:srgbClr val="E0E9F5"/>
                </a:solidFill>
                <a:latin typeface="微软雅黑" panose="020B0503020204020204" charset="-122"/>
              </a:defRPr>
            </a:pPr>
            <a:r>
              <a:rPr lang="en-US" altLang="zh-CN" sz="1400"/>
              <a:t>Project IDEA</a:t>
            </a:r>
            <a:r>
              <a:rPr lang="zh-CN" altLang="en-US" sz="1400"/>
              <a:t>是一个多期</a:t>
            </a:r>
            <a:r>
              <a:rPr lang="en-US" altLang="zh-CN" sz="1400"/>
              <a:t>AI</a:t>
            </a:r>
            <a:r>
              <a:rPr lang="zh-CN" altLang="en-US" sz="1400"/>
              <a:t>应用（</a:t>
            </a:r>
            <a:r>
              <a:rPr lang="en-US" altLang="zh-CN" sz="1400"/>
              <a:t>AI</a:t>
            </a:r>
            <a:r>
              <a:rPr lang="zh-CN" altLang="en-US" sz="1400"/>
              <a:t>模型开发）制作企划，项目总体分为三阶段</a:t>
            </a:r>
            <a:r>
              <a:rPr lang="en-US" altLang="zh-CN" sz="1400"/>
              <a:t>——</a:t>
            </a:r>
            <a:r>
              <a:rPr lang="zh-CN" altLang="en-US" sz="1400"/>
              <a:t>平台阶段，智能体深化开发阶段，特化开发阶段</a:t>
            </a:r>
            <a:endParaRPr lang="zh-CN" altLang="en-US" sz="1400"/>
          </a:p>
          <a:p>
            <a:pPr>
              <a:lnSpc>
                <a:spcPct val="116000"/>
              </a:lnSpc>
              <a:spcAft>
                <a:spcPts val="700"/>
              </a:spcAft>
              <a:defRPr sz="1350">
                <a:solidFill>
                  <a:srgbClr val="E0E9F5"/>
                </a:solidFill>
                <a:latin typeface="微软雅黑" panose="020B0503020204020204" charset="-122"/>
              </a:defRPr>
            </a:pPr>
            <a:r>
              <a:rPr lang="zh-CN" altLang="en-US" sz="1400"/>
              <a:t>在平台阶段，项目将制作通用</a:t>
            </a:r>
            <a:r>
              <a:rPr lang="en-US" altLang="zh-CN" sz="1400"/>
              <a:t>Harness</a:t>
            </a:r>
            <a:r>
              <a:rPr lang="zh-CN" altLang="en-US" sz="1400"/>
              <a:t>底座，并集成</a:t>
            </a:r>
            <a:r>
              <a:rPr lang="en-US" altLang="zh-CN" sz="1400"/>
              <a:t>RAG</a:t>
            </a:r>
            <a:r>
              <a:rPr lang="zh-CN" altLang="en-US" sz="1400"/>
              <a:t>服务面板与自动化，工作流等基础功能、并面向不同生活场景与科研工作场景开发基础智能体，本阶段，项目将初步完成</a:t>
            </a:r>
            <a:r>
              <a:rPr lang="en-US" altLang="zh-CN" sz="1400"/>
              <a:t>IDEA</a:t>
            </a:r>
            <a:r>
              <a:rPr lang="zh-CN" altLang="en-US" sz="1400"/>
              <a:t>的三个角色：生物科研智能体、日常生活助理与个人创作助手。</a:t>
            </a:r>
            <a:endParaRPr lang="zh-CN" altLang="en-US" sz="1400"/>
          </a:p>
          <a:p>
            <a:pPr>
              <a:lnSpc>
                <a:spcPct val="116000"/>
              </a:lnSpc>
              <a:spcAft>
                <a:spcPts val="700"/>
              </a:spcAft>
              <a:defRPr sz="1350">
                <a:solidFill>
                  <a:srgbClr val="E0E9F5"/>
                </a:solidFill>
                <a:latin typeface="微软雅黑" panose="020B0503020204020204" charset="-122"/>
              </a:defRPr>
            </a:pPr>
            <a:r>
              <a:rPr lang="zh-CN" altLang="en-US" sz="1400"/>
              <a:t>在完成平台的搭建后，项目将进入智能体深化开发阶段，此时会开始进行智能体的提示词，长期记忆算法，推理规则限制等内容的深化开发</a:t>
            </a:r>
            <a:endParaRPr lang="zh-CN" altLang="en-US" sz="1400"/>
          </a:p>
          <a:p>
            <a:pPr>
              <a:lnSpc>
                <a:spcPct val="116000"/>
              </a:lnSpc>
              <a:spcAft>
                <a:spcPts val="700"/>
              </a:spcAft>
              <a:defRPr sz="1350">
                <a:solidFill>
                  <a:srgbClr val="E0E9F5"/>
                </a:solidFill>
                <a:latin typeface="微软雅黑" panose="020B0503020204020204" charset="-122"/>
              </a:defRPr>
            </a:pPr>
            <a:r>
              <a:rPr lang="zh-CN" altLang="en-US" sz="1400"/>
              <a:t>作为生物科研智能体，它围绕科研工作流组织能力</a:t>
            </a:r>
            <a:r>
              <a:rPr lang="en-US" altLang="zh-CN" sz="1400"/>
              <a:t>——</a:t>
            </a:r>
            <a:r>
              <a:rPr lang="zh-CN" altLang="en-US" sz="1400"/>
              <a:t>文献检索与解读、实验方案的整理、数据的初步分析、结果的归纳与待验证假设的提出，让研究者在文献、数据与结论之间保持一条可追溯的线索；作为日常生活助理，它帮助打理日程、提醒、资料整理和跨设备的事务交接，承担重复性的信息处理工作；作为个人创作助手，它辅助写作、构思、素材整理与结构化表达。三者共用同一套平台能力：记忆、知识库、受控工具调用、任务管理与权限边界，以及三个不同的智能体。用户不需要为每个场景安装不同的系统，而是在统一的工作面上按需启用相应角色。</a:t>
            </a:r>
            <a:endParaRPr lang="en-US" altLang="zh-CN" sz="1400"/>
          </a:p>
          <a:p>
            <a:pPr>
              <a:lnSpc>
                <a:spcPct val="116000"/>
              </a:lnSpc>
              <a:spcAft>
                <a:spcPts val="700"/>
              </a:spcAft>
              <a:defRPr sz="1350">
                <a:solidFill>
                  <a:srgbClr val="E0E9F5"/>
                </a:solidFill>
                <a:latin typeface="微软雅黑" panose="020B0503020204020204" charset="-122"/>
              </a:defRPr>
            </a:pPr>
            <a:r>
              <a:rPr lang="zh-CN" altLang="en-US" sz="1400"/>
              <a:t>平台开发完成后，产品的发展会进入分化阶段。生物科研方向不再停留在通用能力上，而是同时尝试两条路径：一条是实验室特化，针对具体实验体系做更深入的适配，贴近湿实验的流程、数据与验证环节；另一条是虚拟细胞开发，在计算环境中构建可模拟、可解释、可验证的细胞模型。这两条路径会共享平台的记忆、模型与数据治理基础，但各有独立的验证目标。</a:t>
            </a:r>
            <a:endParaRPr lang="en-US" altLang="zh-CN" sz="1400"/>
          </a:p>
          <a:p>
            <a:pPr>
              <a:lnSpc>
                <a:spcPct val="116000"/>
              </a:lnSpc>
              <a:spcAft>
                <a:spcPts val="700"/>
              </a:spcAft>
              <a:defRPr sz="1350">
                <a:solidFill>
                  <a:srgbClr val="E0E9F5"/>
                </a:solidFill>
                <a:latin typeface="微软雅黑" panose="020B0503020204020204" charset="-122"/>
              </a:defRPr>
            </a:pPr>
            <a:r>
              <a:rPr lang="zh-CN" altLang="en-US" sz="1400"/>
              <a:t>与此同时，通用平台上的科研智能体将停止新增特化功能，只进行必要的性能维护与优化，不再更新新的科研版本，实验室特化版本将专供实验室与合作者使用。</a:t>
            </a:r>
            <a:endParaRPr lang="zh-CN" altLang="en-US" sz="1400"/>
          </a:p>
          <a:p>
            <a:pPr>
              <a:lnSpc>
                <a:spcPct val="116000"/>
              </a:lnSpc>
              <a:spcAft>
                <a:spcPts val="700"/>
              </a:spcAft>
              <a:defRPr sz="1350">
                <a:solidFill>
                  <a:srgbClr val="E0E9F5"/>
                </a:solidFill>
                <a:latin typeface="微软雅黑" panose="020B0503020204020204" charset="-122"/>
              </a:defRPr>
            </a:pPr>
            <a:endParaRPr lang="en-US" altLang="zh-CN"/>
          </a:p>
          <a:p>
            <a:pPr>
              <a:lnSpc>
                <a:spcPct val="116000"/>
              </a:lnSpc>
              <a:spcAft>
                <a:spcPts val="700"/>
              </a:spcAft>
              <a:defRPr sz="1350">
                <a:solidFill>
                  <a:srgbClr val="E0E9F5"/>
                </a:solidFill>
                <a:latin typeface="微软雅黑" panose="020B0503020204020204" charset="-122"/>
              </a:defRPr>
            </a:pPr>
            <a:endParaRPr lang="en-US" altLang="zh-CN"/>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4 / 31</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项目介绍</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端到端工作流</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5480" y="1494155"/>
            <a:ext cx="10956290" cy="4328160"/>
          </a:xfrm>
          <a:prstGeom prst="rect">
            <a:avLst/>
          </a:prstGeom>
          <a:noFill/>
        </p:spPr>
        <p:txBody>
          <a:bodyPr wrap="square" lIns="36576" rIns="36576">
            <a:noAutofit/>
          </a:bodyPr>
          <a:lstStyle/>
          <a:p>
            <a:pPr>
              <a:lnSpc>
                <a:spcPct val="116000"/>
              </a:lnSpc>
              <a:spcAft>
                <a:spcPts val="700"/>
              </a:spcAft>
              <a:defRPr sz="1250">
                <a:solidFill>
                  <a:srgbClr val="E0E9F5"/>
                </a:solidFill>
                <a:latin typeface="微软雅黑" panose="020B0503020204020204" charset="-122"/>
              </a:defRPr>
            </a:pPr>
            <a:r>
              <a:rPr sz="1400"/>
              <a:t>一次任务从“选择上下文”开始，而不是从空白输入框开始。用户先在客户端选择 IDE 或工作台模式，并打开已授权的本地工作区；随后描述目标、已知条件、不可触碰的范围和验收标准。系统将这些显式信息与当前会话、必要文件和可用工具组合为任务上下文。智能体在获得指令后先拆分步骤：哪些内容需要读取，哪些判断需要用户提供依据，哪些修改需要进入文件，哪些验证可以在受控环境完成。计划不是隐含过程，而应当能够被用户理解和调整。</a:t>
            </a:r>
            <a:endParaRPr sz="1400"/>
          </a:p>
          <a:p>
            <a:pPr>
              <a:lnSpc>
                <a:spcPct val="116000"/>
              </a:lnSpc>
              <a:spcAft>
                <a:spcPts val="700"/>
              </a:spcAft>
              <a:defRPr sz="1250">
                <a:solidFill>
                  <a:srgbClr val="E0E9F5"/>
                </a:solidFill>
                <a:latin typeface="微软雅黑" panose="020B0503020204020204" charset="-122"/>
              </a:defRPr>
            </a:pPr>
            <a:endParaRPr sz="1400"/>
          </a:p>
          <a:p>
            <a:pPr>
              <a:lnSpc>
                <a:spcPct val="116000"/>
              </a:lnSpc>
              <a:spcAft>
                <a:spcPts val="700"/>
              </a:spcAft>
              <a:defRPr sz="1250">
                <a:solidFill>
                  <a:srgbClr val="E0E9F5"/>
                </a:solidFill>
                <a:latin typeface="微软雅黑" panose="020B0503020204020204" charset="-122"/>
              </a:defRPr>
            </a:pPr>
            <a:r>
              <a:rPr sz="1400"/>
              <a:t>执行阶段遵守工具和项目两层限制。文件访问只在工作区白名单内进行，命令、网络或其他能力通过受控注册入口暴露，而不是由会话文本直接获得。每个阶段返回中间结果、必要依据和任务状态，用户可在关键点复核，再决定继续、修订或停止。完成后，结果包括实际修改、验证说明和仍待确认的限制；如果发现具有复用价值的事实，可按来源和范围写入相应记忆或知识层。这样，当前任务不会因为窗口结束就完全丢失，也不会把未经确认的聊天内容自动当成长期事实。工作流的核心是把意图、权限、执行和证据连起来：用户始终拥有最终决策权，自动化只在明确边界内承担辅助执行。任务状态还应能被机器读取，便于前端恢复、自动化测试和运营观测；对不可重试的操作必须记录明确原因，避免系统在不确定时重复产生副作用。当任务包含多个交付物时，系统还应维护它们之间的关系，例如需求与实现、实现与测试、资料与引用、结论与假设。用户不必接受不可解释的黑箱式完成状态，而可以沿着任务记录回到原始输入和具体工具结果。对于需要人工判断的节点，系统应明确标记“待确认”并停止扩大执行范围；对于可以自动验证的节点，则应保存命令输出、版本信息或结构化检查结果。对于跨阶段任务，系统还应保留输入快照与产物版本之间的关联，保证后续重试使用的是已确认上下文而不是漂移后的临时状态。</a:t>
            </a:r>
            <a:endParaRPr sz="1400"/>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6 / 31</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项目介绍</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客户端：本地 IDE 与工作台</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495" y="1609090"/>
            <a:ext cx="10972800" cy="4424680"/>
          </a:xfrm>
          <a:prstGeom prst="rect">
            <a:avLst/>
          </a:prstGeom>
          <a:noFill/>
        </p:spPr>
        <p:txBody>
          <a:bodyPr wrap="square" lIns="36576" rIns="36576">
            <a:noAutofit/>
          </a:bodyPr>
          <a:lstStyle/>
          <a:p>
            <a:pPr>
              <a:lnSpc>
                <a:spcPct val="116000"/>
              </a:lnSpc>
              <a:spcAft>
                <a:spcPts val="700"/>
              </a:spcAft>
              <a:defRPr sz="1350">
                <a:solidFill>
                  <a:srgbClr val="E0E9F5"/>
                </a:solidFill>
                <a:latin typeface="微软雅黑" panose="020B0503020204020204" charset="-122"/>
              </a:defRPr>
            </a:pPr>
            <a:r>
              <a:t>客户端采用桌面应用形态，技术基础为 Electron、React、TypeScript 与 Vite。IDE 模式面向本地文件工作：用户可选择工作区、查看文件树、打开和保存文件，并在编辑器中处理 TypeScript、JavaScript、Python、JSON、HTML、CSS、Markdown、Java、C++、Go、Rust、YAML 与 XML 等常见文本格式。Markdown 支持编辑、源码查看和同步预览，便于把技术说明与代码维护放在相近的操作路径中。桌面能力经由主进程与安全 IPC 桥接，避免页面层直接拥有不受控的系统能力；工程已具备 Windows x64 的目录式打包配置。</a:t>
            </a:r>
          </a:p>
          <a:p>
            <a:pPr>
              <a:lnSpc>
                <a:spcPct val="116000"/>
              </a:lnSpc>
              <a:spcAft>
                <a:spcPts val="700"/>
              </a:spcAft>
              <a:defRPr sz="1350">
                <a:solidFill>
                  <a:srgbClr val="E0E9F5"/>
                </a:solidFill>
                <a:latin typeface="微软雅黑" panose="020B0503020204020204" charset="-122"/>
              </a:defRPr>
            </a:pPr>
            <a:r>
              <a:t>工作台模式承载任务导向交互，包括聊天式会话、智能体选择器和上下文工具栏。它的作用是让用户在提出任务时仍能看见工作区、文件和后续结果。客户端还保留插件市场、插件开关与视觉设置入口，扩展由集中注册表管理。客户端首先保证本地编辑体验和清晰交互，再通过受控接口对接需要的服务能力</a:t>
            </a:r>
            <a:r>
              <a:rPr lang="zh-CN"/>
              <a:t>。</a:t>
            </a:r>
          </a:p>
          <a:p>
            <a:pPr>
              <a:lnSpc>
                <a:spcPct val="116000"/>
              </a:lnSpc>
              <a:spcAft>
                <a:spcPts val="700"/>
              </a:spcAft>
              <a:defRPr sz="1350">
                <a:solidFill>
                  <a:srgbClr val="E0E9F5"/>
                </a:solidFill>
                <a:latin typeface="微软雅黑" panose="020B0503020204020204" charset="-122"/>
              </a:defRPr>
            </a:pPr>
            <a:r>
              <a:t>从实现角度看，客户端还承担状态呈现与用户确认职责。文件树、编辑器、预览区和任务面板应共享当前工作区标识，但不能因此把全部文件内容预加载到页面；大型仓库宜按目录和打开动作渐进读取，减少启动耗时与敏感数据暴露。主进程负责窗口、文件系统和进程边界，渲染进程只通过 Preload 暴露的最小接口请求能力，消息应携带请求标识、工作区信息和结果状态，便于界面处理并发与取消。对文件修改，界面应展示目标路径、变更摘要和保存结果；对命令或外部服务请求，则先呈现范围、参数和风险，再等待用户确认。这样的客户端不是单纯的展示层，而是把授权意图、执行进度和可回滚结果转换为用户可以理解的交互证据。</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7 / 31</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项目介绍</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服务端与智能体协作</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495" y="1498600"/>
            <a:ext cx="10785475" cy="4171950"/>
          </a:xfrm>
          <a:prstGeom prst="rect">
            <a:avLst/>
          </a:prstGeom>
          <a:noFill/>
        </p:spPr>
        <p:txBody>
          <a:bodyPr wrap="square" lIns="36576" rIns="36576">
            <a:noAutofit/>
          </a:bodyPr>
          <a:lstStyle/>
          <a:p>
            <a:pPr>
              <a:lnSpc>
                <a:spcPct val="116000"/>
              </a:lnSpc>
              <a:spcAft>
                <a:spcPts val="700"/>
              </a:spcAft>
              <a:defRPr sz="1200">
                <a:solidFill>
                  <a:srgbClr val="E0E9F5"/>
                </a:solidFill>
                <a:latin typeface="微软雅黑" panose="020B0503020204020204" charset="-122"/>
              </a:defRPr>
            </a:pPr>
            <a:r>
              <a:t>服务端提供智能协作的执行基础，包含 Python 与 FastAPI 接口、会话和消息持久化、模型客户端、智能体执行循环、任务调度、受控工具注册，以及基于本地 SQLite </a:t>
            </a:r>
            <a:r>
              <a:rPr lang="zh-CN"/>
              <a:t>与</a:t>
            </a:r>
            <a:r>
              <a:rPr lang="en-US" altLang="zh-CN"/>
              <a:t> json </a:t>
            </a:r>
            <a:r>
              <a:t>的记忆基础。接口层负责接收已经认证的请求并返回统一结果；会话层保存任务连续性；执行循环负责把目标、上下文、工具结果和模型响应组织成可继续推进的过程。工具注册是重要控制点：文件读取、内容编辑、搜索或命令执行不应由自由文本直接决定，而应被包装为可识别、可限制、可记录的能力。</a:t>
            </a:r>
          </a:p>
          <a:p>
            <a:pPr>
              <a:lnSpc>
                <a:spcPct val="116000"/>
              </a:lnSpc>
              <a:spcAft>
                <a:spcPts val="700"/>
              </a:spcAft>
              <a:defRPr sz="1200">
                <a:solidFill>
                  <a:srgbClr val="E0E9F5"/>
                </a:solidFill>
                <a:latin typeface="微软雅黑" panose="020B0503020204020204" charset="-122"/>
              </a:defRPr>
            </a:pPr>
            <a:r>
              <a:t>在服务端层面，任务对象、运行对象和工具调用对象需要拥有稳定标识、状态转换和关联关系。这样才能在流式输出中区分增量文本、工具事件、错误和最终产物，也才能在重连后恢复用户看到的状态。长任务应进入异步队列，普通交互不被批处理阻塞；模型供应商变化应由适配层吸收，业务层只依赖统一的完成、流式和健康检查契约。运行时的每一项自动化能力都必须有明确的失败出口和人工接管点。服务端还需要区分用户取消、策略拒绝、工具异常、模型不可用和数据冲突等错误类型，使客户端可以采取不同恢复动作，并让监控指标反映真实原因而非笼统的失败数量。对于工具调用，还应校验参数结构、工作区归属和调用者身份，避免模型输出成为绕过策略的隐式入口。角色设计采用总调度与专精角色分层。总调度角色负责理解目标、拆解任务、汇总材料和形成最终建议；项目管理、科研分析、智能体生产等专精角色分别处理独立子任务，不继续调度其他角色，从而避免责任链无限扩展。这里需要区分角色定义与运行时能力：目录中存在某个角色描述，并不等于客户端已经动态加载、版本管理并完整编排了该角色。当前已具备服务端执行基础和若干专精实现，但运行时装配、扩展加载、完整对话入口与跨设备设备代理仍属于需要继续验证的范围。对外描述以实际可进入的接口、可运行的流程和可复核结果为准，不把设计设想表述为完成状态。服务端还应对运行预算、并发数量、工具调用次数和任务超时进行限制，防止单个请求占用全部资源；当模型返回无法解析的工具参数时，应回退到人工确认或安全失败，而不是猜测执行。</a:t>
            </a:r>
          </a:p>
          <a:p>
            <a:pPr>
              <a:lnSpc>
                <a:spcPct val="116000"/>
              </a:lnSpc>
              <a:spcAft>
                <a:spcPts val="700"/>
              </a:spcAft>
              <a:defRPr sz="1200">
                <a:solidFill>
                  <a:srgbClr val="E0E9F5"/>
                </a:solidFill>
                <a:latin typeface="微软雅黑" panose="020B0503020204020204" charset="-122"/>
              </a:defRPr>
            </a:pPr>
            <a:r>
              <a:t>为保证工程可运维，服务端还应把每次运行拆成可观测事件，而不是只保存最后一段回答。事件至少需要关联会话、任务、角色、工具和产物，记录开始时间、结束时间、耗时、状态及错误类别；敏感参数只保留脱敏摘要。调度器需要支持幂等提交、取消和有限重试，重试前判断工具是否具有副作用，避免重复写入或重复执行外部动作。模型上下文装配应区分用户输入、检索证据、工具返回和系统策略，防止不可信文本覆盖更高优先级约束。对于生成的文件和引用，应保存版本关系与校验结果，使客户端能够明确展示“已完成”“部分完成”或“等待确认”。这些机制共同把智能体从一次性文本生成器变成可审计的执行组件，也为后续压测、故障定位和能力评测提供统一数据基础。</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8 / 31</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项目介绍</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权限与信任边界</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495" y="1478915"/>
            <a:ext cx="10819130" cy="5194300"/>
          </a:xfrm>
          <a:prstGeom prst="rect">
            <a:avLst/>
          </a:prstGeom>
          <a:noFill/>
        </p:spPr>
        <p:txBody>
          <a:bodyPr wrap="square" lIns="36576" rIns="36576">
            <a:noAutofit/>
          </a:bodyPr>
          <a:lstStyle/>
          <a:p>
            <a:pPr>
              <a:lnSpc>
                <a:spcPct val="116000"/>
              </a:lnSpc>
              <a:spcAft>
                <a:spcPts val="700"/>
              </a:spcAft>
              <a:defRPr sz="1350">
                <a:solidFill>
                  <a:srgbClr val="E0E9F5"/>
                </a:solidFill>
                <a:latin typeface="微软雅黑" panose="020B0503020204020204" charset="-122"/>
              </a:defRPr>
            </a:pPr>
            <a:r>
              <a:rPr sz="1400"/>
              <a:t>安全设计从身份、项目和工具三层同时开始。身份层中，桌面客户端使用账号会话，自动化客户端使用签发的设备凭据；凭据应当独立、可轮换、可撤销，而非把固定敏感信息写入应用。项目层中，服务端依据已登录身份与项目权限决定可访问范围，新增工作区必须显式登记，智能体不能因为任务文本中出现一个路径就自行扩大可见目录。工具层中，文件、命令、网络和其他系统能力通过受控工具注册与权限上下文暴露，可为不同调用方配置不同能力边界。三层共同避免“已经登录”被误解为“可以操作所有资源”。</a:t>
            </a:r>
            <a:endParaRPr sz="1400"/>
          </a:p>
          <a:p>
            <a:pPr>
              <a:lnSpc>
                <a:spcPct val="116000"/>
              </a:lnSpc>
              <a:spcAft>
                <a:spcPts val="700"/>
              </a:spcAft>
              <a:defRPr sz="1350">
                <a:solidFill>
                  <a:srgbClr val="E0E9F5"/>
                </a:solidFill>
                <a:latin typeface="微软雅黑" panose="020B0503020204020204" charset="-122"/>
              </a:defRPr>
            </a:pPr>
            <a:r>
              <a:rPr sz="1400"/>
              <a:t>记忆访问遵循同样的隔离原则。客户端不保存知识检索密钥，不直接连接记忆数据库；需要云端数据时，经由服务接口完成身份校验、范围判断和审计。已授权工作区限定于事先登记的代码、配置、共享知识服务或独立站点项目，具体范围应由服务端策略维护而不是由界面自行判断。当前公开材料只说明这种控制模型及其已验证的只读路径，不披露私有目录、账号信息、密钥或内部数据。需要强调的是，权限系统不是一次性开关：每新增一种工具、数据源或设备能力，都应重新定义主体、对象、动作、证据和撤销路径，并通过测试验证不会形成并行绕过通道。权限判定还应发生在实际执行前，而不是只在界面显示一个允许状态；服务端应再次核对会话有效期、项目归属、工作区白名单、工具参数和资源版本。审计记录至少保留谁在何时以何种身份请求了什么动作、策略如何判定以及结果是否成功，敏感字段以摘要或脱敏形式保存。发生凭据泄露、成员变更或项目关闭时，撤销应立即阻断后续调用，并能追溯已产生的任务和产物。</a:t>
            </a:r>
            <a:endParaRPr sz="1400"/>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10 / 31</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项目介绍</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当前状态与交付边界</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495" y="1509395"/>
            <a:ext cx="10956290" cy="4624070"/>
          </a:xfrm>
          <a:prstGeom prst="rect">
            <a:avLst/>
          </a:prstGeom>
          <a:noFill/>
        </p:spPr>
        <p:txBody>
          <a:bodyPr wrap="square" lIns="36576" rIns="36576">
            <a:noAutofit/>
          </a:bodyPr>
          <a:lstStyle/>
          <a:p>
            <a:pPr>
              <a:lnSpc>
                <a:spcPct val="116000"/>
              </a:lnSpc>
              <a:spcAft>
                <a:spcPts val="700"/>
              </a:spcAft>
              <a:defRPr sz="1350">
                <a:solidFill>
                  <a:srgbClr val="E0E9F5"/>
                </a:solidFill>
                <a:latin typeface="微软雅黑" panose="020B0503020204020204" charset="-122"/>
              </a:defRPr>
            </a:pPr>
            <a:r>
              <a:rPr sz="1600"/>
              <a:t>当前可以</a:t>
            </a:r>
            <a:r>
              <a:rPr lang="zh-CN" sz="1600"/>
              <a:t>交付</a:t>
            </a:r>
            <a:r>
              <a:rPr sz="1600"/>
              <a:t>的能力包括：在 Windows 桌面端进行本地 IDE 编辑和 Markdown 预览；在工作台中组织任务会话；在服务端运行接口、会话、模型客户端、工具和本地记忆基础；在受控身份与权限下验证只读记忆检索；以及使用 Git 同步公开代码与经过处理的文档。</a:t>
            </a:r>
            <a:endParaRPr sz="1600"/>
          </a:p>
          <a:p>
            <a:pPr>
              <a:lnSpc>
                <a:spcPct val="116000"/>
              </a:lnSpc>
              <a:spcAft>
                <a:spcPts val="700"/>
              </a:spcAft>
              <a:defRPr sz="1350">
                <a:solidFill>
                  <a:srgbClr val="E0E9F5"/>
                </a:solidFill>
                <a:latin typeface="微软雅黑" panose="020B0503020204020204" charset="-122"/>
              </a:defRPr>
            </a:pPr>
            <a:r>
              <a:rPr lang="zh-CN" sz="1600"/>
              <a:t>正在开发</a:t>
            </a:r>
            <a:r>
              <a:rPr sz="1600"/>
              <a:t>的部分：</a:t>
            </a:r>
            <a:r>
              <a:rPr lang="zh-CN" sz="1600"/>
              <a:t>记忆的回归算法，流失输出中前端的分层显示，沙箱执行等内容的窗口显示，</a:t>
            </a:r>
            <a:r>
              <a:rPr lang="en-US" altLang="zh-CN" sz="1600"/>
              <a:t>Agent</a:t>
            </a:r>
            <a:r>
              <a:rPr lang="zh-CN" altLang="en-US" sz="1600"/>
              <a:t>配套工具组件，外部软件接口，服务端权限统一化，数据库进一步优化</a:t>
            </a:r>
            <a:endParaRPr lang="zh-CN" altLang="en-US" sz="1600"/>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11 / 31</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0" y="822960"/>
            <a:ext cx="4023360" cy="3200400"/>
          </a:xfrm>
          <a:prstGeom prst="rect">
            <a:avLst/>
          </a:prstGeom>
          <a:noFill/>
        </p:spPr>
        <p:txBody>
          <a:bodyPr wrap="none">
            <a:spAutoFit/>
          </a:bodyPr>
          <a:lstStyle/>
          <a:p>
            <a:pPr>
              <a:defRPr sz="17000" b="1">
                <a:solidFill>
                  <a:srgbClr val="284E73"/>
                </a:solidFill>
                <a:latin typeface="Arial" panose="020B0604020202020204"/>
              </a:defRPr>
            </a:pPr>
            <a:r>
              <a:t>02</a:t>
            </a:r>
          </a:p>
        </p:txBody>
      </p:sp>
      <p:sp>
        <p:nvSpPr>
          <p:cNvPr id="7" name="TextBox 6"/>
          <p:cNvSpPr txBox="1"/>
          <p:nvPr/>
        </p:nvSpPr>
        <p:spPr>
          <a:xfrm>
            <a:off x="868680" y="1965960"/>
            <a:ext cx="10058400" cy="457200"/>
          </a:xfrm>
          <a:prstGeom prst="rect">
            <a:avLst/>
          </a:prstGeom>
          <a:noFill/>
        </p:spPr>
        <p:txBody>
          <a:bodyPr wrap="none">
            <a:spAutoFit/>
          </a:bodyPr>
          <a:lstStyle/>
          <a:p>
            <a:pPr>
              <a:defRPr sz="1700" b="1">
                <a:solidFill>
                  <a:srgbClr val="5EB7FF"/>
                </a:solidFill>
                <a:latin typeface="Consolas" panose="020B0609020204030204"/>
              </a:defRPr>
            </a:pPr>
            <a:r>
              <a:t>PART 02</a:t>
            </a:r>
          </a:p>
        </p:txBody>
      </p:sp>
      <p:sp>
        <p:nvSpPr>
          <p:cNvPr id="8" name="TextBox 7"/>
          <p:cNvSpPr txBox="1"/>
          <p:nvPr/>
        </p:nvSpPr>
        <p:spPr>
          <a:xfrm>
            <a:off x="841248" y="2468880"/>
            <a:ext cx="10058400" cy="1005840"/>
          </a:xfrm>
          <a:prstGeom prst="rect">
            <a:avLst/>
          </a:prstGeom>
          <a:noFill/>
        </p:spPr>
        <p:txBody>
          <a:bodyPr wrap="none">
            <a:spAutoFit/>
          </a:bodyPr>
          <a:lstStyle/>
          <a:p>
            <a:pPr>
              <a:defRPr sz="4400" b="1">
                <a:solidFill>
                  <a:srgbClr val="F1F6FD"/>
                </a:solidFill>
                <a:latin typeface="微软雅黑" panose="020B0503020204020204" charset="-122"/>
              </a:defRPr>
            </a:pPr>
            <a:r>
              <a:t>技术栈</a:t>
            </a:r>
          </a:p>
        </p:txBody>
      </p:sp>
      <p:sp>
        <p:nvSpPr>
          <p:cNvPr id="9" name="Rectangle 8"/>
          <p:cNvSpPr/>
          <p:nvPr/>
        </p:nvSpPr>
        <p:spPr>
          <a:xfrm>
            <a:off x="896112" y="3566160"/>
            <a:ext cx="594360" cy="4572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02 · 技术栈</a:t>
            </a:r>
          </a:p>
        </p:txBody>
      </p:sp>
      <p:sp>
        <p:nvSpPr>
          <p:cNvPr id="12" name="TextBox 11"/>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13 / 31</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技术栈</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Electron 三层边界与前端技术栈</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495" y="1609090"/>
            <a:ext cx="10993120" cy="4171950"/>
          </a:xfrm>
          <a:prstGeom prst="rect">
            <a:avLst/>
          </a:prstGeom>
          <a:noFill/>
        </p:spPr>
        <p:txBody>
          <a:bodyPr wrap="square" lIns="36576" rIns="36576">
            <a:noAutofit/>
          </a:bodyPr>
          <a:lstStyle/>
          <a:p>
            <a:pPr>
              <a:lnSpc>
                <a:spcPct val="116000"/>
              </a:lnSpc>
              <a:spcAft>
                <a:spcPts val="700"/>
              </a:spcAft>
              <a:defRPr sz="1350">
                <a:solidFill>
                  <a:srgbClr val="E0E9F5"/>
                </a:solidFill>
                <a:latin typeface="微软雅黑" panose="020B0503020204020204" charset="-122"/>
              </a:defRPr>
            </a:pPr>
            <a:r>
              <a:t>Electron 主进程是桌面能力的信任根，负责窗口生命周期、文件系统、网络请求、子进程、更新包以及本地运行时；Renderer 是 React 应用，只管理界面状态、路由式面板、会话展示和用户操作。Preload 使用 contextBridge 暴露窄而稳定的 IPC API，把参数校验、错误归一化和事件订阅放在边界内。React 负责组件组合和状态更新，TypeScript 用类型约束运行事件、模型描述、授权对象和文件变更，代价是需要维护类型与服务契约同步，但能显著降低字段漂移。Vite 提供快速开发服务器和生产构建，electron-builder 负责 Windows/Linux 目录包。CodeMirror 采用 language、state、view、theme 等模块组合，已覆盖 Python、JavaScript、TypeScript、JSON、YAML、Markdown、HTML、CSS、C/C++、Go、Java、Rust、XML 等场景；选择它而非自制文本框，是为了得到增量解析、扩展机制和较好的大文件交互基础。安全上，令牌进入 safeStorage，子进程仅继承最小环境变量，工作区路径和危险工具均需受控。规划方向是为 IPC 生成版本化 schema，并将拒绝未知字段纳入回归测试。该边界还便于做威胁建模：Renderer 被视为不可信输入面，Preload 是能力白名单，主进程才执行受保护副作用；审查时可以分别验证消息来源、参数形状、路径归一化和错误回传，而不必从整个桌面应用中寻找隐式信任。每层都保持单向依赖，有助于替换渲染组件而不改变文件与凭据策略。开发时 Vite 与 Electron 并行启动，借助 wait-on 等待渲染地址就绪后再挂载主窗口，避免白屏竞争；主进程把文件树、读写、搜索、更新检查和本地运行时封装为有限能力集合，渲染层只能看到稳定签名。渲染层维护编辑器状态、标签页、未保存标记和会话时间线，文件内容与磁盘状态的差异由主进程返回并去重。IPC 参数在 Preload 中再次校验，拒绝超长路径、非法编码和异常事件名。生产构建区分普通版与 Owner 版，通过构建标签切换可用接口集合，保证普通用户界面不会出现未授权入口。诊断与崩溃现场写入本地日志并脱敏，不上传凭据或工作区原文。</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02 · 技术栈</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15 / 31</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技术栈</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FastAPI 服务端与持久化</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微软雅黑" panose="020B0503020204020204" charset="-122"/>
              </a:defRPr>
            </a:pPr>
            <a:r>
              <a:t>FastAPI 以 ASGI 路由承载登录、会话、任务、Runtime、模型、记忆、知识库、授权和审计 API，并利用依赖注入组织请求上下文；Uvicorn 负责异步服务器运行，适合流式响应和 I/O 密集型外部调用。异步并不意味着 CPU 工作自动变快，解析大文档、重排和本地计算仍需限制并发或移入独立执行单元。Pydantic 模型位于 HTTP 边界，先校验字段、枚举、长度和嵌套结构，再交给 Agent、工具或存储，避免把不可信输入带入内部状态。SQLite 用于会话、任务、记忆、授权、审计和索引元数据等本地持久化，优势是部署简单、事务可靠、备份直观；取舍是并发写入和横向扩展能力有限，因此要采用短事务、合理索引、游标分页和 WAL 等策略，并把重任务与请求线程隔离。YAML 适合表达端口、模型、记忆后端、SSH 白名单和运行参数，加载后必须规范化且由环境变量覆盖敏感值。HTTPX 统一处理外部模型或平台请求，集中设置连接池、超时、状态码和重试边界，避免各 Agent 自行实现不一致的网络行为。生产入口可由 Nginx 提供 TLS 终止和反向代理。服务端接口取舍的是明确的资源模型而非把所有操作收敛为一个万能端点，这会增加路由数量，却便于授权、缓存和测试。SQLite 的备份必须在一致性快照基础上执行，并定期恢复到隔离环境验证；YAML 配置应在启动时给出缺失字段和非法值的清晰错误。HTTPX 的重试只针对可证明的瞬态故障，带副作用的请求需要幂等键，否则重试会产生重复任务或重复写入。连接池大小还应与 Uvicorn worker、外部服务限额共同校准，避免在高并发下把压力简单放大。</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02 · 技术栈</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16 / 31</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技术栈</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Agent Runtime 与 Model Provider</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250">
                <a:solidFill>
                  <a:srgbClr val="E0E9F5"/>
                </a:solidFill>
                <a:latin typeface="微软雅黑" panose="020B0503020204020204" charset="-122"/>
              </a:defRPr>
            </a:pPr>
            <a:r>
              <a:t>Agent Runtime 将一次用户目标建模为有状态运行：Orchestrator 选择直接回答、调用工具或交接给专精 Agent；Tool Registry 发现能力；权限与沙箱层决定能力是否可执行；事件总线记录 started、completed、failed 等阶段。运行配置控制模型、最大迭代次数、链深和超时，避免递归委派或无限重试。文件、命令、网络、delegate、SSH 等工具不是“模型拥有的能力”，而是由策略授予的 capability。Handoff 通过 snapshot、execution manifest、runtime_id 和状态机交接，使另一运行时知道工作区、相对路径和已有结果，而不是复制隐含上下文。取消操作需要同时通知运行循环和活跃子进程，并写入明确终态。Model Provider 以 id、provider、baseUrl、model、description、official、configured 描述模型；Runtime 通过统一 client 调用，业务 Agent 不绑定某一个 SDK。适配层可以集中处理流式输出、工具调用、结构化结果、token 估算、错误分类和 fallback。模型密钥只在服务端或主进程安全存储中出现，日志记录延迟、错误率和成本指标而不记录密钥与敏感原文。Provider 能力矩阵、健康探测和预算感知调度属于演进重点。运行时设计的取舍是以状态机换取可观察性：每个阶段都应有输入摘要、开始时间、结束时间和失败原因，但摘要不能泄露原文秘密。调度器还要区分模型拒绝、工具拒绝、权限不足、网络超时和内部异常，因为这些错误的恢复动作不同。交接快照应可校验、可过期、可重放，且不把临时令牌写入快照。只有在这些边界稳定后，才适合增加多 Agent 并行和更激进的自动重试。并行执行还应定义合并顺序、资源预算和取消传播，避免为了降低延迟而牺牲确定性。事件流需要支持断点续传：客户端按游标拉取事件，服务端为每次运行保留完整事件表，工具调用结果被截断存储并附上原始长度；界面刷新后根据终态重建视图，而不是依赖内存中的实时状态。模型调用采用统一抽象，把供应商差异限制在适配层，同时保留原始响应用于错误排查；流式响应必须容忍分块边界和中断重连。Runtime 还记录提示词版本与配置版本，使同一任务的复现不需要猜测模型参数。对长期运行任务，心跳与进度事件用于判断活性，超时策略区分首 token、空闲和整体时长。这些机制共同保证运行时行为可以被回放、解释和恢复。</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02 · 技术栈</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17 / 31</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技术栈</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RAG、Memory 与知识数据面</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250">
                <a:solidFill>
                  <a:srgbClr val="E0E9F5"/>
                </a:solidFill>
                <a:latin typeface="微软雅黑" panose="020B0503020204020204" charset="-122"/>
              </a:defRPr>
            </a:pPr>
            <a:r>
              <a:t>RAG 数据流分为导入、解析、切块、索引和检索。导入阶段保留 source、版本、权限和更新时间；解析阶段将文档转换为可定位片段，切块需要在上下文完整性与检索粒度之间取舍；索引阶段可使用 SQLite 保存轻量状态，并为向量后端保留可替换接口；检索返回 rank、score、source 和内容，Agent 才能把回答建立在可追溯证据上。客户端通过平台 API 上传、重建和查询，不保存静态 RAG Key，也不直连受保护存储，项目权限由服务端校验。Memory 不是无边界的聊天日志，而是有 scope、namespace、category、revision、状态和时间戳的结构化资源；personal、shared、owner 对应不同主体和授权。写入携带 revision，可检测并发修改；事件日志、outbox 和游标支持增量同步与重放。默认聊天读取可以关闭，search_limit 控制召回量，只有任务确实需要时才注入长期记忆，以减少上下文污染、隐私扩散和 token 成本。工程上应优先保证删除传播、版本一致性和权限过滤，再追求更复杂的向量算法。后续可加入增量索引、混合检索、重排、引用完整性、保留期和用户可见的召回解释。RAG 的质量不能只看相似度，还要检查召回文档是否属于当前空间、是否已删除、版本是否新鲜以及引用是否覆盖结论。切块过小会丢失定义和条件，过大则降低排序区分度，因此应通过留出问题集评估召回率、引用准确率和端到端回答质量。Memory 的写入也应区分用户明确保存与系统推断，提供删除、修订和查看来源的能力。这样既控制隐私，也避免把一次偶然对话固化为长期事实。索引生命周期还应包含重建与失效：文档更新后触发增量重建，删除文档同步移除对应片段及其引用，避免旧版本继续被召回；重建期间查询旧索引以保证可用性，新索引校验通过后再切换。检索上下文被注入模型前要经过权限过滤与敏感检测，命中结果必须能回链原文，回答中的引用与证据列表应与召回片段一一对应。Memory 与 RAG 的边界也要明确：RAG 面向可定位的静态知识，Memory 面向随时间演化的状态与偏好；两者都受空间权限约束，不允许跨空间无差别检索。查询日志用于评估质量与成本，但不保留用户原文内容，只保存脱敏后的统计特征。对高价值场景，还应保留检索时使用的模型版本、索引版本和切块策略，确保后续能够复现同一召回路径。</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02 · 技术栈</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18 / 31</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技术栈</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权限、审批、审计与部署</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350">
                <a:solidFill>
                  <a:srgbClr val="E0E9F5"/>
                </a:solidFill>
                <a:latin typeface="微软雅黑" panose="020B0503020204020204" charset="-122"/>
              </a:defRPr>
            </a:pPr>
            <a:r>
              <a:t>能力授权按 file.read、file.write、file.delete、command、network、delegate、ssh 等粒度拆分，可绑定 workspace、约束 JSON、过期时间和撤销状态；这样做比单一“管理员模式”更容易解释，也能把最小权限落实到工具级。高风险调用进入 pending 审批，审批对象应包含工具名、参数摘要、申请人、过期时间、决定者和结果，过期后不得继续执行。文件写入产生备份路径、diff 摘要以及 accepted/reverted 状态，复核者可以判断实际影响。AuditEvent 关联 principal、account、device、space、resource、action、decision、reason_code 和 metadata，把一次执行的身份、策略和结果串成证据链；日志与错误信息必须脱敏。开发环境中 Vite 提供 Renderer，Electron 加载本地地址，服务端以 Python 入口运行；生产环境可用 Docker 与 compose，Nginx 反向代理 TLS，配置通过环境变量注入。客户端使用 electron-builder 生成 Windows/Linux 目录包，更新前校验版本、来源、文件名和 SHA-256。部署可靠性取决于健康检查、SQLite 备份恢复演练、资源限额、集中日志、指标、回滚和依赖供应链签名，而不仅是“进程能启动”。多设备访问应沿用设备凭据、空间权限和服务 API，禁止出现平行授权路径。授权判断需要统一入口：每个工具调用都先经过策略引擎，计算环境包含身份、设备、空间、资源路径、参数摘要和当前时间；引擎返回 allow、ask 或 deny 以及可读的 reason_code。审批结果是可撤销的资源，而不是永久许可；设备撤销或策略变更后，已签发的能力立即失效。审计写入与业务操作在同一事务边界内完成，避免“已执行但未记录”的窗口。部署上，配置区分默认值与环境覆盖，服务端不应把密钥写入 YAML 明文；启动过程校验数据库版本、必需表和外部依赖连通性，失败时输出明确原因而非半可用状态。容器化方案需要固定依赖版本并扫描漏洞，镜像不携带用户数据。更新发布使用双目录切换与校验和验证，失败时回退上一版本并保留日志。监控告警关注关键路径：认证失败率、工具拒绝率、审批超时、模型错误率、队列深度和数据库锁等待；每个告警都应附带可定位的请求或任务标识。只有权限、审批、审计与部署四者闭环，系统的“可控”承诺才有可验证载体。</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02 · 技术栈</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19 / 31</a:t>
            </a: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技术栈</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测试、性能、可靠性与结论</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350">
                <a:solidFill>
                  <a:srgbClr val="E0E9F5"/>
                </a:solidFill>
                <a:latin typeface="微软雅黑" panose="020B0503020204020204" charset="-122"/>
              </a:defRPr>
            </a:pPr>
            <a:r>
              <a:t>测试分为契约、单元、集成、端到端和运行观测五层。TypeScript 编译与 Vite 构建检查前端类型和产物；Python 测试覆盖 Agent 循环、工具策略、权限、记忆、路由和错误边界；API 契约测试锁定 Pydantic 输入输出与尾斜杠行为；桌面端验证 Preload IPC、工作区路径、编辑器保存、子进程环境和打包启动。集成场景应覆盖登录刷新退出、Runtime 注册与 heartbeat、会话任务、工具审批、文件变更、RAG 导入检索、Memory revision 冲突以及服务重启后的恢复。性能上，HTTPX 连接池和超时减少慢连接占用，SQLite 通过索引、短事务和分页降低锁竞争，RAG 通过批量嵌入、增量索引和缓存减少重复计算，Runtime 通过并发上限、预算和取消释放资源；指标至少包括请求延迟分位数、模型首 token 延迟、工具耗时、队列长度、索引吞吐、数据库锁等待和失败率。可靠性要求幂等键、明确重试分类、断点游标、运行终态、备份校验和可回滚发布；网络抖动、模型限流、子进程崩溃、磁盘不足和并发 revision 冲突都应有测试。结论是当前方案用清晰的桌面边界、平台控制面、智能运行时、知识状态数据面和审计链平衡了能力与风险，下一阶段优先补齐契约化、可观测性和故障演练。验收结果应保存版本、环境、输入规模和外部依赖状态，不能只记录“通过”。性能基线需要区分冷启动、热缓存、单用户长任务和并发任务；可靠性指标需要区分可恢复失败与数据一致性失败。通过故障注入验证超时、取消、重启、限流和磁盘不足，才能证明系统在异常条件下仍能给出明确终态。最终目标不是堆叠组件，而是让专业用户获得可解释、可复现、可控制的工作流。系统还应把数据契约、生命周期和故障归因作为一等设计对象：输入经过校验后才进入状态机，状态变化产生事件，事件关联身份和版本，恢复过程依据事件而非猜测当前界面。这样可以在开发、评审、运行和事后调查之间保持同一条证据链。对高价值结果，必须能够回答使用了什么输入、什么模型、哪些工具、哪一版本配置以及谁批准了副作用。</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02 · 技术栈</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20 / 31</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0" y="822960"/>
            <a:ext cx="4023360" cy="3200400"/>
          </a:xfrm>
          <a:prstGeom prst="rect">
            <a:avLst/>
          </a:prstGeom>
          <a:noFill/>
        </p:spPr>
        <p:txBody>
          <a:bodyPr wrap="none">
            <a:spAutoFit/>
          </a:bodyPr>
          <a:lstStyle/>
          <a:p>
            <a:pPr>
              <a:defRPr sz="17000" b="1">
                <a:solidFill>
                  <a:srgbClr val="5C4D37"/>
                </a:solidFill>
                <a:latin typeface="Arial" panose="020B0604020202020204"/>
              </a:defRPr>
            </a:pPr>
            <a:r>
              <a:t>03</a:t>
            </a:r>
          </a:p>
        </p:txBody>
      </p:sp>
      <p:sp>
        <p:nvSpPr>
          <p:cNvPr id="7" name="TextBox 6"/>
          <p:cNvSpPr txBox="1"/>
          <p:nvPr/>
        </p:nvSpPr>
        <p:spPr>
          <a:xfrm>
            <a:off x="868680" y="1965960"/>
            <a:ext cx="10058400" cy="457200"/>
          </a:xfrm>
          <a:prstGeom prst="rect">
            <a:avLst/>
          </a:prstGeom>
          <a:noFill/>
        </p:spPr>
        <p:txBody>
          <a:bodyPr wrap="none">
            <a:spAutoFit/>
          </a:bodyPr>
          <a:lstStyle/>
          <a:p>
            <a:pPr>
              <a:defRPr sz="1700" b="1">
                <a:solidFill>
                  <a:srgbClr val="F2B454"/>
                </a:solidFill>
                <a:latin typeface="Consolas" panose="020B0609020204030204"/>
              </a:defRPr>
            </a:pPr>
            <a:r>
              <a:t>PART 03</a:t>
            </a:r>
          </a:p>
        </p:txBody>
      </p:sp>
      <p:sp>
        <p:nvSpPr>
          <p:cNvPr id="8" name="TextBox 7"/>
          <p:cNvSpPr txBox="1"/>
          <p:nvPr/>
        </p:nvSpPr>
        <p:spPr>
          <a:xfrm>
            <a:off x="841248" y="2468880"/>
            <a:ext cx="10058400" cy="1005840"/>
          </a:xfrm>
          <a:prstGeom prst="rect">
            <a:avLst/>
          </a:prstGeom>
          <a:noFill/>
        </p:spPr>
        <p:txBody>
          <a:bodyPr wrap="none">
            <a:spAutoFit/>
          </a:bodyPr>
          <a:lstStyle/>
          <a:p>
            <a:pPr>
              <a:defRPr sz="4400" b="1">
                <a:solidFill>
                  <a:srgbClr val="F1F6FD"/>
                </a:solidFill>
                <a:latin typeface="微软雅黑" panose="020B0503020204020204" charset="-122"/>
              </a:defRPr>
            </a:pPr>
            <a:r>
              <a:t>产品需求</a:t>
            </a:r>
          </a:p>
        </p:txBody>
      </p:sp>
      <p:sp>
        <p:nvSpPr>
          <p:cNvPr id="9" name="Rectangle 8"/>
          <p:cNvSpPr/>
          <p:nvPr/>
        </p:nvSpPr>
        <p:spPr>
          <a:xfrm>
            <a:off x="896112" y="3566160"/>
            <a:ext cx="594360" cy="4572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03 · 产品需求</a:t>
            </a:r>
          </a:p>
        </p:txBody>
      </p:sp>
      <p:sp>
        <p:nvSpPr>
          <p:cNvPr id="12" name="TextBox 11"/>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21 / 31</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复杂工作需要任务系统，而非更长的聊天框</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微软雅黑" panose="020B0503020204020204" charset="-122"/>
              </a:defRPr>
            </a:pPr>
            <a:r>
              <a:t>背景</a:t>
            </a:r>
          </a:p>
          <a:p>
            <a:pPr>
              <a:lnSpc>
                <a:spcPct val="116000"/>
              </a:lnSpc>
              <a:spcAft>
                <a:spcPts val="700"/>
              </a:spcAft>
              <a:defRPr sz="1450">
                <a:solidFill>
                  <a:srgbClr val="E0E9F5"/>
                </a:solidFill>
                <a:latin typeface="微软雅黑" panose="020B0503020204020204" charset="-122"/>
              </a:defRPr>
            </a:pPr>
            <a:r>
              <a:t>专业人员的工作对象同时包含代码、文档、命令输出、实验数据和组织规则。传统对话能生成局部文本，却无法稳定表达工作区边界、步骤依赖、审批责任和产物版本；用户被迫反复粘贴上下文，模型也难以说明哪些内容来自事实、哪些内容来自推断。产品因此把会话放回任务生命周期：输入先结构化，执行逐事件发生，输出必须带证据和可回滚边界。当前桌面端已具备本地工作区、编辑和会话基础，近期要把执行契约固化。</a:t>
            </a:r>
          </a:p>
          <a:p>
            <a:pPr>
              <a:lnSpc>
                <a:spcPct val="116000"/>
              </a:lnSpc>
              <a:spcAft>
                <a:spcPts val="700"/>
              </a:spcAft>
              <a:defRPr sz="1450">
                <a:solidFill>
                  <a:srgbClr val="E0E9F5"/>
                </a:solidFill>
                <a:latin typeface="微软雅黑" panose="020B0503020204020204" charset="-122"/>
              </a:defRPr>
            </a:pPr>
            <a:r>
              <a:t>目标用户</a:t>
            </a:r>
          </a:p>
          <a:p>
            <a:pPr>
              <a:lnSpc>
                <a:spcPct val="116000"/>
              </a:lnSpc>
              <a:spcAft>
                <a:spcPts val="700"/>
              </a:spcAft>
              <a:defRPr sz="1450">
                <a:solidFill>
                  <a:srgbClr val="E0E9F5"/>
                </a:solidFill>
                <a:latin typeface="微软雅黑" panose="020B0503020204020204" charset="-122"/>
              </a:defRPr>
            </a:pPr>
            <a:r>
              <a:t>第一类是软件工程师，需要检索代码、解释调用链、生成补丁、运行测试并审阅 Diff；第二类是项目负责人，需要拆分目标、分派角色、跟踪阻塞项和风险；第三类是研究与知识工作者，需要从授权资料中比较证据、形成可复核结论。共同特征是愿意使用自动化，但要求知道系统读了什么、为何调用工具、谁承担审批责任。非技术消费者不是首发用户，界面默认展示状态、版本、关联 ID 与失败原因。</a:t>
            </a:r>
          </a:p>
          <a:p>
            <a:pPr>
              <a:lnSpc>
                <a:spcPct val="116000"/>
              </a:lnSpc>
              <a:spcAft>
                <a:spcPts val="700"/>
              </a:spcAft>
              <a:defRPr sz="1450">
                <a:solidFill>
                  <a:srgbClr val="E0E9F5"/>
                </a:solidFill>
                <a:latin typeface="微软雅黑" panose="020B0503020204020204" charset="-122"/>
              </a:defRPr>
            </a:pPr>
            <a:r>
              <a:t>核心问题上下文碎片化：文件、历史和知识彼此脱节。执行不可控：写入、网络和命令的影响范围不清晰。结果不可验收：缺少测试证据、引用回链和未完成项。失败不可恢复：重试可能重复副作用，断网可能丢失任务。成功体验</a:t>
            </a:r>
          </a:p>
          <a:p>
            <a:pPr>
              <a:lnSpc>
                <a:spcPct val="116000"/>
              </a:lnSpc>
              <a:spcAft>
                <a:spcPts val="700"/>
              </a:spcAft>
              <a:defRPr sz="1450">
                <a:solidFill>
                  <a:srgbClr val="E0E9F5"/>
                </a:solidFill>
                <a:latin typeface="微软雅黑" panose="020B0503020204020204" charset="-122"/>
              </a:defRPr>
            </a:pPr>
            <a:r>
              <a:t>用户用自然语言提出目标后，系统给出计划、假设和所需权限；每一步均能暂停、批准、取消或重试。完成时得到结构化产物、变更对比、验证结果、成本与风险摘要。用户不必相信模型的自我描述，而是通过事件、证据和差异审阅做决定。</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22 / 31</a:t>
            </a: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本地优先的连续工作面，服务端能力按契约接入</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微软雅黑" panose="020B0503020204020204" charset="-122"/>
              </a:defRPr>
            </a:pPr>
            <a:r>
              <a:t>产品目标</a:t>
            </a:r>
          </a:p>
          <a:p>
            <a:pPr>
              <a:lnSpc>
                <a:spcPct val="116000"/>
              </a:lnSpc>
              <a:spcAft>
                <a:spcPts val="700"/>
              </a:spcAft>
              <a:defRPr sz="1450">
                <a:solidFill>
                  <a:srgbClr val="E0E9F5"/>
                </a:solidFill>
                <a:latin typeface="微软雅黑" panose="020B0503020204020204" charset="-122"/>
              </a:defRPr>
            </a:pPr>
            <a:r>
              <a:t>当前目标是让专业用户在同一工作面完成工作区浏览、编辑、任务提交和结果审阅；近期目标是建立 Agent Host、工具注册表、审批卡片、流式事件和统一产物模型；规划目标是让经过验证的任务能够跨设备接力，并在多租户环境中共享授权知识。产品原则包括显式边界优先于隐式智能、可恢复优先于一次性成功、证据优先于流畅措辞、局部失败隔离于全局重置。</a:t>
            </a:r>
          </a:p>
          <a:p>
            <a:pPr>
              <a:lnSpc>
                <a:spcPct val="116000"/>
              </a:lnSpc>
              <a:spcAft>
                <a:spcPts val="700"/>
              </a:spcAft>
              <a:defRPr sz="1450">
                <a:solidFill>
                  <a:srgbClr val="E0E9F5"/>
                </a:solidFill>
                <a:latin typeface="微软雅黑" panose="020B0503020204020204" charset="-122"/>
              </a:defRPr>
            </a:pPr>
            <a:r>
              <a:t>当前范围</a:t>
            </a:r>
          </a:p>
          <a:p>
            <a:pPr>
              <a:lnSpc>
                <a:spcPct val="116000"/>
              </a:lnSpc>
              <a:spcAft>
                <a:spcPts val="700"/>
              </a:spcAft>
              <a:defRPr sz="1450">
                <a:solidFill>
                  <a:srgbClr val="E0E9F5"/>
                </a:solidFill>
                <a:latin typeface="微软雅黑" panose="020B0503020204020204" charset="-122"/>
              </a:defRPr>
            </a:pPr>
            <a:r>
              <a:t>Windows 桌面端包含 IDE 与 Work 两种工作模式、授权工作区、文件树、代码编辑、Markdown 预览、会话创建和 Agent 选择。当前不把远程执行假设为必需条件，离线时仍应能浏览和保存本地内容。服务端已有会话、任务、同步事件及记忆的基础数据形态，但接入面必须以版本化 API 约束，不能依赖客户端自行猜测内部字段。</a:t>
            </a:r>
          </a:p>
          <a:p>
            <a:pPr>
              <a:lnSpc>
                <a:spcPct val="116000"/>
              </a:lnSpc>
              <a:spcAft>
                <a:spcPts val="700"/>
              </a:spcAft>
              <a:defRPr sz="1450">
                <a:solidFill>
                  <a:srgbClr val="E0E9F5"/>
                </a:solidFill>
                <a:latin typeface="微软雅黑" panose="020B0503020204020204" charset="-122"/>
              </a:defRPr>
            </a:pPr>
            <a:r>
              <a:t>近期范围</a:t>
            </a:r>
          </a:p>
          <a:p>
            <a:pPr>
              <a:lnSpc>
                <a:spcPct val="116000"/>
              </a:lnSpc>
              <a:spcAft>
                <a:spcPts val="700"/>
              </a:spcAft>
              <a:defRPr sz="1450">
                <a:solidFill>
                  <a:srgbClr val="E0E9F5"/>
                </a:solidFill>
                <a:latin typeface="微软雅黑" panose="020B0503020204020204" charset="-122"/>
              </a:defRPr>
            </a:pPr>
            <a:r>
              <a:t>完成任务队列和状态机，支持流式事件、取消、有限重试、结构化产物、Diff 与验证回执；完成 Agent 定义加载、版本锁定、工具 schema、权限判断和审批记录；完成知识文档入库、混合检索、引用回链与会话摘要。近期交付的每项能力都要附带错误码、指标和回归用例，避免只有演示路径可用。</a:t>
            </a:r>
          </a:p>
          <a:p>
            <a:pPr>
              <a:lnSpc>
                <a:spcPct val="116000"/>
              </a:lnSpc>
              <a:spcAft>
                <a:spcPts val="700"/>
              </a:spcAft>
              <a:defRPr sz="1450">
                <a:solidFill>
                  <a:srgbClr val="E0E9F5"/>
                </a:solidFill>
                <a:latin typeface="微软雅黑" panose="020B0503020204020204" charset="-122"/>
              </a:defRPr>
            </a:pPr>
            <a:r>
              <a:t>规划与非范围</a:t>
            </a:r>
          </a:p>
          <a:p>
            <a:pPr>
              <a:lnSpc>
                <a:spcPct val="116000"/>
              </a:lnSpc>
              <a:spcAft>
                <a:spcPts val="700"/>
              </a:spcAft>
              <a:defRPr sz="1450">
                <a:solidFill>
                  <a:srgbClr val="E0E9F5"/>
                </a:solidFill>
                <a:latin typeface="微软雅黑" panose="020B0503020204020204" charset="-122"/>
              </a:defRPr>
            </a:pPr>
            <a:r>
              <a:t>规划包括移动和网页入口、设备代理、离线队列同步、长期记忆治理、更多连接器及高风险自动化。它们不属于当前或近期承诺，必须经过威胁建模和成本评估。当前不承诺完全替代工程师，不开放任意目录和任意命令，不以单一模型供应商作为系统前提，也不把未经授权的资料自动纳入知识库。</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23 / 31</a:t>
            </a: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工作面、执行面、治理面必须形成闭环</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微软雅黑" panose="020B0503020204020204" charset="-122"/>
              </a:defRPr>
            </a:pPr>
            <a:r>
              <a:t>工作面 F1</a:t>
            </a:r>
          </a:p>
          <a:p>
            <a:pPr>
              <a:lnSpc>
                <a:spcPct val="116000"/>
              </a:lnSpc>
              <a:spcAft>
                <a:spcPts val="700"/>
              </a:spcAft>
              <a:defRPr sz="1450">
                <a:solidFill>
                  <a:srgbClr val="E0E9F5"/>
                </a:solidFill>
                <a:latin typeface="微软雅黑" panose="020B0503020204020204" charset="-122"/>
              </a:defRPr>
            </a:pPr>
            <a:r>
              <a:t>当前支持选择工作区、浏览目录、打开与保存文件、代码编辑、多语言高亮和 Markdown 源码/预览切换。近期增加内容搜索、结果定位、未保存状态、外部变化提示、Diff 和恢复入口。编辑器必须展示文件路径、编码、只读原因和保存结果；大文件采用分段加载，不因渲染阻塞整个窗口。规划再考虑多工作区并行和远程文件映射。</a:t>
            </a:r>
          </a:p>
          <a:p>
            <a:pPr>
              <a:lnSpc>
                <a:spcPct val="116000"/>
              </a:lnSpc>
              <a:spcAft>
                <a:spcPts val="700"/>
              </a:spcAft>
              <a:defRPr sz="1450">
                <a:solidFill>
                  <a:srgbClr val="E0E9F5"/>
                </a:solidFill>
                <a:latin typeface="微软雅黑" panose="020B0503020204020204" charset="-122"/>
              </a:defRPr>
            </a:pPr>
            <a:r>
              <a:t>任务面 F2</a:t>
            </a:r>
          </a:p>
          <a:p>
            <a:pPr>
              <a:lnSpc>
                <a:spcPct val="116000"/>
              </a:lnSpc>
              <a:spcAft>
                <a:spcPts val="700"/>
              </a:spcAft>
              <a:defRPr sz="1450">
                <a:solidFill>
                  <a:srgbClr val="E0E9F5"/>
                </a:solidFill>
                <a:latin typeface="微软雅黑" panose="020B0503020204020204" charset="-122"/>
              </a:defRPr>
            </a:pPr>
            <a:r>
              <a:t>用户可从会话发起任务，填写目标、约束、验收条件、工作区和 Agent。近期任务卡显示计划、当前步骤、事件时间线、消耗预算、审批点、产物和验证状态；用户可暂停、取消、重试或重新规划。每次操作均带操作者和时间。任务与会话分离，删除会话不应无提示删除已产生的产物和审计记录。</a:t>
            </a:r>
          </a:p>
          <a:p>
            <a:pPr>
              <a:lnSpc>
                <a:spcPct val="116000"/>
              </a:lnSpc>
              <a:spcAft>
                <a:spcPts val="700"/>
              </a:spcAft>
              <a:defRPr sz="1450">
                <a:solidFill>
                  <a:srgbClr val="E0E9F5"/>
                </a:solidFill>
                <a:latin typeface="微软雅黑" panose="020B0503020204020204" charset="-122"/>
              </a:defRPr>
            </a:pPr>
            <a:r>
              <a:t>执行面 F3</a:t>
            </a:r>
          </a:p>
          <a:p>
            <a:pPr>
              <a:lnSpc>
                <a:spcPct val="116000"/>
              </a:lnSpc>
              <a:spcAft>
                <a:spcPts val="700"/>
              </a:spcAft>
              <a:defRPr sz="1450">
                <a:solidFill>
                  <a:srgbClr val="E0E9F5"/>
                </a:solidFill>
                <a:latin typeface="微软雅黑" panose="020B0503020204020204" charset="-122"/>
              </a:defRPr>
            </a:pPr>
            <a:r>
              <a:t>Agent 必须先声明能力，再请求工具；工具调用显示名称、参数摘要、风险级别和影响范围。只读动作可按策略自动执行，写入、命令、网络、删除和远程访问按风险触发审批。执行结果采用结构化成功、失败、超时和拒绝，模型文本不能替代系统事件。工具输出有大小上限、敏感字段处理和关联任务 ID。</a:t>
            </a:r>
          </a:p>
          <a:p>
            <a:pPr>
              <a:lnSpc>
                <a:spcPct val="116000"/>
              </a:lnSpc>
              <a:spcAft>
                <a:spcPts val="700"/>
              </a:spcAft>
              <a:defRPr sz="1450">
                <a:solidFill>
                  <a:srgbClr val="E0E9F5"/>
                </a:solidFill>
                <a:latin typeface="微软雅黑" panose="020B0503020204020204" charset="-122"/>
              </a:defRPr>
            </a:pPr>
            <a:r>
              <a:t>治理面 F4</a:t>
            </a:r>
          </a:p>
          <a:p>
            <a:pPr>
              <a:lnSpc>
                <a:spcPct val="116000"/>
              </a:lnSpc>
              <a:spcAft>
                <a:spcPts val="700"/>
              </a:spcAft>
              <a:defRPr sz="1450">
                <a:solidFill>
                  <a:srgbClr val="E0E9F5"/>
                </a:solidFill>
                <a:latin typeface="微软雅黑" panose="020B0503020204020204" charset="-122"/>
              </a:defRPr>
            </a:pPr>
            <a:r>
              <a:t>补充约束：接口字段、错误码和事件顺序必须先于视觉实现确定；每个功能都要有正常、取消、超时、拒绝和恢复用例，评审以可重复的测试证据为准。接口还应明确幂等键、游标、分页、超时和重试条件，客户端不得依据展示文案猜测执行结果；产物生成后必须绑定输入版本、工具版本与验证回执，便于定位差异并支持审计复现。</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24 / 31</a:t>
            </a: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任务是可恢复的执行单元，会话只是交互容器</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350">
                <a:solidFill>
                  <a:srgbClr val="E0E9F5"/>
                </a:solidFill>
                <a:latin typeface="微软雅黑" panose="020B0503020204020204" charset="-122"/>
              </a:defRPr>
            </a:pPr>
            <a:r>
              <a:t>对象模型</a:t>
            </a:r>
          </a:p>
          <a:p>
            <a:pPr>
              <a:lnSpc>
                <a:spcPct val="116000"/>
              </a:lnSpc>
              <a:spcAft>
                <a:spcPts val="700"/>
              </a:spcAft>
              <a:defRPr sz="1350">
                <a:solidFill>
                  <a:srgbClr val="E0E9F5"/>
                </a:solidFill>
                <a:latin typeface="微软雅黑" panose="020B0503020204020204" charset="-122"/>
              </a:defRPr>
            </a:pPr>
            <a:r>
              <a:t>Task 由 task_id、目标、约束、验收条件、workspace_id、principal、device_id、agent_ref、model_policy、capabilities、input_revision 和 output_contract 组成；Session 保存用户与系统消息及引用；Artifact 保存文件、报告、补丁、测试回执或结构化数据。事件以单调序列号连接对象，客户端只按游标消费，不依赖消息到达时间推断顺序。每条消息都携带发送者、模型版本、工具版本和引用上下文，便于回答完成后回放推导路径。</a:t>
            </a:r>
          </a:p>
          <a:p>
            <a:pPr>
              <a:lnSpc>
                <a:spcPct val="116000"/>
              </a:lnSpc>
              <a:spcAft>
                <a:spcPts val="700"/>
              </a:spcAft>
              <a:defRPr sz="1350">
                <a:solidFill>
                  <a:srgbClr val="E0E9F5"/>
                </a:solidFill>
                <a:latin typeface="微软雅黑" panose="020B0503020204020204" charset="-122"/>
              </a:defRPr>
            </a:pPr>
            <a:r>
              <a:t>状态机</a:t>
            </a:r>
          </a:p>
          <a:p>
            <a:pPr>
              <a:lnSpc>
                <a:spcPct val="116000"/>
              </a:lnSpc>
              <a:spcAft>
                <a:spcPts val="700"/>
              </a:spcAft>
              <a:defRPr sz="1350">
                <a:solidFill>
                  <a:srgbClr val="E0E9F5"/>
                </a:solidFill>
                <a:latin typeface="微软雅黑" panose="020B0503020204020204" charset="-122"/>
              </a:defRPr>
            </a:pPr>
            <a:r>
              <a:t>draft 表示尚未提交；queued 表示已进入队列；planning 生成步骤、假设和风险；executing 调用 Agent 与工具；awaiting_approval 暂停等待明确授权；verifying 执行测试或规则检查；succeeded 表示满足验收条件；blocked 表示缺少输入、权限或外部依赖；failed 表示不可恢复错误。每次状态跳转记录 from、to、reason、actor 和 revision，非法跳转返回结构化错误；客户端不得根据展示文案猜测状态，只能依据事件序列。</a:t>
            </a:r>
          </a:p>
          <a:p>
            <a:pPr>
              <a:lnSpc>
                <a:spcPct val="116000"/>
              </a:lnSpc>
              <a:spcAft>
                <a:spcPts val="700"/>
              </a:spcAft>
              <a:defRPr sz="1350">
                <a:solidFill>
                  <a:srgbClr val="E0E9F5"/>
                </a:solidFill>
                <a:latin typeface="微软雅黑" panose="020B0503020204020204" charset="-122"/>
              </a:defRPr>
            </a:pPr>
            <a:r>
              <a:t>控制语义</a:t>
            </a:r>
          </a:p>
          <a:p>
            <a:pPr>
              <a:lnSpc>
                <a:spcPct val="116000"/>
              </a:lnSpc>
              <a:spcAft>
                <a:spcPts val="700"/>
              </a:spcAft>
              <a:defRPr sz="1350">
                <a:solidFill>
                  <a:srgbClr val="E0E9F5"/>
                </a:solidFill>
                <a:latin typeface="微软雅黑" panose="020B0503020204020204" charset="-122"/>
              </a:defRPr>
            </a:pPr>
            <a:r>
              <a:t>取消是幂等请求，服务端先停止可停止的执行，再将未完成副作用列出；暂停只阻止新步骤，不撤销已经完成的动作；重试仅允许对无副作用或经过确认的步骤重新执行；修改目标会创建新 revision，旧事件仍可读。客户端断线时继续保存本地草稿，恢复连接后按 task_id 和 cursor 补齐事件，重复事件由 sequence 去重；断点续传不覆盖服务端已有的授权记录和审批结果。</a:t>
            </a:r>
          </a:p>
          <a:p>
            <a:pPr>
              <a:lnSpc>
                <a:spcPct val="116000"/>
              </a:lnSpc>
              <a:spcAft>
                <a:spcPts val="700"/>
              </a:spcAft>
              <a:defRPr sz="1350">
                <a:solidFill>
                  <a:srgbClr val="E0E9F5"/>
                </a:solidFill>
                <a:latin typeface="微软雅黑" panose="020B0503020204020204" charset="-122"/>
              </a:defRPr>
            </a:pPr>
            <a:r>
              <a:t>验收闭环</a:t>
            </a:r>
          </a:p>
          <a:p>
            <a:pPr>
              <a:lnSpc>
                <a:spcPct val="116000"/>
              </a:lnSpc>
              <a:spcAft>
                <a:spcPts val="700"/>
              </a:spcAft>
              <a:defRPr sz="1350">
                <a:solidFill>
                  <a:srgbClr val="E0E9F5"/>
                </a:solidFill>
                <a:latin typeface="微软雅黑" panose="020B0503020204020204" charset="-122"/>
              </a:defRPr>
            </a:pPr>
            <a:r>
              <a:t>规划阶段必须展示依赖和不确定性；执行阶段必须实时显示步骤和工具；验证阶段至少有测试、规则或人工检查之一；成功页面必须列出产物、证据、风险、成本、未完成项和下一步。服务端故障、模型超时、工具拒绝、审批过期和版本冲突都要进入可解释状态，不能伪装成成功。验收结论应能回溯到具体输入版本、工具版本与验证命令，评审者可按同一版本复现。</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25 / 31</a:t>
            </a: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能力显式注册，权限独立判断，副作用可追踪</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350">
                <a:solidFill>
                  <a:srgbClr val="E0E9F5"/>
                </a:solidFill>
                <a:latin typeface="微软雅黑" panose="020B0503020204020204" charset="-122"/>
              </a:defRPr>
            </a:pPr>
            <a:r>
              <a:t>Agent 角色</a:t>
            </a:r>
          </a:p>
          <a:p>
            <a:pPr>
              <a:lnSpc>
                <a:spcPct val="116000"/>
              </a:lnSpc>
              <a:spcAft>
                <a:spcPts val="700"/>
              </a:spcAft>
              <a:defRPr sz="1350">
                <a:solidFill>
                  <a:srgbClr val="E0E9F5"/>
                </a:solidFill>
                <a:latin typeface="微软雅黑" panose="020B0503020204020204" charset="-122"/>
              </a:defRPr>
            </a:pPr>
            <a:r>
              <a:t>调度 Agent 负责拆解与汇总，工程 Agent 负责代码理解和补丁建议，研究 Agent 负责证据检索与比较，生产 Agent 负责配置、样例和行为测试。当前已有角色定义与基础执行循环；近期将角色定义编译为带版本的运行配置，包含输入输出 schema、上下文预算、允许工具和失败策略。角色名称不等于权限，权限由主体、空间、设备和策略共同决定；同一角色在不同空间可拥有不同能力，避免权限复用被误认为固定绑定。</a:t>
            </a:r>
          </a:p>
          <a:p>
            <a:pPr>
              <a:lnSpc>
                <a:spcPct val="116000"/>
              </a:lnSpc>
              <a:spcAft>
                <a:spcPts val="700"/>
              </a:spcAft>
              <a:defRPr sz="1350">
                <a:solidFill>
                  <a:srgbClr val="E0E9F5"/>
                </a:solidFill>
                <a:latin typeface="微软雅黑" panose="020B0503020204020204" charset="-122"/>
              </a:defRPr>
            </a:pPr>
            <a:r>
              <a:t>工具注册表</a:t>
            </a:r>
          </a:p>
          <a:p>
            <a:pPr>
              <a:lnSpc>
                <a:spcPct val="116000"/>
              </a:lnSpc>
              <a:spcAft>
                <a:spcPts val="700"/>
              </a:spcAft>
              <a:defRPr sz="1350">
                <a:solidFill>
                  <a:srgbClr val="E0E9F5"/>
                </a:solidFill>
                <a:latin typeface="微软雅黑" panose="020B0503020204020204" charset="-122"/>
              </a:defRPr>
            </a:pPr>
            <a:r>
              <a:t>每个工具记录 tool_id、版本、参数 schema、返回 schema、风险级别、超时、输出上限、数据流向和回滚说明。读取目录、读取文件和内容检索通常为低风险；写文件、编辑文件为中风险；命令、网络、删除、远程主机为高风险。未知工具、schema 不匹配或上下文缺失直接拒绝。模型不能在回答中创造未注册能力；新增工具必须经过注册、测试和策略评估，才能被 Agent 调用。</a:t>
            </a:r>
          </a:p>
          <a:p>
            <a:pPr>
              <a:lnSpc>
                <a:spcPct val="116000"/>
              </a:lnSpc>
              <a:spcAft>
                <a:spcPts val="700"/>
              </a:spcAft>
              <a:defRPr sz="1350">
                <a:solidFill>
                  <a:srgbClr val="E0E9F5"/>
                </a:solidFill>
                <a:latin typeface="微软雅黑" panose="020B0503020204020204" charset="-122"/>
              </a:defRPr>
            </a:pPr>
            <a:r>
              <a:t>调用流程</a:t>
            </a:r>
          </a:p>
          <a:p>
            <a:pPr>
              <a:lnSpc>
                <a:spcPct val="116000"/>
              </a:lnSpc>
              <a:spcAft>
                <a:spcPts val="700"/>
              </a:spcAft>
              <a:defRPr sz="1350">
                <a:solidFill>
                  <a:srgbClr val="E0E9F5"/>
                </a:solidFill>
                <a:latin typeface="微软雅黑" panose="020B0503020204020204" charset="-122"/>
              </a:defRPr>
            </a:pPr>
            <a:r>
              <a:t>Agent 先提交调用意图，策略引擎计算 allow、ask 或 deny，并生成 reason_code；需要审批时，界面展示目标资源、参数摘要、影响范围、预计副作用和有效期。批准绑定 request_id、principal 和策略版本，不能被另一个空间复用。执行完成后写入开始、结束、结果、错误、耗时与输出摘要事件，敏感原文按规则脱敏。审批过期、授权撤销或策略版本变化时，已批准动作必须重新评估，不得沿用旧批文。</a:t>
            </a:r>
          </a:p>
          <a:p>
            <a:pPr>
              <a:lnSpc>
                <a:spcPct val="116000"/>
              </a:lnSpc>
              <a:spcAft>
                <a:spcPts val="700"/>
              </a:spcAft>
              <a:defRPr sz="1350">
                <a:solidFill>
                  <a:srgbClr val="E0E9F5"/>
                </a:solidFill>
                <a:latin typeface="微软雅黑" panose="020B0503020204020204" charset="-122"/>
              </a:defRPr>
            </a:pPr>
            <a:r>
              <a:t>隔离与防护</a:t>
            </a:r>
          </a:p>
          <a:p>
            <a:pPr>
              <a:lnSpc>
                <a:spcPct val="116000"/>
              </a:lnSpc>
              <a:spcAft>
                <a:spcPts val="700"/>
              </a:spcAft>
              <a:defRPr sz="1350">
                <a:solidFill>
                  <a:srgbClr val="E0E9F5"/>
                </a:solidFill>
                <a:latin typeface="微软雅黑" panose="020B0503020204020204" charset="-122"/>
              </a:defRPr>
            </a:pPr>
            <a:r>
              <a:t>文件工具只能访问工作区白名单，命令工具限制工作目录、环境变量、时长和输出；网络工具区分检索与提交，默认不允许写入外部系统；删除与远程操作需要二次确认。工具输出进入模型前要做提示注入标记和敏感内容检测，任何检测只改变风险和展示，不静默扩大权限。规划增加工具仿真环境和策略回放，使新策略在真实调用前可离线演练，并保留回归对照。</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26 / 31</a:t>
            </a: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相关性必须服从来源、授权、时效与证据</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微软雅黑" panose="020B0503020204020204" charset="-122"/>
              </a:defRPr>
            </a:pPr>
            <a:r>
              <a:t>知识库管线</a:t>
            </a:r>
          </a:p>
          <a:p>
            <a:pPr>
              <a:lnSpc>
                <a:spcPct val="116000"/>
              </a:lnSpc>
              <a:spcAft>
                <a:spcPts val="700"/>
              </a:spcAft>
              <a:defRPr sz="1450">
                <a:solidFill>
                  <a:srgbClr val="E0E9F5"/>
                </a:solidFill>
                <a:latin typeface="微软雅黑" panose="020B0503020204020204" charset="-122"/>
              </a:defRPr>
            </a:pPr>
            <a:r>
              <a:t>近期知识管线包括文件发现、格式解析、分块、语言与来源标注、权限索引、关键词检索和向量检索，再以 RRF 或等价方法融合结果。每个片段保留 source_id、revision、路径、更新时间、访问级别和原文定位；回答引用必须能回链到片段，索引重建采用新旧版本切换，失败时保留旧索引。当前已有入口与服务基础，但不把入口等同于完整入库能力。回答若缺乏足够证据，应明确降级为待核实，而不是编造确定结论。</a:t>
            </a:r>
          </a:p>
          <a:p>
            <a:pPr>
              <a:lnSpc>
                <a:spcPct val="116000"/>
              </a:lnSpc>
              <a:spcAft>
                <a:spcPts val="700"/>
              </a:spcAft>
              <a:defRPr sz="1450">
                <a:solidFill>
                  <a:srgbClr val="E0E9F5"/>
                </a:solidFill>
                <a:latin typeface="微软雅黑" panose="020B0503020204020204" charset="-122"/>
              </a:defRPr>
            </a:pPr>
            <a:r>
              <a:t>记忆分层</a:t>
            </a:r>
          </a:p>
          <a:p>
            <a:pPr>
              <a:lnSpc>
                <a:spcPct val="116000"/>
              </a:lnSpc>
              <a:spcAft>
                <a:spcPts val="700"/>
              </a:spcAft>
              <a:defRPr sz="1450">
                <a:solidFill>
                  <a:srgbClr val="E0E9F5"/>
                </a:solidFill>
                <a:latin typeface="微软雅黑" panose="020B0503020204020204" charset="-122"/>
              </a:defRPr>
            </a:pPr>
            <a:r>
              <a:t>Journal 保存原始事件，Recent 保存短期上下文，Fact 保存可验证原子事实，Reflection 保存基于多条证据的判断，Persona 保存稳定关系信息，Evidence 保存证据定位，Archive 保存历史版本。候选记忆经历 candidate、confirmed、promoted，可被 disputed、superseded 或 archived。记忆容器不授予权限，权限过滤始终在召回前和展示前执行。</a:t>
            </a:r>
          </a:p>
          <a:p>
            <a:pPr>
              <a:lnSpc>
                <a:spcPct val="116000"/>
              </a:lnSpc>
              <a:spcAft>
                <a:spcPts val="700"/>
              </a:spcAft>
              <a:defRPr sz="1450">
                <a:solidFill>
                  <a:srgbClr val="E0E9F5"/>
                </a:solidFill>
                <a:latin typeface="微软雅黑" panose="020B0503020204020204" charset="-122"/>
              </a:defRPr>
            </a:pPr>
            <a:r>
              <a:t>写入与纠错</a:t>
            </a:r>
          </a:p>
          <a:p>
            <a:pPr>
              <a:lnSpc>
                <a:spcPct val="116000"/>
              </a:lnSpc>
              <a:spcAft>
                <a:spcPts val="700"/>
              </a:spcAft>
              <a:defRPr sz="1450">
                <a:solidFill>
                  <a:srgbClr val="E0E9F5"/>
                </a:solidFill>
                <a:latin typeface="微软雅黑" panose="020B0503020204020204" charset="-122"/>
              </a:defRPr>
            </a:pPr>
            <a:r>
              <a:t>会话摘要和事实提取属于近期能力，必须异步、幂等、可重放且不阻塞前台。自动写入先进入候选区，由规则、来源质量和人工确认决定提升；冲突事实并存并标记争议，不以最后写入覆盖旧事实。用户可查看、编辑、撤回和逻辑删除记忆，删除操作保留最小审计元数据。规划研究跨空间共享，但默认不共享。</a:t>
            </a:r>
          </a:p>
          <a:p>
            <a:pPr>
              <a:lnSpc>
                <a:spcPct val="116000"/>
              </a:lnSpc>
              <a:spcAft>
                <a:spcPts val="700"/>
              </a:spcAft>
              <a:defRPr sz="1450">
                <a:solidFill>
                  <a:srgbClr val="E0E9F5"/>
                </a:solidFill>
                <a:latin typeface="微软雅黑" panose="020B0503020204020204" charset="-122"/>
              </a:defRPr>
            </a:pPr>
            <a:r>
              <a:t>数据边界</a:t>
            </a:r>
          </a:p>
          <a:p>
            <a:pPr>
              <a:lnSpc>
                <a:spcPct val="116000"/>
              </a:lnSpc>
              <a:spcAft>
                <a:spcPts val="700"/>
              </a:spcAft>
              <a:defRPr sz="1450">
                <a:solidFill>
                  <a:srgbClr val="E0E9F5"/>
                </a:solidFill>
                <a:latin typeface="微软雅黑" panose="020B0503020204020204" charset="-122"/>
              </a:defRPr>
            </a:pPr>
            <a:r>
              <a:t>本地缓存只保存完成授权的数据和必要的加密副本，不在本地私自建立权威事实或跨空间索引；服务端作为规划中的权威源，缓存以 revision 校验并可失效。检索上下文受 token 预算、敏感等级和任务目标约束，不能把全部历史倾倒给模型。导入、导出、保留期限和删除结果都应可观察。</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27 / 31</a:t>
            </a: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默认拒绝、最小授权、可撤销、可审计</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350">
                <a:solidFill>
                  <a:srgbClr val="E0E9F5"/>
                </a:solidFill>
                <a:latin typeface="微软雅黑" panose="020B0503020204020204" charset="-122"/>
              </a:defRPr>
            </a:pPr>
            <a:r>
              <a:t>身份与授权</a:t>
            </a:r>
          </a:p>
          <a:p>
            <a:pPr>
              <a:lnSpc>
                <a:spcPct val="116000"/>
              </a:lnSpc>
              <a:spcAft>
                <a:spcPts val="700"/>
              </a:spcAft>
              <a:defRPr sz="1350">
                <a:solidFill>
                  <a:srgbClr val="E0E9F5"/>
                </a:solidFill>
                <a:latin typeface="微软雅黑" panose="020B0503020204020204" charset="-122"/>
              </a:defRPr>
            </a:pPr>
            <a:r>
              <a:t>每个请求绑定 principal、role、device_id、space_id、session_id、task_id 和 request_id。认证确认“谁在请求”，授权再判断“能对什么资源做什么动作”。Owner 负责高风险审批，成员权限按空间与资源类型授予，Agent 不能通过提示词改变角色或能力。当前桌面以本地工作区为主，近期将服务端策略判断和设备会话固化为统一接口。</a:t>
            </a:r>
          </a:p>
          <a:p>
            <a:pPr>
              <a:lnSpc>
                <a:spcPct val="116000"/>
              </a:lnSpc>
              <a:spcAft>
                <a:spcPts val="700"/>
              </a:spcAft>
              <a:defRPr sz="1350">
                <a:solidFill>
                  <a:srgbClr val="E0E9F5"/>
                </a:solidFill>
                <a:latin typeface="微软雅黑" panose="020B0503020204020204" charset="-122"/>
              </a:defRPr>
            </a:pPr>
            <a:r>
              <a:t>工作区与数据</a:t>
            </a:r>
          </a:p>
          <a:p>
            <a:pPr>
              <a:lnSpc>
                <a:spcPct val="116000"/>
              </a:lnSpc>
              <a:spcAft>
                <a:spcPts val="700"/>
              </a:spcAft>
              <a:defRPr sz="1350">
                <a:solidFill>
                  <a:srgbClr val="E0E9F5"/>
                </a:solidFill>
                <a:latin typeface="微软雅黑" panose="020B0503020204020204" charset="-122"/>
              </a:defRPr>
            </a:pPr>
            <a:r>
              <a:t>文件访问以登记目录为根，规范化路径后检查逃逸、符号链接和敏感文件规则；默认不读凭据、密钥、令牌和系统配置。日志、模型上下文、工具输出和错误响应均执行字段级脱敏。密钥只由受控运行环境读取，不进入代码、产物或截图。规划增加组织保留策略、密钥轮换和合规报告，但不提前宣称已覆盖。</a:t>
            </a:r>
          </a:p>
          <a:p>
            <a:pPr>
              <a:lnSpc>
                <a:spcPct val="116000"/>
              </a:lnSpc>
              <a:spcAft>
                <a:spcPts val="700"/>
              </a:spcAft>
              <a:defRPr sz="1350">
                <a:solidFill>
                  <a:srgbClr val="E0E9F5"/>
                </a:solidFill>
                <a:latin typeface="微软雅黑" panose="020B0503020204020204" charset="-122"/>
              </a:defRPr>
            </a:pPr>
            <a:r>
              <a:t>高风险动作</a:t>
            </a:r>
          </a:p>
          <a:p>
            <a:pPr>
              <a:lnSpc>
                <a:spcPct val="116000"/>
              </a:lnSpc>
              <a:spcAft>
                <a:spcPts val="700"/>
              </a:spcAft>
              <a:defRPr sz="1350">
                <a:solidFill>
                  <a:srgbClr val="E0E9F5"/>
                </a:solidFill>
                <a:latin typeface="微软雅黑" panose="020B0503020204020204" charset="-122"/>
              </a:defRPr>
            </a:pPr>
            <a:r>
              <a:t>命令执行、网络提交、删除、远程连接和批量写入属于高风险。系统在执行前展示参数摘要、目标、影响范围、超时、预计成本和回滚方式，审批具有有效期并绑定策略版本。拒绝必须返回 reason_code；审批过期、令牌撤销、策略变化或资源 revision 不一致时自动失效。副作用动作默认不自动重放，重试必须重新评估。</a:t>
            </a:r>
          </a:p>
          <a:p>
            <a:pPr>
              <a:lnSpc>
                <a:spcPct val="116000"/>
              </a:lnSpc>
              <a:spcAft>
                <a:spcPts val="700"/>
              </a:spcAft>
              <a:defRPr sz="1350">
                <a:solidFill>
                  <a:srgbClr val="E0E9F5"/>
                </a:solidFill>
                <a:latin typeface="微软雅黑" panose="020B0503020204020204" charset="-122"/>
              </a:defRPr>
            </a:pPr>
            <a:r>
              <a:t>安全验收</a:t>
            </a:r>
          </a:p>
          <a:p>
            <a:pPr>
              <a:lnSpc>
                <a:spcPct val="116000"/>
              </a:lnSpc>
              <a:spcAft>
                <a:spcPts val="700"/>
              </a:spcAft>
              <a:defRPr sz="1350">
                <a:solidFill>
                  <a:srgbClr val="E0E9F5"/>
                </a:solidFill>
                <a:latin typeface="微软雅黑" panose="020B0503020204020204" charset="-122"/>
              </a:defRPr>
            </a:pPr>
            <a:r>
              <a:t>回归套件覆盖未知工具拒绝、路径逃逸、越权跨空间、失效令牌、提示注入、敏感泄露、恶意文档、重复请求和审计缺口。安全事件需要关联到任务与设备，支持撤销令牌、冻结任务和导出证据。安全性不是单独的上线后工作，而是每个新工具、新模型、新设备和新连接器的准入门槛。</a:t>
            </a:r>
          </a:p>
          <a:p>
            <a:pPr>
              <a:lnSpc>
                <a:spcPct val="116000"/>
              </a:lnSpc>
              <a:spcAft>
                <a:spcPts val="700"/>
              </a:spcAft>
              <a:defRPr sz="1350">
                <a:solidFill>
                  <a:srgbClr val="E0E9F5"/>
                </a:solidFill>
                <a:latin typeface="微软雅黑" panose="020B0503020204020204" charset="-122"/>
              </a:defRPr>
            </a:pPr>
            <a:r>
              <a:t>安全运营</a:t>
            </a:r>
          </a:p>
          <a:p>
            <a:pPr>
              <a:lnSpc>
                <a:spcPct val="116000"/>
              </a:lnSpc>
              <a:spcAft>
                <a:spcPts val="700"/>
              </a:spcAft>
              <a:defRPr sz="1350">
                <a:solidFill>
                  <a:srgbClr val="E0E9F5"/>
                </a:solidFill>
                <a:latin typeface="微软雅黑" panose="020B0503020204020204" charset="-122"/>
              </a:defRPr>
            </a:pPr>
            <a:r>
              <a:t>安全事件必须关联任务、设备、主体和策略版本，支持撤销令牌、冻结任务、导出证据和事后复盘。新工具、新模型、新设备和新连接器均需完成威胁建模、数据流审查和回归测试后才能进入生产。</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28 / 31</a:t>
            </a: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同步任务与事件，不复制未经授权的本地状态</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微软雅黑" panose="020B0503020204020204" charset="-122"/>
              </a:defRPr>
            </a:pPr>
            <a:r>
              <a:t>跨设备原则</a:t>
            </a:r>
          </a:p>
          <a:p>
            <a:pPr>
              <a:lnSpc>
                <a:spcPct val="116000"/>
              </a:lnSpc>
              <a:spcAft>
                <a:spcPts val="700"/>
              </a:spcAft>
              <a:defRPr sz="1450">
                <a:solidFill>
                  <a:srgbClr val="E0E9F5"/>
                </a:solidFill>
                <a:latin typeface="微软雅黑" panose="020B0503020204020204" charset="-122"/>
              </a:defRPr>
            </a:pPr>
            <a:r>
              <a:t>当前桌面端以本地工作区和本地编辑为主，服务端具备会话、任务、同步事件、设备和记忆的基础形态；近期实现事件游标、离线队列、任务接力、文件基线和冲突界面；规划才考虑移动端、网页端、设备代理和推送。跨设备同步的是任务元数据、授权事件和明确选择的产物，不自动上传所有本地文件，不复制设备私有凭据，设备离线时应清楚标识数据的新鲜度。</a:t>
            </a:r>
          </a:p>
          <a:p>
            <a:pPr>
              <a:lnSpc>
                <a:spcPct val="116000"/>
              </a:lnSpc>
              <a:spcAft>
                <a:spcPts val="700"/>
              </a:spcAft>
              <a:defRPr sz="1450">
                <a:solidFill>
                  <a:srgbClr val="E0E9F5"/>
                </a:solidFill>
                <a:latin typeface="微软雅黑" panose="020B0503020204020204" charset="-122"/>
              </a:defRPr>
            </a:pPr>
            <a:r>
              <a:t>模型路由</a:t>
            </a:r>
          </a:p>
          <a:p>
            <a:pPr>
              <a:lnSpc>
                <a:spcPct val="116000"/>
              </a:lnSpc>
              <a:spcAft>
                <a:spcPts val="700"/>
              </a:spcAft>
              <a:defRPr sz="1450">
                <a:solidFill>
                  <a:srgbClr val="E0E9F5"/>
                </a:solidFill>
                <a:latin typeface="微软雅黑" panose="020B0503020204020204" charset="-122"/>
              </a:defRPr>
            </a:pPr>
            <a:r>
              <a:t>路由输入包括任务类型、上下文长度、延迟预算、成本上限、数据敏感级别、工具需求、可用区域和服务健康。短问答优先低延迟模型，规划与代码分析可选择高质量模型，敏感数据仅进入获准范围。路由决策记录 provider、model、版本、策略、输入输出预算和降级原因，用户能看到模型类别与成本，而非被不可解释地切换。</a:t>
            </a:r>
          </a:p>
          <a:p>
            <a:pPr>
              <a:lnSpc>
                <a:spcPct val="116000"/>
              </a:lnSpc>
              <a:spcAft>
                <a:spcPts val="700"/>
              </a:spcAft>
              <a:defRPr sz="1450">
                <a:solidFill>
                  <a:srgbClr val="E0E9F5"/>
                </a:solidFill>
                <a:latin typeface="微软雅黑" panose="020B0503020204020204" charset="-122"/>
              </a:defRPr>
            </a:pPr>
            <a:r>
              <a:t>降级恢复</a:t>
            </a:r>
          </a:p>
          <a:p>
            <a:pPr>
              <a:lnSpc>
                <a:spcPct val="116000"/>
              </a:lnSpc>
              <a:spcAft>
                <a:spcPts val="700"/>
              </a:spcAft>
              <a:defRPr sz="1450">
                <a:solidFill>
                  <a:srgbClr val="E0E9F5"/>
                </a:solidFill>
                <a:latin typeface="微软雅黑" panose="020B0503020204020204" charset="-122"/>
              </a:defRPr>
            </a:pPr>
            <a:r>
              <a:t>模型不可用时只切换到预先批准的候选，不把失败静默改写为成功；首 token 超时、配额不足和内容策略拒绝有不同错误码。只读工具可按幂等策略有限重试，写入和远程副作用不自动重放。服务不可达时 IDE 仍能编辑、保存和浏览，任务进入待同步，恢复后使用 request_id 与事件序列补发，重复请求由服务端去重。</a:t>
            </a:r>
          </a:p>
          <a:p>
            <a:pPr>
              <a:lnSpc>
                <a:spcPct val="116000"/>
              </a:lnSpc>
              <a:spcAft>
                <a:spcPts val="700"/>
              </a:spcAft>
              <a:defRPr sz="1450">
                <a:solidFill>
                  <a:srgbClr val="E0E9F5"/>
                </a:solidFill>
                <a:latin typeface="微软雅黑" panose="020B0503020204020204" charset="-122"/>
              </a:defRPr>
            </a:pPr>
            <a:r>
              <a:t>冲突处理</a:t>
            </a:r>
          </a:p>
          <a:p>
            <a:pPr>
              <a:lnSpc>
                <a:spcPct val="116000"/>
              </a:lnSpc>
              <a:spcAft>
                <a:spcPts val="700"/>
              </a:spcAft>
              <a:defRPr sz="1450">
                <a:solidFill>
                  <a:srgbClr val="E0E9F5"/>
                </a:solidFill>
                <a:latin typeface="微软雅黑" panose="020B0503020204020204" charset="-122"/>
              </a:defRPr>
            </a:pPr>
            <a:r>
              <a:t>会话和记忆以 revision、幂等键和逻辑时钟识别冲突；文件以内容哈希、基线版本和 Diff 合并。冲突返回明确状态和两侧内容，用户选择保留、合并或放弃，不静默覆盖。规划中的后台接力必须先验证设备授权、工作区版本和模型策略，再允许继续执行，并将接力责任人写入审计。</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29 / 31</a:t>
            </a: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让系统行为可测量、可诊断、可回放</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微软雅黑" panose="020B0503020204020204" charset="-122"/>
              </a:defRPr>
            </a:pPr>
            <a:r>
              <a:t>可观测性</a:t>
            </a:r>
          </a:p>
          <a:p>
            <a:pPr>
              <a:lnSpc>
                <a:spcPct val="116000"/>
              </a:lnSpc>
              <a:spcAft>
                <a:spcPts val="700"/>
              </a:spcAft>
              <a:defRPr sz="1450">
                <a:solidFill>
                  <a:srgbClr val="E0E9F5"/>
                </a:solidFill>
                <a:latin typeface="微软雅黑" panose="020B0503020204020204" charset="-122"/>
              </a:defRPr>
            </a:pPr>
            <a:r>
              <a:t>Trace 贯穿 request、task、session、agent、model、tool、approval、artifact 和 verification；Metrics 记录首 token、端到端延迟、队列等待、工具成功率、审批等待、重试率、Token、成本、召回命中、引用覆盖和错误码；Logs 采用结构化字段，带版本、设备和关联 ID，并做脱敏与采样。当前优先建立事件与基础指标，近期增加告警、策略回放和任务诊断视图。</a:t>
            </a:r>
          </a:p>
          <a:p>
            <a:pPr>
              <a:lnSpc>
                <a:spcPct val="116000"/>
              </a:lnSpc>
              <a:spcAft>
                <a:spcPts val="700"/>
              </a:spcAft>
              <a:defRPr sz="1450">
                <a:solidFill>
                  <a:srgbClr val="E0E9F5"/>
                </a:solidFill>
                <a:latin typeface="微软雅黑" panose="020B0503020204020204" charset="-122"/>
              </a:defRPr>
            </a:pPr>
            <a:r>
              <a:t>性能与容量</a:t>
            </a:r>
          </a:p>
          <a:p>
            <a:pPr>
              <a:lnSpc>
                <a:spcPct val="116000"/>
              </a:lnSpc>
              <a:spcAft>
                <a:spcPts val="700"/>
              </a:spcAft>
              <a:defRPr sz="1450">
                <a:solidFill>
                  <a:srgbClr val="E0E9F5"/>
                </a:solidFill>
                <a:latin typeface="微软雅黑" panose="020B0503020204020204" charset="-122"/>
              </a:defRPr>
            </a:pPr>
            <a:r>
              <a:t>近期基线：本地文件树和编辑交互 P95 不超过 100ms（超大文件分段加载除外）；已建立连接的会话首 token P95 不超过 3s；事件到达不乱序、不重复展示；只读工具成功率不低于 99%；审批决策反馈 P95 不超过 1s。指标需在受控数据集和真实规模工作区分别测量，报告样本量、版本和环境，不能只报平均值。</a:t>
            </a:r>
          </a:p>
          <a:p>
            <a:pPr>
              <a:lnSpc>
                <a:spcPct val="116000"/>
              </a:lnSpc>
              <a:spcAft>
                <a:spcPts val="700"/>
              </a:spcAft>
              <a:defRPr sz="1450">
                <a:solidFill>
                  <a:srgbClr val="E0E9F5"/>
                </a:solidFill>
                <a:latin typeface="微软雅黑" panose="020B0503020204020204" charset="-122"/>
              </a:defRPr>
            </a:pPr>
            <a:r>
              <a:t>可靠性</a:t>
            </a:r>
          </a:p>
          <a:p>
            <a:pPr>
              <a:lnSpc>
                <a:spcPct val="116000"/>
              </a:lnSpc>
              <a:spcAft>
                <a:spcPts val="700"/>
              </a:spcAft>
              <a:defRPr sz="1450">
                <a:solidFill>
                  <a:srgbClr val="E0E9F5"/>
                </a:solidFill>
                <a:latin typeface="微软雅黑" panose="020B0503020204020204" charset="-122"/>
              </a:defRPr>
            </a:pPr>
            <a:r>
              <a:t>前台编辑与后台学习解耦，单任务失败不得导致全局会话重置；任务、记忆和索引具备 revision、幂等、备份、恢复和局部重建；服务端重启后事件游标可继续，客户端断网不丢失本地草稿。规划再制定跨区域可用性和灾备目标。所有自动恢复都要限制次数并留下原因，防止故障放大成本或副作用。</a:t>
            </a:r>
          </a:p>
          <a:p>
            <a:pPr>
              <a:lnSpc>
                <a:spcPct val="116000"/>
              </a:lnSpc>
              <a:spcAft>
                <a:spcPts val="700"/>
              </a:spcAft>
              <a:defRPr sz="1450">
                <a:solidFill>
                  <a:srgbClr val="E0E9F5"/>
                </a:solidFill>
                <a:latin typeface="微软雅黑" panose="020B0503020204020204" charset="-122"/>
              </a:defRPr>
            </a:pPr>
            <a:r>
              <a:t>可用性与兼容</a:t>
            </a:r>
          </a:p>
          <a:p>
            <a:pPr>
              <a:lnSpc>
                <a:spcPct val="116000"/>
              </a:lnSpc>
              <a:spcAft>
                <a:spcPts val="700"/>
              </a:spcAft>
              <a:defRPr sz="1450">
                <a:solidFill>
                  <a:srgbClr val="E0E9F5"/>
                </a:solidFill>
                <a:latin typeface="微软雅黑" panose="020B0503020204020204" charset="-122"/>
              </a:defRPr>
            </a:pPr>
            <a:r>
              <a:t>首发支持 Windows x64；键盘可完成翻页、提交、审批、取消和跳转，颜色不是唯一状态信号，错误信息包含可行动建议。API 采用版本化 schema，Agent、工具、模型和索引可独立升级，并保留兼容窗口。界面要显示当前、近期和规划标签，避免用户将路线图误判为已交付功能。</a:t>
            </a:r>
          </a:p>
          <a:p>
            <a:pPr>
              <a:lnSpc>
                <a:spcPct val="116000"/>
              </a:lnSpc>
              <a:spcAft>
                <a:spcPts val="700"/>
              </a:spcAft>
              <a:defRPr sz="1450">
                <a:solidFill>
                  <a:srgbClr val="E0E9F5"/>
                </a:solidFill>
                <a:latin typeface="微软雅黑" panose="020B0503020204020204" charset="-122"/>
              </a:defRPr>
            </a:pPr>
            <a:r>
              <a:t>指标分层</a:t>
            </a:r>
          </a:p>
          <a:p>
            <a:pPr>
              <a:lnSpc>
                <a:spcPct val="116000"/>
              </a:lnSpc>
              <a:spcAft>
                <a:spcPts val="700"/>
              </a:spcAft>
              <a:defRPr sz="1450">
                <a:solidFill>
                  <a:srgbClr val="E0E9F5"/>
                </a:solidFill>
                <a:latin typeface="微软雅黑" panose="020B0503020204020204" charset="-122"/>
              </a:defRPr>
            </a:pPr>
            <a:r>
              <a:t>指标按客户端、服务端、模型、工具和知识链路分层，报告 P50、P95、错误分布、样本量、版本与环境。告警需要能够定位到 request_id 和任务步骤，诊断视图不展示密钥或未经脱敏的敏感原文。</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30 / 31</a:t>
            </a:r>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defRPr sz="1200" b="1">
                <a:solidFill>
                  <a:srgbClr val="091222"/>
                </a:solidFill>
                <a:latin typeface="微软雅黑" panose="020B0503020204020204" charset="-122"/>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微软雅黑" panose="020B0503020204020204" charset="-122"/>
              </a:defRPr>
            </a:pPr>
            <a:r>
              <a:t>以阶段出口和风险门槛推进，不以演示效果替代交付</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1"/>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84" y="-201161"/>
            <a:ext cx="621780" cy="402330"/>
          </a:xfrm>
          <a:prstGeom prst="rect">
            <a:avLst/>
          </a:prstGeom>
          <a:noFill/>
        </p:spPr>
        <p:txBody>
          <a:bodyPr wrap="square" lIns="36576" rIns="36576">
            <a:spAutoFit/>
          </a:bodyPr>
          <a:lstStyle/>
          <a:p>
            <a:pPr>
              <a:lnSpc>
                <a:spcPct val="116000"/>
              </a:lnSpc>
              <a:spcAft>
                <a:spcPts val="700"/>
              </a:spcAft>
              <a:defRPr sz="1350">
                <a:solidFill>
                  <a:srgbClr val="E0E9F5"/>
                </a:solidFill>
                <a:latin typeface="微软雅黑" panose="020B0503020204020204" charset="-122"/>
              </a:defRPr>
            </a:pPr>
            <a:r>
              <a:t>A｜当前：桌面基线</a:t>
            </a:r>
          </a:p>
          <a:p>
            <a:pPr>
              <a:lnSpc>
                <a:spcPct val="116000"/>
              </a:lnSpc>
              <a:spcAft>
                <a:spcPts val="700"/>
              </a:spcAft>
              <a:defRPr sz="1350">
                <a:solidFill>
                  <a:srgbClr val="E0E9F5"/>
                </a:solidFill>
                <a:latin typeface="微软雅黑" panose="020B0503020204020204" charset="-122"/>
              </a:defRPr>
            </a:pPr>
            <a:r>
              <a:t>工作区、编辑器、Markdown、会话、Agent 选择和离线本地能力可用。出口是核心交互回归通过、保存可验证、无网络仍能工作，且构建产物可在干净环境启动。</a:t>
            </a:r>
          </a:p>
          <a:p>
            <a:pPr>
              <a:lnSpc>
                <a:spcPct val="116000"/>
              </a:lnSpc>
              <a:spcAft>
                <a:spcPts val="700"/>
              </a:spcAft>
              <a:defRPr sz="1350">
                <a:solidFill>
                  <a:srgbClr val="E0E9F5"/>
                </a:solidFill>
                <a:latin typeface="微软雅黑" panose="020B0503020204020204" charset="-122"/>
              </a:defRPr>
            </a:pPr>
            <a:r>
              <a:t>B｜近期：执行闭环</a:t>
            </a:r>
          </a:p>
          <a:p>
            <a:pPr>
              <a:lnSpc>
                <a:spcPct val="116000"/>
              </a:lnSpc>
              <a:spcAft>
                <a:spcPts val="700"/>
              </a:spcAft>
              <a:defRPr sz="1350">
                <a:solidFill>
                  <a:srgbClr val="E0E9F5"/>
                </a:solidFill>
                <a:latin typeface="微软雅黑" panose="020B0503020204020204" charset="-122"/>
              </a:defRPr>
            </a:pPr>
            <a:r>
              <a:t>任务状态、流式事件、工具 schema、审批、Diff、验证、日志和配置版本稳定。出口是读写命令风险分层可测试，审批与拒绝路径均有回归用例。</a:t>
            </a:r>
          </a:p>
          <a:p>
            <a:pPr>
              <a:lnSpc>
                <a:spcPct val="116000"/>
              </a:lnSpc>
              <a:spcAft>
                <a:spcPts val="700"/>
              </a:spcAft>
              <a:defRPr sz="1350">
                <a:solidFill>
                  <a:srgbClr val="E0E9F5"/>
                </a:solidFill>
                <a:latin typeface="微软雅黑" panose="020B0503020204020204" charset="-122"/>
              </a:defRPr>
            </a:pPr>
            <a:r>
              <a:t>C｜近期：知识记忆</a:t>
            </a:r>
          </a:p>
          <a:p>
            <a:pPr>
              <a:lnSpc>
                <a:spcPct val="116000"/>
              </a:lnSpc>
              <a:spcAft>
                <a:spcPts val="700"/>
              </a:spcAft>
              <a:defRPr sz="1350">
                <a:solidFill>
                  <a:srgbClr val="E0E9F5"/>
                </a:solidFill>
                <a:latin typeface="微软雅黑" panose="020B0503020204020204" charset="-122"/>
              </a:defRPr>
            </a:pPr>
            <a:r>
              <a:t>入库、混合召回、引用、记忆状态和异步幂等学习完成。出口是跨会话结论可回链、可纠错、可删除，索引重建失败可回退旧版本。</a:t>
            </a:r>
          </a:p>
          <a:p>
            <a:pPr>
              <a:lnSpc>
                <a:spcPct val="116000"/>
              </a:lnSpc>
              <a:spcAft>
                <a:spcPts val="700"/>
              </a:spcAft>
              <a:defRPr sz="1350">
                <a:solidFill>
                  <a:srgbClr val="E0E9F5"/>
                </a:solidFill>
                <a:latin typeface="微软雅黑" panose="020B0503020204020204" charset="-122"/>
              </a:defRPr>
            </a:pPr>
            <a:r>
              <a:t>D｜规划：跨设备</a:t>
            </a:r>
          </a:p>
          <a:p>
            <a:pPr>
              <a:lnSpc>
                <a:spcPct val="116000"/>
              </a:lnSpc>
              <a:spcAft>
                <a:spcPts val="700"/>
              </a:spcAft>
              <a:defRPr sz="1350">
                <a:solidFill>
                  <a:srgbClr val="E0E9F5"/>
                </a:solidFill>
                <a:latin typeface="微软雅黑" panose="020B0503020204020204" charset="-122"/>
              </a:defRPr>
            </a:pPr>
            <a:r>
              <a:t>事件同步、离线队列、文件冲突、移动网页入口和设备代理经过安全评估。出口是不丢任务、不越权、不静默覆盖，接力责任人有明确审计记录。</a:t>
            </a:r>
          </a:p>
          <a:p>
            <a:pPr>
              <a:lnSpc>
                <a:spcPct val="116000"/>
              </a:lnSpc>
              <a:spcAft>
                <a:spcPts val="700"/>
              </a:spcAft>
              <a:defRPr sz="1350">
                <a:solidFill>
                  <a:srgbClr val="E0E9F5"/>
                </a:solidFill>
                <a:latin typeface="微软雅黑" panose="020B0503020204020204" charset="-122"/>
              </a:defRPr>
            </a:pPr>
            <a:r>
              <a:t>通用验收</a:t>
            </a:r>
          </a:p>
          <a:p>
            <a:pPr>
              <a:lnSpc>
                <a:spcPct val="116000"/>
              </a:lnSpc>
              <a:spcAft>
                <a:spcPts val="700"/>
              </a:spcAft>
              <a:defRPr sz="1350">
                <a:solidFill>
                  <a:srgbClr val="E0E9F5"/>
                </a:solidFill>
                <a:latin typeface="微软雅黑" panose="020B0503020204020204" charset="-122"/>
              </a:defRPr>
            </a:pPr>
            <a:r>
              <a:t>Given 合法身份、授权工作区和明确验收条件，When 用户提交任务，Then 系统展示计划、逐事件执行、风险审批、结构化产物、验证结果、成本和审计回链。断网、模型失败、工具失败、审批过期、权限变化和版本冲突均有可恢复路径；测试记录输入版本、环境、期望和实际结果，回归以可重复证据为准，而不是只验证演示路径。</a:t>
            </a:r>
          </a:p>
          <a:p>
            <a:pPr>
              <a:lnSpc>
                <a:spcPct val="116000"/>
              </a:lnSpc>
              <a:spcAft>
                <a:spcPts val="700"/>
              </a:spcAft>
              <a:defRPr sz="1350">
                <a:solidFill>
                  <a:srgbClr val="E0E9F5"/>
                </a:solidFill>
                <a:latin typeface="微软雅黑" panose="020B0503020204020204" charset="-122"/>
              </a:defRPr>
            </a:pPr>
            <a:r>
              <a:t>风险与非目标</a:t>
            </a:r>
          </a:p>
          <a:p>
            <a:pPr>
              <a:lnSpc>
                <a:spcPct val="116000"/>
              </a:lnSpc>
              <a:spcAft>
                <a:spcPts val="700"/>
              </a:spcAft>
              <a:defRPr sz="1350">
                <a:solidFill>
                  <a:srgbClr val="E0E9F5"/>
                </a:solidFill>
                <a:latin typeface="微软雅黑" panose="020B0503020204020204" charset="-122"/>
              </a:defRPr>
            </a:pPr>
            <a:r>
              <a:t>模型幻觉由引用、Diff、测试和人工确认缓解；越权与注入由能力白名单、沙箱和默认拒绝缓解；重复执行由幂等键和副作用隔离缓解；知识污染由证据、争议和逻辑删除缓解；成本失控由路由、预算、限流和告警缓解。本阶段不承诺全自动替代专业人员，不开放任意命令、任意远程主机或未经授权资料，不宣称规划项已经完成。任何扩大权限或接入新供应方都必须提交威胁模型、数据流、回滚、成本上限和验收用例；通过门槛后才能进入实施，防止自动化半径越过可信边界。</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微软雅黑" panose="020B0503020204020204" charset="-122"/>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微软雅黑" panose="020B0503020204020204" charset="-122"/>
              </a:defRPr>
            </a:pPr>
            <a:r>
              <a:t>31 / 31</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18161</Words>
  <Application>WPS 演示</Application>
  <PresentationFormat>On-screen Show (4:3)</PresentationFormat>
  <Paragraphs>377</Paragraphs>
  <Slides>27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27</vt:i4>
      </vt:variant>
    </vt:vector>
  </HeadingPairs>
  <TitlesOfParts>
    <vt:vector size="36" baseType="lpstr">
      <vt:lpstr>Arial</vt:lpstr>
      <vt:lpstr>宋体</vt:lpstr>
      <vt:lpstr>Wingdings</vt:lpstr>
      <vt:lpstr>Arial</vt:lpstr>
      <vt:lpstr>微软雅黑</vt:lpstr>
      <vt:lpstr>Consolas</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于汇家</cp:lastModifiedBy>
  <cp:revision>2</cp:revision>
  <dcterms:created xsi:type="dcterms:W3CDTF">2013-01-27T09:14:00Z</dcterms:created>
  <dcterms:modified xsi:type="dcterms:W3CDTF">2026-09-02T04:26:16Z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668E7A9538534832AE556CE220CFF03C_12</vt:lpwstr>
  </property>
  <property fmtid="{D5CDD505-2E9C-101B-9397-08002B2CF9AE}" pid="3" name="KSOProductBuildVer">
    <vt:lpwstr>2052-12.1.0.23125</vt:lpwstr>
  </property>
</Properties>
</file>