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77" r:id="rId12"/>
    <p:sldId id="278" r:id="rId13"/>
    <p:sldId id="264" r:id="rId14"/>
    <p:sldId id="280" r:id="rId15"/>
    <p:sldId id="265" r:id="rId16"/>
    <p:sldId id="279" r:id="rId17"/>
    <p:sldId id="281" r:id="rId18"/>
    <p:sldId id="282" r:id="rId19"/>
    <p:sldId id="283" r:id="rId20"/>
    <p:sldId id="284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85" r:id="rId29"/>
    <p:sldId id="273" r:id="rId30"/>
    <p:sldId id="274" r:id="rId31"/>
    <p:sldId id="275" r:id="rId32"/>
    <p:sldId id="286" r:id="rId33"/>
    <p:sldId id="287" r:id="rId34"/>
    <p:sldId id="276" r:id="rId3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1" Type="http://schemas.openxmlformats.org/officeDocument/2006/relationships/notesSlide" Target="../notesSlides/notesSlide8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6" Type="http://schemas.openxmlformats.org/officeDocument/2006/relationships/notesSlide" Target="../notesSlides/notesSlide14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91.xml"/><Relationship Id="rId23" Type="http://schemas.openxmlformats.org/officeDocument/2006/relationships/tags" Target="../tags/tag90.xml"/><Relationship Id="rId22" Type="http://schemas.openxmlformats.org/officeDocument/2006/relationships/tags" Target="../tags/tag89.xml"/><Relationship Id="rId21" Type="http://schemas.openxmlformats.org/officeDocument/2006/relationships/tags" Target="../tags/tag88.xml"/><Relationship Id="rId20" Type="http://schemas.openxmlformats.org/officeDocument/2006/relationships/tags" Target="../tags/tag87.xml"/><Relationship Id="rId2" Type="http://schemas.openxmlformats.org/officeDocument/2006/relationships/tags" Target="../tags/tag69.xml"/><Relationship Id="rId19" Type="http://schemas.openxmlformats.org/officeDocument/2006/relationships/tags" Target="../tags/tag86.xml"/><Relationship Id="rId18" Type="http://schemas.openxmlformats.org/officeDocument/2006/relationships/tags" Target="../tags/tag85.xml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tags" Target="../tags/tag6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COMPUTER × SYNBIO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7132320" cy="1234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kern="0" spc="15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从计算机开发基础</a:t>
            </a:r>
            <a:endParaRPr lang="en-US" sz="3400" dirty="0"/>
          </a:p>
          <a:p>
            <a:pPr marL="0" indent="0">
              <a:buNone/>
            </a:pPr>
            <a:r>
              <a:rPr lang="en-US" sz="3400" b="1" kern="0" spc="15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到人工智能与合成生物学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一份面向交叉研究的概念地图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46520" y="160020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46520" y="1600200"/>
            <a:ext cx="64008" cy="65836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11112" y="1728216"/>
            <a:ext cx="110642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18120" y="2514600"/>
            <a:ext cx="914400" cy="658368"/>
          </a:xfrm>
          <a:prstGeom prst="roundRect">
            <a:avLst>
              <a:gd name="adj" fmla="val 11111"/>
            </a:avLst>
          </a:prstGeom>
          <a:solidFill>
            <a:srgbClr val="FFF2E2"/>
          </a:solidFill>
          <a:ln w="15240">
            <a:solidFill>
              <a:srgbClr val="F28C28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18120" y="2514600"/>
            <a:ext cx="64008" cy="65836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82712" y="2642616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46520" y="342900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5F7F8"/>
          </a:solidFill>
          <a:ln w="15240">
            <a:solidFill>
              <a:srgbClr val="66717A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3429000"/>
            <a:ext cx="64008" cy="658368"/>
          </a:xfrm>
          <a:prstGeom prst="rect">
            <a:avLst/>
          </a:prstGeom>
          <a:solidFill>
            <a:srgbClr val="66717A"/>
          </a:solidFill>
          <a:ln w="12700">
            <a:solidFill>
              <a:srgbClr val="6671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3557016"/>
            <a:ext cx="110642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438912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 · 研究准备版</a:t>
            </a:r>
            <a:endParaRPr lang="en-US" sz="1000" dirty="0"/>
          </a:p>
        </p:txBody>
      </p:sp>
      <p:sp>
        <p:nvSpPr>
          <p:cNvPr id="15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首先，我们需要建立一些共同语言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先对计算机基础做一些理解与认识。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72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67335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前端、后端、API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2002536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软件如何被组织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04288"/>
            <a:ext cx="3520440" cy="0"/>
          </a:xfrm>
          <a:prstGeom prst="line">
            <a:avLst/>
          </a:prstGeom>
          <a:noFill/>
          <a:ln w="10160">
            <a:solidFill>
              <a:srgbClr val="CBD5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96312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72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47802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Vibe Coding 时代的全栈工程师开发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807208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从意图到可运行系统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3520440" cy="0"/>
          </a:xfrm>
          <a:prstGeom prst="line">
            <a:avLst/>
          </a:prstGeom>
          <a:noFill/>
          <a:ln w="10160">
            <a:solidFill>
              <a:srgbClr val="CBD5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00984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72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328269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算法、模拟与大模型推理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611880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规则、状态与演化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913632"/>
            <a:ext cx="3520440" cy="0"/>
          </a:xfrm>
          <a:prstGeom prst="line">
            <a:avLst/>
          </a:prstGeom>
          <a:noFill/>
          <a:ln w="10160">
            <a:solidFill>
              <a:srgbClr val="CBD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691640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28C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0" y="167335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大语言模型基础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2002536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token 到概率分布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304288"/>
            <a:ext cx="3520440" cy="0"/>
          </a:xfrm>
          <a:prstGeom prst="line">
            <a:avLst/>
          </a:prstGeom>
          <a:noFill/>
          <a:ln w="10160">
            <a:solidFill>
              <a:srgbClr val="CBD5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496312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28C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12080" y="247802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幻觉率与 LLM 工程开发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2807208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模型的不确定性与应用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108960"/>
            <a:ext cx="3520440" cy="0"/>
          </a:xfrm>
          <a:prstGeom prst="line">
            <a:avLst/>
          </a:prstGeom>
          <a:noFill/>
          <a:ln w="10160">
            <a:solidFill>
              <a:srgbClr val="CBD5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300984"/>
            <a:ext cx="38404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28C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12080" y="3282696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合成生物学交叉研究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3611880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从计算机到实验闭环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913632"/>
            <a:ext cx="3520440" cy="0"/>
          </a:xfrm>
          <a:prstGeom prst="line">
            <a:avLst/>
          </a:prstGeom>
          <a:noFill/>
          <a:ln w="10160">
            <a:solidFill>
              <a:srgbClr val="CBD5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900" dirty="0"/>
          </a:p>
        </p:txBody>
      </p:sp>
      <p:sp>
        <p:nvSpPr>
          <p:cNvPr id="31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96012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rgbClr val="0B7285">
                    <a:alpha val="22000"/>
                  </a:srgbClr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96596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CHAPTER 01 · SOFTWARE SYSTEMS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前端、后端与 API</a:t>
            </a:r>
            <a:endParaRPr lang="en-US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3154680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一体两面，以及连接两面的桥。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3886200"/>
            <a:ext cx="100584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01.1 · FRONTEND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前端：客户的操作页面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把系统状态变成用户可以理解和操作的体验。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3771900" cy="1234440"/>
          </a:xfrm>
          <a:prstGeom prst="roundRect">
            <a:avLst>
              <a:gd name="adj" fmla="val 5926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45920"/>
            <a:ext cx="64008" cy="123444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73936"/>
            <a:ext cx="34610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121408"/>
            <a:ext cx="3461004" cy="6675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按钮、表单、上传、搜索和自然语言指令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6300" y="1645920"/>
            <a:ext cx="3771900" cy="1234440"/>
          </a:xfrm>
          <a:prstGeom prst="roundRect">
            <a:avLst>
              <a:gd name="adj" fmla="val 5926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6300" y="1645920"/>
            <a:ext cx="64008" cy="123444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0892" y="1773936"/>
            <a:ext cx="34610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50892" y="2121408"/>
            <a:ext cx="3461004" cy="6675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加载中、成功、失败、空数据和权限不足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108960"/>
            <a:ext cx="3771900" cy="1234440"/>
          </a:xfrm>
          <a:prstGeom prst="roundRect">
            <a:avLst>
              <a:gd name="adj" fmla="val 5926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3108960"/>
            <a:ext cx="64008" cy="123444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236976"/>
            <a:ext cx="34610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" y="3584448"/>
            <a:ext cx="3461004" cy="6675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让用户知道系统做了什么、正在做什么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86300" y="3108960"/>
            <a:ext cx="3771900" cy="1234440"/>
          </a:xfrm>
          <a:prstGeom prst="roundRect">
            <a:avLst>
              <a:gd name="adj" fmla="val 5926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6300" y="3108960"/>
            <a:ext cx="64008" cy="123444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0892" y="3236976"/>
            <a:ext cx="34610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50892" y="3584448"/>
            <a:ext cx="3461004" cy="6675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前端负责交互与呈现，不负责最终可信性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01.2 · BACKEND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后端：</a:t>
            </a:r>
            <a:r>
              <a:rPr lang="zh-CN" alt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运算，逻辑，与</a:t>
            </a:r>
            <a:r>
              <a:rPr lang="zh-CN" alt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处理</a:t>
            </a:r>
            <a:endParaRPr lang="zh-CN" altLang="en-US" sz="2800" b="1" kern="0" spc="120" dirty="0">
              <a:solidFill>
                <a:srgbClr val="17212B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后端负责数据、权限、计算和业务逻辑，是系统真正做事的部分。</a:t>
            </a:r>
            <a:endParaRPr lang="en-US" sz="12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960120" y="1600200"/>
            <a:ext cx="7223760" cy="475488"/>
          </a:xfrm>
          <a:prstGeom prst="roundRect">
            <a:avLst>
              <a:gd name="adj" fmla="val 15385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960120" y="1600200"/>
            <a:ext cx="64008" cy="47548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1124712" y="1728216"/>
            <a:ext cx="69128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</a:t>
            </a:r>
            <a:endParaRPr lang="en-US" sz="1500" dirty="0"/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960120" y="2258568"/>
            <a:ext cx="7223760" cy="475488"/>
          </a:xfrm>
          <a:prstGeom prst="roundRect">
            <a:avLst>
              <a:gd name="adj" fmla="val 15385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960120" y="2258568"/>
            <a:ext cx="64008" cy="47548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1124712" y="2386584"/>
            <a:ext cx="69128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业务逻辑</a:t>
            </a:r>
            <a:endParaRPr lang="en-US" sz="1500" dirty="0"/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960120" y="2916936"/>
            <a:ext cx="7223760" cy="475488"/>
          </a:xfrm>
          <a:prstGeom prst="roundRect">
            <a:avLst>
              <a:gd name="adj" fmla="val 15385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8"/>
            </p:custDataLst>
          </p:nvPr>
        </p:nvSpPr>
        <p:spPr>
          <a:xfrm>
            <a:off x="960120" y="2916936"/>
            <a:ext cx="64008" cy="47548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1124712" y="3044952"/>
            <a:ext cx="69128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</a:t>
            </a:r>
            <a:endParaRPr lang="en-US" sz="1500" dirty="0"/>
          </a:p>
        </p:txBody>
      </p:sp>
      <p:sp>
        <p:nvSpPr>
          <p:cNvPr id="17" name="Shape 15"/>
          <p:cNvSpPr/>
          <p:nvPr>
            <p:custDataLst>
              <p:tags r:id="rId10"/>
            </p:custDataLst>
          </p:nvPr>
        </p:nvSpPr>
        <p:spPr>
          <a:xfrm>
            <a:off x="960120" y="3575304"/>
            <a:ext cx="7223760" cy="475488"/>
          </a:xfrm>
          <a:prstGeom prst="roundRect">
            <a:avLst>
              <a:gd name="adj" fmla="val 15385"/>
            </a:avLst>
          </a:prstGeom>
          <a:solidFill>
            <a:srgbClr val="F5F7F8"/>
          </a:solidFill>
          <a:ln w="15240">
            <a:solidFill>
              <a:srgbClr val="66717A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11"/>
            </p:custDataLst>
          </p:nvPr>
        </p:nvSpPr>
        <p:spPr>
          <a:xfrm>
            <a:off x="960120" y="3575304"/>
            <a:ext cx="64008" cy="475488"/>
          </a:xfrm>
          <a:prstGeom prst="rect">
            <a:avLst/>
          </a:prstGeom>
          <a:solidFill>
            <a:srgbClr val="66717A"/>
          </a:solidFill>
          <a:ln w="12700">
            <a:solidFill>
              <a:srgbClr val="66717A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1124712" y="3703320"/>
            <a:ext cx="69128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</a:t>
            </a:r>
            <a:endParaRPr lang="zh-CN" altLang="en-US" sz="1500" b="1" dirty="0">
              <a:solidFill>
                <a:srgbClr val="6671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01.3 · API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API：前端与后端之间的契约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明确请求、处理、响应和错误，让不同模块可以独立演化。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2438400" cy="1417320"/>
          </a:xfrm>
          <a:prstGeom prst="roundRect">
            <a:avLst>
              <a:gd name="adj" fmla="val 5161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37360"/>
            <a:ext cx="64008" cy="14173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65376"/>
            <a:ext cx="21275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 Request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212848"/>
            <a:ext cx="2127504" cy="8503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谁在调用？传入什么数据？需要什么权限？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2800" y="1737360"/>
            <a:ext cx="2438400" cy="1417320"/>
          </a:xfrm>
          <a:prstGeom prst="roundRect">
            <a:avLst>
              <a:gd name="adj" fmla="val 5161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2800" y="1737360"/>
            <a:ext cx="64008" cy="14173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7392" y="1865376"/>
            <a:ext cx="21275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 Process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17392" y="2212848"/>
            <a:ext cx="2127504" cy="8503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执行校验、规则、数据库操作或模型推理。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19800" y="1737360"/>
            <a:ext cx="2438400" cy="1417320"/>
          </a:xfrm>
          <a:prstGeom prst="roundRect">
            <a:avLst>
              <a:gd name="adj" fmla="val 5161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19800" y="1737360"/>
            <a:ext cx="64008" cy="14173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4392" y="1865376"/>
            <a:ext cx="21275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响应 Response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84392" y="2212848"/>
            <a:ext cx="2127504" cy="8503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返回结果、状态码、错误原因和下一步行动。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370332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2E2"/>
          </a:solidFill>
          <a:ln w="15240">
            <a:solidFill>
              <a:srgbClr val="F28C28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97280" y="3703320"/>
            <a:ext cx="64008" cy="6858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3831336"/>
            <a:ext cx="663854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好的 API 让复杂系统可以被组合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61872" y="4178808"/>
            <a:ext cx="6638544" cy="1188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清晰、稳定、可版本化、可测试、可记录。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900" dirty="0"/>
          </a:p>
        </p:txBody>
      </p:sp>
      <p:sp>
        <p:nvSpPr>
          <p:cNvPr id="23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96012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rgbClr val="0B7285">
                    <a:alpha val="22000"/>
                  </a:srgbClr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96596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CHAPTER 02 · FULL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Vibe Coding 时代的全栈工程师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43000" y="3154680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从意图到代码，从代码到系统，从系统到可验证结果。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3886200"/>
            <a:ext cx="100584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FULL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全栈不只是“都会一点”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而是能把意图、系统和验证闭环起来。</a:t>
            </a:r>
            <a:endParaRPr lang="en-US" sz="12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2103120" y="2423160"/>
            <a:ext cx="521208" cy="0"/>
          </a:xfrm>
          <a:prstGeom prst="line">
            <a:avLst/>
          </a:prstGeom>
          <a:noFill/>
          <a:ln w="15240">
            <a:solidFill>
              <a:srgbClr val="CBD5D8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640080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640080" y="1828800"/>
            <a:ext cx="64008" cy="11887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804672" y="1956816"/>
            <a:ext cx="115214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</a:t>
            </a:r>
            <a:endParaRPr lang="zh-CN" altLang="en-US" sz="1500" b="1" dirty="0">
              <a:solidFill>
                <a:srgbClr val="0B72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804672" y="2304288"/>
            <a:ext cx="1152144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把需求解构，设计整体程序</a:t>
            </a:r>
            <a:r>
              <a:rPr lang="zh-CN" altLang="en-US" sz="10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</a:t>
            </a:r>
            <a:endParaRPr lang="zh-CN" altLang="en-US" sz="1000" dirty="0">
              <a:solidFill>
                <a:srgbClr val="1721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4160520" y="2423160"/>
            <a:ext cx="521208" cy="0"/>
          </a:xfrm>
          <a:prstGeom prst="line">
            <a:avLst/>
          </a:prstGeom>
          <a:noFill/>
          <a:ln w="15240">
            <a:solidFill>
              <a:srgbClr val="CBD5D8"/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2697480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2E2"/>
          </a:solidFill>
          <a:ln w="15240">
            <a:solidFill>
              <a:srgbClr val="F28C28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2697480" y="1828800"/>
            <a:ext cx="64008" cy="1188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2862072" y="1956816"/>
            <a:ext cx="115214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</a:t>
            </a:r>
            <a:endParaRPr lang="en-US" sz="150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2862072" y="2304288"/>
            <a:ext cx="1152144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制作</a:t>
            </a:r>
            <a:r>
              <a:rPr lang="en-US" sz="10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</a:t>
            </a:r>
            <a:r>
              <a:rPr lang="zh-CN" altLang="en-US" sz="10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，完成</a:t>
            </a:r>
            <a:r>
              <a:rPr lang="zh-CN" altLang="en-US" sz="10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模块化</a:t>
            </a:r>
            <a:endParaRPr lang="zh-CN" altLang="en-US" sz="1000" dirty="0">
              <a:solidFill>
                <a:srgbClr val="1721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6217920" y="2423160"/>
            <a:ext cx="521208" cy="0"/>
          </a:xfrm>
          <a:prstGeom prst="line">
            <a:avLst/>
          </a:prstGeom>
          <a:noFill/>
          <a:ln w="15240">
            <a:solidFill>
              <a:srgbClr val="CBD5D8"/>
            </a:solidFill>
            <a:prstDash val="solid"/>
          </a:ln>
        </p:spPr>
      </p:sp>
      <p:sp>
        <p:nvSpPr>
          <p:cNvPr id="16" name="Shape 14"/>
          <p:cNvSpPr/>
          <p:nvPr>
            <p:custDataLst>
              <p:tags r:id="rId12"/>
            </p:custDataLst>
          </p:nvPr>
        </p:nvSpPr>
        <p:spPr>
          <a:xfrm>
            <a:off x="4754880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4754880" y="1828800"/>
            <a:ext cx="64008" cy="11887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4919472" y="1956816"/>
            <a:ext cx="115214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</a:t>
            </a:r>
            <a:endParaRPr lang="en-US" sz="1500" dirty="0"/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4919472" y="2304288"/>
            <a:ext cx="1152144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让模块彼此协作</a:t>
            </a:r>
            <a:endParaRPr lang="en-US" sz="1000" dirty="0"/>
          </a:p>
        </p:txBody>
      </p:sp>
      <p:sp>
        <p:nvSpPr>
          <p:cNvPr id="20" name="Shape 18"/>
          <p:cNvSpPr/>
          <p:nvPr>
            <p:custDataLst>
              <p:tags r:id="rId16"/>
            </p:custDataLst>
          </p:nvPr>
        </p:nvSpPr>
        <p:spPr>
          <a:xfrm>
            <a:off x="6812280" y="18288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6812280" y="1828800"/>
            <a:ext cx="64008" cy="11887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6976872" y="1956816"/>
            <a:ext cx="115214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</a:t>
            </a:r>
            <a:endParaRPr lang="en-US" sz="1500" dirty="0"/>
          </a:p>
        </p:txBody>
      </p:sp>
      <p:sp>
        <p:nvSpPr>
          <p:cNvPr id="23" name="Text 21"/>
          <p:cNvSpPr/>
          <p:nvPr>
            <p:custDataLst>
              <p:tags r:id="rId19"/>
            </p:custDataLst>
          </p:nvPr>
        </p:nvSpPr>
        <p:spPr>
          <a:xfrm>
            <a:off x="6976872" y="2304288"/>
            <a:ext cx="1152144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让系统经得起运行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900" dirty="0"/>
          </a:p>
        </p:txBody>
      </p:sp>
      <p:sp>
        <p:nvSpPr>
          <p:cNvPr id="28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FULL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全栈</a:t>
            </a:r>
            <a:r>
              <a:rPr lang="zh-CN" alt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的边界在</a:t>
            </a:r>
            <a:r>
              <a:rPr lang="zh-CN" alt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哪里？</a:t>
            </a:r>
            <a:endParaRPr lang="zh-CN" altLang="en-US" sz="2800" b="1" kern="0" spc="120" dirty="0">
              <a:solidFill>
                <a:srgbClr val="17212B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</a:t>
            </a: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在传统计算机领域</a:t>
            </a: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的能力</a:t>
            </a: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</a:t>
            </a:r>
            <a:endParaRPr lang="zh-CN" altLang="en-US" sz="1200" dirty="0">
              <a:solidFill>
                <a:srgbClr val="6671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Shape 3"/>
          <p:cNvSpPr/>
          <p:nvPr>
            <p:custDataLst>
              <p:tags r:id="rId1"/>
            </p:custDataLst>
          </p:nvPr>
        </p:nvSpPr>
        <p:spPr>
          <a:xfrm>
            <a:off x="960120" y="1600200"/>
            <a:ext cx="7223760" cy="475488"/>
          </a:xfrm>
          <a:prstGeom prst="roundRect">
            <a:avLst>
              <a:gd name="adj" fmla="val 15385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960120" y="1600200"/>
            <a:ext cx="64008" cy="47548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1124712" y="1728216"/>
            <a:ext cx="69128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纯粹逻辑</a:t>
            </a: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推理</a:t>
            </a:r>
            <a:endParaRPr lang="zh-CN" altLang="en-US" sz="1500" b="1" dirty="0">
              <a:solidFill>
                <a:srgbClr val="0B72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960120" y="2258568"/>
            <a:ext cx="7223760" cy="475488"/>
          </a:xfrm>
          <a:prstGeom prst="roundRect">
            <a:avLst>
              <a:gd name="adj" fmla="val 15385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960120" y="2258568"/>
            <a:ext cx="64008" cy="47548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1124712" y="2386584"/>
            <a:ext cx="69128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算法优化与时间</a:t>
            </a: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复杂度</a:t>
            </a:r>
            <a:endParaRPr lang="zh-CN" altLang="en-US" sz="1500" b="1" dirty="0">
              <a:solidFill>
                <a:srgbClr val="0B72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960120" y="2916936"/>
            <a:ext cx="7223760" cy="475488"/>
          </a:xfrm>
          <a:prstGeom prst="roundRect">
            <a:avLst>
              <a:gd name="adj" fmla="val 15385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8"/>
            </p:custDataLst>
          </p:nvPr>
        </p:nvSpPr>
        <p:spPr>
          <a:xfrm>
            <a:off x="960120" y="2916936"/>
            <a:ext cx="64008" cy="47548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1124712" y="3044952"/>
            <a:ext cx="69128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图灵</a:t>
            </a: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机问题的</a:t>
            </a: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程序化</a:t>
            </a:r>
            <a:endParaRPr lang="zh-CN" altLang="en-US" sz="1500" b="1" dirty="0">
              <a:solidFill>
                <a:srgbClr val="0B72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>
            <p:custDataLst>
              <p:tags r:id="rId10"/>
            </p:custDataLst>
          </p:nvPr>
        </p:nvSpPr>
        <p:spPr>
          <a:xfrm>
            <a:off x="960120" y="3575304"/>
            <a:ext cx="7223760" cy="475488"/>
          </a:xfrm>
          <a:prstGeom prst="roundRect">
            <a:avLst>
              <a:gd name="adj" fmla="val 15385"/>
            </a:avLst>
          </a:prstGeom>
          <a:solidFill>
            <a:srgbClr val="F5F7F8"/>
          </a:solidFill>
          <a:ln w="15240">
            <a:solidFill>
              <a:srgbClr val="66717A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8" name="Shape 16"/>
          <p:cNvSpPr/>
          <p:nvPr>
            <p:custDataLst>
              <p:tags r:id="rId11"/>
            </p:custDataLst>
          </p:nvPr>
        </p:nvSpPr>
        <p:spPr>
          <a:xfrm>
            <a:off x="960120" y="3575304"/>
            <a:ext cx="64008" cy="475488"/>
          </a:xfrm>
          <a:prstGeom prst="rect">
            <a:avLst/>
          </a:prstGeom>
          <a:solidFill>
            <a:srgbClr val="66717A"/>
          </a:solidFill>
          <a:ln w="12700">
            <a:solidFill>
              <a:srgbClr val="66717A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1124712" y="3703320"/>
            <a:ext cx="69128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但我不能把一个生物学问题直接转化成计算机</a:t>
            </a:r>
            <a:r>
              <a:rPr lang="zh-CN" altLang="en-US" sz="1500" b="1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</a:t>
            </a:r>
            <a:endParaRPr lang="zh-CN" altLang="en-US" sz="1500" b="1" dirty="0">
              <a:solidFill>
                <a:srgbClr val="6671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· FULL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生物学问题在传统计算机视角下</a:t>
            </a:r>
            <a:r>
              <a:rPr lang="zh-CN" alt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是什么？</a:t>
            </a:r>
            <a:endParaRPr lang="zh-CN" altLang="en-US" sz="2800" b="1" kern="0" spc="120" dirty="0">
              <a:solidFill>
                <a:srgbClr val="17212B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纯粹的</a:t>
            </a: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</a:t>
            </a:r>
            <a:endParaRPr lang="zh-CN" altLang="en-US" sz="1200" dirty="0">
              <a:solidFill>
                <a:srgbClr val="6671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Shape 3"/>
          <p:cNvSpPr/>
          <p:nvPr>
            <p:custDataLst>
              <p:tags r:id="rId1"/>
            </p:custDataLst>
          </p:nvPr>
        </p:nvSpPr>
        <p:spPr>
          <a:xfrm>
            <a:off x="960120" y="1600200"/>
            <a:ext cx="7223760" cy="475488"/>
          </a:xfrm>
          <a:prstGeom prst="roundRect">
            <a:avLst>
              <a:gd name="adj" fmla="val 15385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960120" y="1600200"/>
            <a:ext cx="64008" cy="47548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1124712" y="1728216"/>
            <a:ext cx="69128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庞大的</a:t>
            </a: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数据量</a:t>
            </a:r>
            <a:endParaRPr lang="zh-CN" altLang="en-US" sz="1500" b="1" dirty="0">
              <a:solidFill>
                <a:srgbClr val="0B72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960120" y="2258568"/>
            <a:ext cx="7223760" cy="475488"/>
          </a:xfrm>
          <a:prstGeom prst="roundRect">
            <a:avLst>
              <a:gd name="adj" fmla="val 15385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960120" y="2258568"/>
            <a:ext cx="64008" cy="47548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1124712" y="2386584"/>
            <a:ext cx="69128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极高的算法</a:t>
            </a: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复杂度</a:t>
            </a:r>
            <a:endParaRPr lang="zh-CN" altLang="en-US" sz="1500" b="1" dirty="0">
              <a:solidFill>
                <a:srgbClr val="0B72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960120" y="2916936"/>
            <a:ext cx="7223760" cy="475488"/>
          </a:xfrm>
          <a:prstGeom prst="roundRect">
            <a:avLst>
              <a:gd name="adj" fmla="val 15385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8"/>
            </p:custDataLst>
          </p:nvPr>
        </p:nvSpPr>
        <p:spPr>
          <a:xfrm>
            <a:off x="960120" y="2916936"/>
            <a:ext cx="64008" cy="47548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1124712" y="3044952"/>
            <a:ext cx="69128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巨大的模拟</a:t>
            </a: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量</a:t>
            </a:r>
            <a:endParaRPr lang="zh-CN" altLang="en-US" sz="1500" b="1" dirty="0">
              <a:solidFill>
                <a:srgbClr val="0B72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>
            <p:custDataLst>
              <p:tags r:id="rId10"/>
            </p:custDataLst>
          </p:nvPr>
        </p:nvSpPr>
        <p:spPr>
          <a:xfrm>
            <a:off x="960120" y="3575304"/>
            <a:ext cx="7223760" cy="475488"/>
          </a:xfrm>
          <a:prstGeom prst="roundRect">
            <a:avLst>
              <a:gd name="adj" fmla="val 15385"/>
            </a:avLst>
          </a:prstGeom>
          <a:solidFill>
            <a:srgbClr val="F5F7F8"/>
          </a:solidFill>
          <a:ln w="15240">
            <a:solidFill>
              <a:srgbClr val="66717A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8" name="Shape 16"/>
          <p:cNvSpPr/>
          <p:nvPr>
            <p:custDataLst>
              <p:tags r:id="rId11"/>
            </p:custDataLst>
          </p:nvPr>
        </p:nvSpPr>
        <p:spPr>
          <a:xfrm>
            <a:off x="960120" y="3575304"/>
            <a:ext cx="64008" cy="475488"/>
          </a:xfrm>
          <a:prstGeom prst="rect">
            <a:avLst/>
          </a:prstGeom>
          <a:solidFill>
            <a:srgbClr val="66717A"/>
          </a:solidFill>
          <a:ln w="12700">
            <a:solidFill>
              <a:srgbClr val="66717A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1124712" y="3703320"/>
            <a:ext cx="69128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几乎锁死一切发展可能的内存处理</a:t>
            </a:r>
            <a:r>
              <a:rPr lang="zh-CN" altLang="en-US" sz="1500" b="1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</a:t>
            </a:r>
            <a:endParaRPr lang="zh-CN" altLang="en-US" sz="1500" b="1" dirty="0">
              <a:solidFill>
                <a:srgbClr val="6671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96012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rgbClr val="0B7285">
                    <a:alpha val="22000"/>
                  </a:srgbClr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96596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CHAPTER 03 · MODELS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算法、模拟与大模型推理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43000" y="3154680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规则、状态与演化：把复杂过程变成可计算对象。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3886200"/>
            <a:ext cx="100584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MODELS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引入</a:t>
            </a:r>
            <a:endParaRPr lang="zh-CN" altLang="en-US" sz="2800" b="1" kern="0" spc="120" dirty="0">
              <a:solidFill>
                <a:srgbClr val="17212B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来看这样一个</a:t>
            </a: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实际问题</a:t>
            </a:r>
            <a:endParaRPr lang="zh-CN" altLang="en-US" sz="1200" dirty="0">
              <a:solidFill>
                <a:srgbClr val="6671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1433195"/>
            <a:ext cx="7861300" cy="3522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题目描述</a:t>
            </a:r>
            <a:endParaRPr lang="zh-CN" altLang="en-US"/>
          </a:p>
          <a:p>
            <a:r>
              <a:rPr lang="zh-CN" altLang="en-US"/>
              <a:t>在一个圆形操场的四周摆放</a:t>
            </a:r>
            <a:r>
              <a:rPr lang="en-US" altLang="zh-CN"/>
              <a:t> N </a:t>
            </a:r>
            <a:r>
              <a:rPr lang="zh-CN" altLang="en-US"/>
              <a:t>堆石子，现要将石子有次序地合并成一堆，规定每次只能选相邻的</a:t>
            </a:r>
            <a:r>
              <a:rPr lang="en-US" altLang="zh-CN"/>
              <a:t> 2 </a:t>
            </a:r>
            <a:r>
              <a:rPr lang="zh-CN" altLang="en-US"/>
              <a:t>堆合并成新的一堆，并将新的一堆的石子数，记为该次合并的得分。</a:t>
            </a:r>
            <a:endParaRPr lang="en-US" altLang="zh-CN"/>
          </a:p>
          <a:p>
            <a:r>
              <a:rPr lang="zh-CN" altLang="en-US"/>
              <a:t>试计算将</a:t>
            </a:r>
            <a:r>
              <a:rPr lang="en-US" altLang="zh-CN"/>
              <a:t> N </a:t>
            </a:r>
            <a:r>
              <a:rPr lang="zh-CN" altLang="en-US"/>
              <a:t>堆石子合并成</a:t>
            </a:r>
            <a:r>
              <a:rPr lang="en-US" altLang="zh-CN"/>
              <a:t> 1 </a:t>
            </a:r>
            <a:r>
              <a:rPr lang="zh-CN" altLang="en-US"/>
              <a:t>堆的最小得分和最大得分。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 sz="3200"/>
          </a:p>
          <a:p>
            <a:r>
              <a:rPr lang="zh-CN" altLang="en-US" sz="3200"/>
              <a:t>数学化建模</a:t>
            </a:r>
            <a:r>
              <a:rPr lang="zh-CN" altLang="en-US" sz="3200"/>
              <a:t>或完全化模拟</a:t>
            </a:r>
            <a:endParaRPr lang="zh-CN" altLang="en-US"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· MODELS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算法与模拟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算法是可重复执行的规则；模拟是让规则在状态空间中展开。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86200" y="228600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86200" y="2286000"/>
            <a:ext cx="64008" cy="86868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50792" y="2414016"/>
            <a:ext cx="10607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50792" y="2761488"/>
            <a:ext cx="1060704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系统此刻是什么样？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54480" y="132588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554480" y="1325880"/>
            <a:ext cx="64008" cy="86868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19072" y="1453896"/>
            <a:ext cx="92354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19072" y="1801368"/>
            <a:ext cx="923544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初始条件与数据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20840" y="132588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FFF2E2"/>
          </a:solidFill>
          <a:ln w="15240">
            <a:solidFill>
              <a:srgbClr val="F28C28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20840" y="1325880"/>
            <a:ext cx="64008" cy="8686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85432" y="1453896"/>
            <a:ext cx="92354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85432" y="1801368"/>
            <a:ext cx="923544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如何从一步走到下一步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554480" y="352044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F5F7F8"/>
          </a:solidFill>
          <a:ln w="15240">
            <a:solidFill>
              <a:srgbClr val="66717A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554480" y="3520440"/>
            <a:ext cx="64008" cy="868680"/>
          </a:xfrm>
          <a:prstGeom prst="rect">
            <a:avLst/>
          </a:prstGeom>
          <a:solidFill>
            <a:srgbClr val="66717A"/>
          </a:solidFill>
          <a:ln w="12700">
            <a:solidFill>
              <a:srgbClr val="6671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19072" y="3648456"/>
            <a:ext cx="92354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719072" y="3995928"/>
            <a:ext cx="923544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状态如何演化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20840" y="352044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E8F4F5"/>
          </a:solidFill>
          <a:ln w="15240">
            <a:solidFill>
              <a:srgbClr val="3AAFA9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0840" y="3520440"/>
            <a:ext cx="64008" cy="868680"/>
          </a:xfrm>
          <a:prstGeom prst="rect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3648456"/>
            <a:ext cx="92354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3AAFA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5432" y="3995928"/>
            <a:ext cx="923544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观察指标与结果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17320" y="4526280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一次模拟 = 初始条件 + 演化规则 + 观察指标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900" dirty="0"/>
          </a:p>
        </p:txBody>
      </p:sp>
      <p:sp>
        <p:nvSpPr>
          <p:cNvPr id="28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76070" y="1710055"/>
            <a:ext cx="62699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 b="1"/>
              <a:t>包括人工智能在内</a:t>
            </a:r>
            <a:endParaRPr lang="zh-CN" altLang="en-US" sz="3200" b="1"/>
          </a:p>
          <a:p>
            <a:pPr algn="ctr"/>
            <a:r>
              <a:rPr lang="zh-CN" altLang="en-US" sz="3200" b="1"/>
              <a:t>所有的计算机任务都是为了模拟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03 · MODELS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生物学家们是怎么结合计算机研究生物学</a:t>
            </a:r>
            <a:r>
              <a:rPr lang="zh-CN" alt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问题的？</a:t>
            </a:r>
            <a:endParaRPr lang="zh-CN" altLang="en-US" sz="2800" b="1" kern="0" spc="120" dirty="0">
              <a:solidFill>
                <a:srgbClr val="17212B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似曾相识的</a:t>
            </a: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感觉</a:t>
            </a:r>
            <a:endParaRPr lang="zh-CN" altLang="en-US" sz="1200" dirty="0">
              <a:solidFill>
                <a:srgbClr val="6671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Shape 3"/>
          <p:cNvSpPr/>
          <p:nvPr>
            <p:custDataLst>
              <p:tags r:id="rId1"/>
            </p:custDataLst>
          </p:nvPr>
        </p:nvSpPr>
        <p:spPr>
          <a:xfrm>
            <a:off x="960120" y="1600200"/>
            <a:ext cx="7223760" cy="475488"/>
          </a:xfrm>
          <a:prstGeom prst="roundRect">
            <a:avLst>
              <a:gd name="adj" fmla="val 15385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960120" y="1600200"/>
            <a:ext cx="64008" cy="47548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1124712" y="1728216"/>
            <a:ext cx="69128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数学化</a:t>
            </a: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建模</a:t>
            </a:r>
            <a:endParaRPr lang="zh-CN" altLang="en-US" sz="1500" b="1" dirty="0">
              <a:solidFill>
                <a:srgbClr val="0B72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960120" y="2258568"/>
            <a:ext cx="7223760" cy="475488"/>
          </a:xfrm>
          <a:prstGeom prst="roundRect">
            <a:avLst>
              <a:gd name="adj" fmla="val 15385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960120" y="2258568"/>
            <a:ext cx="64008" cy="47548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1124712" y="2386584"/>
            <a:ext cx="69128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完全化</a:t>
            </a: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</a:t>
            </a:r>
            <a:endParaRPr lang="zh-CN" altLang="en-US" sz="1500" b="1" dirty="0">
              <a:solidFill>
                <a:srgbClr val="0B72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76070" y="1710055"/>
            <a:ext cx="62699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 b="1"/>
              <a:t>而</a:t>
            </a:r>
            <a:r>
              <a:rPr lang="en-US" altLang="zh-CN" sz="3200" b="1"/>
              <a:t>LLM</a:t>
            </a:r>
            <a:r>
              <a:rPr lang="zh-CN" altLang="en-US" sz="3200" b="1"/>
              <a:t>，是最高级的</a:t>
            </a:r>
            <a:r>
              <a:rPr lang="zh-CN" altLang="en-US" sz="3200" b="1"/>
              <a:t>模拟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03 · MODELS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大模型</a:t>
            </a:r>
            <a:r>
              <a:rPr lang="zh-CN" alt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推理</a:t>
            </a:r>
            <a:endParaRPr lang="zh-CN" altLang="en-US" sz="2800" b="1" kern="0" spc="120" dirty="0">
              <a:solidFill>
                <a:srgbClr val="17212B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模拟的</a:t>
            </a: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终极形态</a:t>
            </a:r>
            <a:endParaRPr lang="zh-CN" altLang="en-US" sz="1200" dirty="0">
              <a:solidFill>
                <a:srgbClr val="6671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1433195"/>
            <a:ext cx="7861300" cy="3522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大模型推理，是模拟的最终形态，通过完全解析每一个状态，完全模拟已有语境，并预测新的</a:t>
            </a:r>
            <a:r>
              <a:rPr lang="zh-CN" altLang="en-US"/>
              <a:t>语境。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我们发现，</a:t>
            </a:r>
            <a:r>
              <a:rPr lang="en-US" altLang="zh-CN"/>
              <a:t>LLM</a:t>
            </a:r>
            <a:r>
              <a:rPr lang="zh-CN" altLang="en-US"/>
              <a:t>真正的能力是后端中的模拟，希望完全由他完成整个生物科研是不现实的，一方面，他缺失了前端和传统后端的模拟支撑模块，另一方面，他会陷入传统计算机视角的</a:t>
            </a:r>
            <a:r>
              <a:rPr lang="zh-CN" altLang="en-US"/>
              <a:t>旧有问题。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但，传统计算机并不只有完全化模拟和数学化建模两条路径！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03 · MODELS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动态规划</a:t>
            </a:r>
            <a:endParaRPr lang="zh-CN" altLang="en-US" sz="2800" b="1" kern="0" spc="120" dirty="0">
              <a:solidFill>
                <a:srgbClr val="17212B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生物学家不曾重视的一个</a:t>
            </a: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</a:t>
            </a:r>
            <a:endParaRPr lang="zh-CN" altLang="en-US" sz="1200" dirty="0">
              <a:solidFill>
                <a:srgbClr val="6671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Shape 3"/>
          <p:cNvSpPr/>
          <p:nvPr>
            <p:custDataLst>
              <p:tags r:id="rId1"/>
            </p:custDataLst>
          </p:nvPr>
        </p:nvSpPr>
        <p:spPr>
          <a:xfrm>
            <a:off x="960120" y="1600200"/>
            <a:ext cx="7223760" cy="475488"/>
          </a:xfrm>
          <a:prstGeom prst="roundRect">
            <a:avLst>
              <a:gd name="adj" fmla="val 15385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960120" y="1600200"/>
            <a:ext cx="64008" cy="47548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1124712" y="1728216"/>
            <a:ext cx="69128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在模拟的前提下数学化建模，这是动态规划的</a:t>
            </a: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底层逻辑</a:t>
            </a:r>
            <a:endParaRPr lang="zh-CN" altLang="en-US" sz="1500" b="1" dirty="0">
              <a:solidFill>
                <a:srgbClr val="0B72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960120" y="2258568"/>
            <a:ext cx="7223760" cy="475488"/>
          </a:xfrm>
          <a:prstGeom prst="roundRect">
            <a:avLst>
              <a:gd name="adj" fmla="val 15385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960120" y="2258568"/>
            <a:ext cx="64008" cy="47548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1124712" y="2386584"/>
            <a:ext cx="69128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</a:t>
            </a:r>
            <a:r>
              <a:rPr lang="en-US" altLang="zh-CN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</a:t>
            </a: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的前提下嵌入不完全数学化模型，虚拟细胞真正的</a:t>
            </a:r>
            <a:r>
              <a:rPr lang="zh-CN" alt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出路</a:t>
            </a:r>
            <a:endParaRPr lang="zh-CN" altLang="en-US" sz="1500" b="1" dirty="0">
              <a:solidFill>
                <a:srgbClr val="0B728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96012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rgbClr val="0B7285">
                    <a:alpha val="22000"/>
                  </a:srgbClr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96596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CHAPTER 04 · LLM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大语言模型基础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43000" y="3154680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token 到向量，从概率分布到生成式模型。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3886200"/>
            <a:ext cx="100584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· LLM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大语言模型基础概念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把文本变成可计算的序列，再学习“什么更可能接在后面”。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64008" cy="11430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728216"/>
            <a:ext cx="115214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075688"/>
            <a:ext cx="1152144" cy="5760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句子、代码、论文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2176272"/>
            <a:ext cx="685800" cy="0"/>
          </a:xfrm>
          <a:prstGeom prst="line">
            <a:avLst/>
          </a:prstGeom>
          <a:noFill/>
          <a:ln w="15240">
            <a:solidFill>
              <a:srgbClr val="CBD5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60020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88920" y="1600200"/>
            <a:ext cx="64008" cy="11430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3512" y="1728216"/>
            <a:ext cx="115214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Token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53512" y="2075688"/>
            <a:ext cx="1152144" cy="5760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可处理的最小片段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51960" y="2176272"/>
            <a:ext cx="685800" cy="0"/>
          </a:xfrm>
          <a:prstGeom prst="line">
            <a:avLst/>
          </a:prstGeom>
          <a:noFill/>
          <a:ln w="15240">
            <a:solidFill>
              <a:srgbClr val="CBD5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60020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600200"/>
            <a:ext cx="64008" cy="11430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728216"/>
            <a:ext cx="115214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向量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02352" y="2075688"/>
            <a:ext cx="1152144" cy="5760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语义的几何表示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2176272"/>
            <a:ext cx="685800" cy="0"/>
          </a:xfrm>
          <a:prstGeom prst="line">
            <a:avLst/>
          </a:prstGeom>
          <a:noFill/>
          <a:ln w="15240">
            <a:solidFill>
              <a:srgbClr val="CBD5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86600" y="160020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FFF2E2"/>
          </a:solidFill>
          <a:ln w="15240">
            <a:solidFill>
              <a:srgbClr val="F28C28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86600" y="1600200"/>
            <a:ext cx="64008" cy="1143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51192" y="1728216"/>
            <a:ext cx="115214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51192" y="2075688"/>
            <a:ext cx="1152144" cy="5760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下一个 token 的分布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3246120"/>
            <a:ext cx="2438400" cy="1005840"/>
          </a:xfrm>
          <a:prstGeom prst="roundRect">
            <a:avLst>
              <a:gd name="adj" fmla="val 7273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3246120"/>
            <a:ext cx="64008" cy="100584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374136"/>
            <a:ext cx="21275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注意力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0392" y="3721608"/>
            <a:ext cx="2127504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 token 需要参考哪些上下文？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52800" y="3246120"/>
            <a:ext cx="2438400" cy="1005840"/>
          </a:xfrm>
          <a:prstGeom prst="roundRect">
            <a:avLst>
              <a:gd name="adj" fmla="val 7273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52800" y="3246120"/>
            <a:ext cx="64008" cy="100584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17392" y="3374136"/>
            <a:ext cx="21275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层叠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517392" y="3721608"/>
            <a:ext cx="2127504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把局部关系加工成更抽象的表示。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19800" y="3246120"/>
            <a:ext cx="2438400" cy="1005840"/>
          </a:xfrm>
          <a:prstGeom prst="roundRect">
            <a:avLst>
              <a:gd name="adj" fmla="val 7273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19800" y="3246120"/>
            <a:ext cx="64008" cy="100584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4392" y="3374136"/>
            <a:ext cx="21275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预训练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184392" y="3721608"/>
            <a:ext cx="2127504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先学习语言规律，再迁移到任务。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900" dirty="0"/>
          </a:p>
        </p:txBody>
      </p:sp>
      <p:sp>
        <p:nvSpPr>
          <p:cNvPr id="38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96012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rgbClr val="0B7285">
                    <a:alpha val="22000"/>
                  </a:srgbClr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96596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CHAPTER 05 · INFERENCE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大模型推理与不确定性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43000" y="3154680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模型如何从上下文走到答案，以及为什么需要验证。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3886200"/>
            <a:ext cx="100584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· INFERENCE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从模拟到</a:t>
            </a:r>
            <a:r>
              <a:rPr 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推理：模型如何从上下文走到答案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沿着概率空间逐步生成一条输出路径。</a:t>
            </a:r>
            <a:endParaRPr lang="en-US" sz="12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94360" y="17830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594360" y="1783080"/>
            <a:ext cx="64008" cy="100584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758952" y="1911096"/>
            <a:ext cx="101498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上下文</a:t>
            </a: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758952" y="2258568"/>
            <a:ext cx="1014984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问题、指令、已有信息</a:t>
            </a:r>
            <a:endParaRPr lang="en-US" sz="90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1920240" y="2286000"/>
            <a:ext cx="365760" cy="0"/>
          </a:xfrm>
          <a:prstGeom prst="line">
            <a:avLst/>
          </a:prstGeom>
          <a:noFill/>
          <a:ln w="15240">
            <a:solidFill>
              <a:srgbClr val="CBD5D8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2286000" y="17830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2286000" y="1783080"/>
            <a:ext cx="64008" cy="100584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2450592" y="1911096"/>
            <a:ext cx="101498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表示</a:t>
            </a:r>
            <a:endParaRPr lang="en-US" sz="150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2450592" y="2258568"/>
            <a:ext cx="1014984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压缩为高维向量关系</a:t>
            </a:r>
            <a:endParaRPr lang="en-US" sz="900" dirty="0"/>
          </a:p>
        </p:txBody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3611880" y="2286000"/>
            <a:ext cx="365760" cy="0"/>
          </a:xfrm>
          <a:prstGeom prst="line">
            <a:avLst/>
          </a:prstGeom>
          <a:noFill/>
          <a:ln w="15240">
            <a:solidFill>
              <a:srgbClr val="CBD5D8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3977640" y="17830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6" name="Shape 14"/>
          <p:cNvSpPr/>
          <p:nvPr>
            <p:custDataLst>
              <p:tags r:id="rId12"/>
            </p:custDataLst>
          </p:nvPr>
        </p:nvSpPr>
        <p:spPr>
          <a:xfrm>
            <a:off x="3977640" y="1783080"/>
            <a:ext cx="64008" cy="100584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3"/>
            </p:custDataLst>
          </p:nvPr>
        </p:nvSpPr>
        <p:spPr>
          <a:xfrm>
            <a:off x="4142232" y="1911096"/>
            <a:ext cx="101498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</a:t>
            </a:r>
            <a:endParaRPr lang="en-US" sz="1500" dirty="0"/>
          </a:p>
        </p:txBody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4142232" y="2258568"/>
            <a:ext cx="1014984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预测多个可能的下一步</a:t>
            </a:r>
            <a:endParaRPr lang="en-US" sz="900" dirty="0"/>
          </a:p>
        </p:txBody>
      </p:sp>
      <p:sp>
        <p:nvSpPr>
          <p:cNvPr id="19" name="Shape 17"/>
          <p:cNvSpPr/>
          <p:nvPr>
            <p:custDataLst>
              <p:tags r:id="rId15"/>
            </p:custDataLst>
          </p:nvPr>
        </p:nvSpPr>
        <p:spPr>
          <a:xfrm>
            <a:off x="5303520" y="2286000"/>
            <a:ext cx="365760" cy="0"/>
          </a:xfrm>
          <a:prstGeom prst="line">
            <a:avLst/>
          </a:prstGeom>
          <a:noFill/>
          <a:ln w="15240">
            <a:solidFill>
              <a:srgbClr val="CBD5D8"/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16"/>
            </p:custDataLst>
          </p:nvPr>
        </p:nvSpPr>
        <p:spPr>
          <a:xfrm>
            <a:off x="5669280" y="17830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2E2"/>
          </a:solidFill>
          <a:ln w="15240">
            <a:solidFill>
              <a:srgbClr val="F28C28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5669280" y="1783080"/>
            <a:ext cx="64008" cy="10058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5833872" y="1911096"/>
            <a:ext cx="101498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</a:t>
            </a:r>
            <a:endParaRPr lang="en-US" sz="1500" dirty="0"/>
          </a:p>
        </p:txBody>
      </p:sp>
      <p:sp>
        <p:nvSpPr>
          <p:cNvPr id="23" name="Text 21"/>
          <p:cNvSpPr/>
          <p:nvPr>
            <p:custDataLst>
              <p:tags r:id="rId19"/>
            </p:custDataLst>
          </p:nvPr>
        </p:nvSpPr>
        <p:spPr>
          <a:xfrm>
            <a:off x="5833872" y="2258568"/>
            <a:ext cx="1014984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按策略采样或取最高概率</a:t>
            </a:r>
            <a:endParaRPr lang="en-US" sz="900" dirty="0"/>
          </a:p>
        </p:txBody>
      </p:sp>
      <p:sp>
        <p:nvSpPr>
          <p:cNvPr id="24" name="Shape 22"/>
          <p:cNvSpPr/>
          <p:nvPr>
            <p:custDataLst>
              <p:tags r:id="rId20"/>
            </p:custDataLst>
          </p:nvPr>
        </p:nvSpPr>
        <p:spPr>
          <a:xfrm>
            <a:off x="6995160" y="2286000"/>
            <a:ext cx="365760" cy="0"/>
          </a:xfrm>
          <a:prstGeom prst="line">
            <a:avLst/>
          </a:prstGeom>
          <a:noFill/>
          <a:ln w="15240">
            <a:solidFill>
              <a:srgbClr val="CBD5D8"/>
            </a:solidFill>
            <a:prstDash val="solid"/>
          </a:ln>
        </p:spPr>
      </p:sp>
      <p:sp>
        <p:nvSpPr>
          <p:cNvPr id="25" name="Shape 23"/>
          <p:cNvSpPr/>
          <p:nvPr>
            <p:custDataLst>
              <p:tags r:id="rId21"/>
            </p:custDataLst>
          </p:nvPr>
        </p:nvSpPr>
        <p:spPr>
          <a:xfrm>
            <a:off x="7360920" y="17830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26" name="Shape 24"/>
          <p:cNvSpPr/>
          <p:nvPr>
            <p:custDataLst>
              <p:tags r:id="rId22"/>
            </p:custDataLst>
          </p:nvPr>
        </p:nvSpPr>
        <p:spPr>
          <a:xfrm>
            <a:off x="7360920" y="1783080"/>
            <a:ext cx="64008" cy="100584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7" name="Text 25"/>
          <p:cNvSpPr/>
          <p:nvPr>
            <p:custDataLst>
              <p:tags r:id="rId23"/>
            </p:custDataLst>
          </p:nvPr>
        </p:nvSpPr>
        <p:spPr>
          <a:xfrm>
            <a:off x="7525512" y="1911096"/>
            <a:ext cx="101498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</a:t>
            </a:r>
            <a:endParaRPr lang="en-US" sz="1500" dirty="0"/>
          </a:p>
        </p:txBody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7525512" y="2258568"/>
            <a:ext cx="1014984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重复直到形成完整回答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388620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推理质量 = 上下文质量 × 表示能力 × 生成策略 × 验证机制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900" dirty="0"/>
          </a:p>
        </p:txBody>
      </p:sp>
      <p:sp>
        <p:nvSpPr>
          <p:cNvPr id="32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05.2 · UNCERTAINTY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幻觉率与概率模型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“听起来合理”不等于“事实正确”；不确定性必须进入工作流。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2438400" cy="1325880"/>
          </a:xfrm>
          <a:prstGeom prst="roundRect">
            <a:avLst>
              <a:gd name="adj" fmla="val 5517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91640"/>
            <a:ext cx="64008" cy="132588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19656"/>
            <a:ext cx="21275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事实层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167128"/>
            <a:ext cx="2127504" cy="7589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可由来源、实验或数据库验证。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2800" y="1691640"/>
            <a:ext cx="2438400" cy="1325880"/>
          </a:xfrm>
          <a:prstGeom prst="roundRect">
            <a:avLst>
              <a:gd name="adj" fmla="val 5517"/>
            </a:avLst>
          </a:prstGeom>
          <a:solidFill>
            <a:srgbClr val="FFF2E2"/>
          </a:solidFill>
          <a:ln w="15240">
            <a:solidFill>
              <a:srgbClr val="F28C28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2800" y="1691640"/>
            <a:ext cx="64008" cy="13258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7392" y="1819656"/>
            <a:ext cx="21275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17392" y="2167128"/>
            <a:ext cx="2127504" cy="7589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对下一个 token 的概率分布。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19800" y="1691640"/>
            <a:ext cx="2438400" cy="1325880"/>
          </a:xfrm>
          <a:prstGeom prst="roundRect">
            <a:avLst>
              <a:gd name="adj" fmla="val 5517"/>
            </a:avLst>
          </a:prstGeom>
          <a:solidFill>
            <a:srgbClr val="F5F7F8"/>
          </a:solidFill>
          <a:ln w="15240">
            <a:solidFill>
              <a:srgbClr val="66717A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19800" y="1691640"/>
            <a:ext cx="64008" cy="1325880"/>
          </a:xfrm>
          <a:prstGeom prst="rect">
            <a:avLst/>
          </a:prstGeom>
          <a:solidFill>
            <a:srgbClr val="66717A"/>
          </a:solidFill>
          <a:ln w="12700">
            <a:solidFill>
              <a:srgbClr val="6671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4392" y="1819656"/>
            <a:ext cx="21275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行动层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84392" y="2167128"/>
            <a:ext cx="2127504" cy="7589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是否需要检索、实验或人工复核。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3566160"/>
            <a:ext cx="7132320" cy="777240"/>
          </a:xfrm>
          <a:prstGeom prst="roundRect">
            <a:avLst>
              <a:gd name="adj" fmla="val 9412"/>
            </a:avLst>
          </a:prstGeom>
          <a:solidFill>
            <a:srgbClr val="FFF2E2"/>
          </a:solidFill>
          <a:ln w="15240">
            <a:solidFill>
              <a:srgbClr val="F28C28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05840" y="3566160"/>
            <a:ext cx="64008" cy="7772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3694176"/>
            <a:ext cx="682142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幻觉率不是一个脱离任务的固定数字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70432" y="4041648"/>
            <a:ext cx="6821424" cy="210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它取决于问题类型、数据新鲜度、提示方式与评估标准。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900" dirty="0"/>
          </a:p>
        </p:txBody>
      </p:sp>
      <p:sp>
        <p:nvSpPr>
          <p:cNvPr id="23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96012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rgbClr val="0B7285">
                    <a:alpha val="22000"/>
                  </a:srgbClr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96596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CHAPTER 06 · BIOLOGY MODELING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生物学建模的数学化与模拟化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43000" y="3154680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这一页保留给你补充数学化、机制化与模拟化内容。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3886200"/>
            <a:ext cx="100584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· BIOLOGY MODELING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生物学建模的数学化与模拟化</a:t>
            </a:r>
            <a:r>
              <a:rPr lang="zh-CN" alt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方向</a:t>
            </a:r>
            <a:endParaRPr lang="zh-CN" altLang="en-US" sz="2800" b="1" kern="0" spc="120" dirty="0">
              <a:solidFill>
                <a:srgbClr val="17212B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我们的</a:t>
            </a: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</a:t>
            </a:r>
            <a:endParaRPr lang="zh-CN" altLang="en-US" sz="1200" dirty="0">
              <a:solidFill>
                <a:srgbClr val="6671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7200" y="1433195"/>
            <a:ext cx="7861300" cy="3522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在研究了近些年的虚拟细胞主流建模之后，我发现了一个问题，生物学家沉迷于完成数学建模之后用电脑模拟，或是不进行建模直接完全电脑模拟，要不然极大浪费计算机算力，要不然极大浪费计算机</a:t>
            </a:r>
            <a:r>
              <a:rPr lang="zh-CN" altLang="en-US"/>
              <a:t>空间。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这让我想起了在</a:t>
            </a:r>
            <a:r>
              <a:rPr lang="en-US" altLang="zh-CN"/>
              <a:t>LLM</a:t>
            </a:r>
            <a:r>
              <a:rPr lang="zh-CN" altLang="en-US"/>
              <a:t>出来之前的一个计算机前沿问题：我们能否完全模拟一个物理环境</a:t>
            </a:r>
            <a:r>
              <a:rPr lang="en-US" altLang="zh-CN"/>
              <a:t>/</a:t>
            </a:r>
            <a:r>
              <a:rPr lang="zh-CN" altLang="en-US"/>
              <a:t>化学环境。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这个问题已经拥有了诸多成果，并且实际应用到了大量游戏领域的开发中，但似乎没有人尝试引入这些成果来进行</a:t>
            </a:r>
            <a:r>
              <a:rPr lang="zh-CN" altLang="en-US"/>
              <a:t>科研辅助。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那我们为什么不做这个方向的开发呢？</a:t>
            </a:r>
            <a:endParaRPr lang="zh-CN" altLang="en-US"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· BIOLOGY MODELING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生物学建模的数学化与模拟化</a:t>
            </a:r>
            <a:r>
              <a:rPr lang="zh-CN" alt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方向</a:t>
            </a:r>
            <a:endParaRPr lang="zh-CN" altLang="en-US" sz="2800" b="1" kern="0" spc="120" dirty="0">
              <a:solidFill>
                <a:srgbClr val="17212B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我们的</a:t>
            </a: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</a:t>
            </a:r>
            <a:endParaRPr lang="zh-CN" altLang="en-US" sz="1200" dirty="0">
              <a:solidFill>
                <a:srgbClr val="6671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7200" y="1433195"/>
            <a:ext cx="7861300" cy="3522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我们大可以尝试这样一个</a:t>
            </a:r>
            <a:r>
              <a:rPr lang="zh-CN" altLang="en-US"/>
              <a:t>技术栈：</a:t>
            </a:r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96012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rgbClr val="0B7285">
                    <a:alpha val="22000"/>
                  </a:srgbClr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07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96596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CHAPTER 07 · CROSS-DISCIPLINARY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面向合成生物学的交叉研究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43000" y="3154680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上述的所有计算机问题，能在生物领域</a:t>
            </a:r>
            <a:r>
              <a:rPr lang="zh-CN" altLang="en-US" sz="16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做什么？</a:t>
            </a:r>
            <a:endParaRPr lang="zh-CN" altLang="en-US" sz="1600" dirty="0">
              <a:solidFill>
                <a:srgbClr val="6671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143000" y="3886200"/>
            <a:ext cx="100584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· CROSS-DISCIPLINARY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从数据到模型，再回到实验闭环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计算机基础、AI 基础和生物学问题在这里汇合。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3771900" cy="1051560"/>
          </a:xfrm>
          <a:prstGeom prst="roundRect">
            <a:avLst>
              <a:gd name="adj" fmla="val 6957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45920"/>
            <a:ext cx="64008" cy="105156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73936"/>
            <a:ext cx="34610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121408"/>
            <a:ext cx="3461004" cy="4846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组学、成像、实验记录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6300" y="1645920"/>
            <a:ext cx="3771900" cy="1051560"/>
          </a:xfrm>
          <a:prstGeom prst="roundRect">
            <a:avLst>
              <a:gd name="adj" fmla="val 6957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6300" y="1645920"/>
            <a:ext cx="64008" cy="105156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0892" y="1773936"/>
            <a:ext cx="34610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50892" y="2121408"/>
            <a:ext cx="3461004" cy="4846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状态表示、扰动预测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926080"/>
            <a:ext cx="3771900" cy="1051560"/>
          </a:xfrm>
          <a:prstGeom prst="roundRect">
            <a:avLst>
              <a:gd name="adj" fmla="val 6957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2926080"/>
            <a:ext cx="64008" cy="105156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054096"/>
            <a:ext cx="34610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" y="3401568"/>
            <a:ext cx="3461004" cy="4846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前端、后端、API、算力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86300" y="2926080"/>
            <a:ext cx="3771900" cy="1051560"/>
          </a:xfrm>
          <a:prstGeom prst="roundRect">
            <a:avLst>
              <a:gd name="adj" fmla="val 6957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6300" y="2926080"/>
            <a:ext cx="64008" cy="105156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0892" y="3054096"/>
            <a:ext cx="34610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50892" y="3401568"/>
            <a:ext cx="3461004" cy="4846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实验闭环、指标、复现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43000" y="4005072"/>
            <a:ext cx="6858000" cy="749808"/>
          </a:xfrm>
          <a:prstGeom prst="roundRect">
            <a:avLst>
              <a:gd name="adj" fmla="val 9756"/>
            </a:avLst>
          </a:prstGeom>
          <a:solidFill>
            <a:srgbClr val="FFF2E2"/>
          </a:solidFill>
          <a:ln w="15240">
            <a:solidFill>
              <a:srgbClr val="F28C28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143000" y="4005072"/>
            <a:ext cx="64008" cy="7498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07592" y="4133088"/>
            <a:ext cx="65471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交叉研究主线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07592" y="4480560"/>
            <a:ext cx="6547104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 → 数据 → 模型 → 系统 → 实验验证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</a:t>
            </a:r>
            <a:endParaRPr lang="en-US" sz="900" dirty="0"/>
          </a:p>
        </p:txBody>
      </p:sp>
      <p:sp>
        <p:nvSpPr>
          <p:cNvPr id="27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把概念变成研究能力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今天的重点不是记住术语，而是建立一套可以继续扩展的思考框架。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3771900" cy="1143000"/>
          </a:xfrm>
          <a:prstGeom prst="roundRect">
            <a:avLst>
              <a:gd name="adj" fmla="val 6400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45920"/>
            <a:ext cx="64008" cy="11430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73936"/>
            <a:ext cx="34610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· 计算机基础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121408"/>
            <a:ext cx="3461004" cy="5760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理解信息如何流动、系统如何协作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6300" y="1645920"/>
            <a:ext cx="3771900" cy="1143000"/>
          </a:xfrm>
          <a:prstGeom prst="roundRect">
            <a:avLst>
              <a:gd name="adj" fmla="val 6400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6300" y="1645920"/>
            <a:ext cx="64008" cy="11430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0892" y="1773936"/>
            <a:ext cx="34610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· AI 基础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50892" y="2121408"/>
            <a:ext cx="3461004" cy="5760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理解表示、概率、推理与不确定性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017520"/>
            <a:ext cx="3771900" cy="1143000"/>
          </a:xfrm>
          <a:prstGeom prst="roundRect">
            <a:avLst>
              <a:gd name="adj" fmla="val 6400"/>
            </a:avLst>
          </a:prstGeom>
          <a:solidFill>
            <a:srgbClr val="E8F4F5"/>
          </a:solidFill>
          <a:ln w="15240">
            <a:solidFill>
              <a:srgbClr val="0B7285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3017520"/>
            <a:ext cx="64008" cy="11430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145536"/>
            <a:ext cx="34610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· 建模思维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" y="3493008"/>
            <a:ext cx="3461004" cy="5760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把状态、规则、时间和验证连起来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86300" y="3017520"/>
            <a:ext cx="3771900" cy="1143000"/>
          </a:xfrm>
          <a:prstGeom prst="roundRect">
            <a:avLst>
              <a:gd name="adj" fmla="val 6400"/>
            </a:avLst>
          </a:prstGeom>
          <a:solidFill>
            <a:srgbClr val="FFF2E2"/>
          </a:solidFill>
          <a:ln w="15240">
            <a:solidFill>
              <a:srgbClr val="F28C28"/>
            </a:solidFill>
            <a:prstDash val="solid"/>
          </a:ln>
          <a:effectLst>
            <a:outerShdw blurRad="12700" dist="12700" dir="2700000" algn="bl" rotWithShape="0">
              <a:srgbClr val="9AA8A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6300" y="3017520"/>
            <a:ext cx="64008" cy="1143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0892" y="3145536"/>
            <a:ext cx="34610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· 交叉研究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50892" y="3493008"/>
            <a:ext cx="3461004" cy="5760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从数据到模型，再回到实验闭环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434340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下一步：选择一个可验证的交叉问题，开始建立最小模型。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endParaRPr lang="en-US" sz="900" dirty="0"/>
          </a:p>
        </p:txBody>
      </p:sp>
      <p:sp>
        <p:nvSpPr>
          <p:cNvPr id="24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1"/>
          <p:cNvSpPr/>
          <p:nvPr/>
        </p:nvSpPr>
        <p:spPr>
          <a:xfrm>
            <a:off x="1097280" y="196596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CHAPTER 07 · CROSS-DISCIPLINARY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3600" b="1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虚拟细胞</a:t>
            </a:r>
            <a:endParaRPr lang="zh-CN" altLang="en-US" sz="3600" b="1" dirty="0">
              <a:solidFill>
                <a:srgbClr val="17212B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3154680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虚拟细胞</a:t>
            </a:r>
            <a:r>
              <a:rPr lang="zh-CN" altLang="en-US" sz="16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怎么做？</a:t>
            </a:r>
            <a:endParaRPr lang="zh-CN" altLang="en-US" sz="1600" dirty="0">
              <a:solidFill>
                <a:srgbClr val="6671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143000" y="3886200"/>
            <a:ext cx="100584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1051560" y="96012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rgbClr val="0B7285">
                    <a:alpha val="22000"/>
                  </a:srgbClr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08</a:t>
            </a:r>
            <a:endParaRPr lang="en-US" sz="7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· BIOLOGY MODELING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zh-CN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LLM</a:t>
            </a:r>
            <a:r>
              <a:rPr lang="zh-CN" alt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在虚拟细胞中</a:t>
            </a:r>
            <a:r>
              <a:rPr lang="zh-CN" altLang="en-US" sz="2800" b="1" kern="0" spc="120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是什么？</a:t>
            </a:r>
            <a:endParaRPr lang="zh-CN" altLang="en-US" sz="2800" b="1" kern="0" spc="120" dirty="0">
              <a:solidFill>
                <a:srgbClr val="17212B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我们的</a:t>
            </a:r>
            <a:r>
              <a:rPr lang="zh-CN" altLang="en-US" sz="1200" dirty="0">
                <a:solidFill>
                  <a:srgbClr val="6671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</a:t>
            </a:r>
            <a:endParaRPr lang="zh-CN" altLang="en-US" sz="1200" dirty="0">
              <a:solidFill>
                <a:srgbClr val="6671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7200" y="1433195"/>
            <a:ext cx="7861300" cy="3522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他是最后的模拟，而不是细胞主体，我们仍需要对细胞中的反应，化合物，原子，热力系统进行一系列计算机化工作，这应当是我们的主要</a:t>
            </a:r>
            <a:r>
              <a:rPr lang="zh-CN" altLang="en-US"/>
              <a:t>方向</a:t>
            </a:r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96596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721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开始建立你的研究地图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A95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× 计算机 × 合成生物学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366760" y="475488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B72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2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3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4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5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6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7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8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9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10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11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12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13.xml><?xml version="1.0" encoding="utf-8"?>
<p:tagLst xmlns:p="http://schemas.openxmlformats.org/presentationml/2006/main">
  <p:tag name="KSO_WM_DIAGRAM_VIRTUALLY_FRAME" val="{&quot;height&quot;:93.6,&quot;left&quot;:50.4,&quot;top&quot;:144,&quot;width&quot;:601.2}"/>
</p:tagLst>
</file>

<file path=ppt/tags/tag14.xml><?xml version="1.0" encoding="utf-8"?>
<p:tagLst xmlns:p="http://schemas.openxmlformats.org/presentationml/2006/main">
  <p:tag name="KSO_WM_DIAGRAM_VIRTUALLY_FRAME" val="{&quot;height&quot;:93.6,&quot;left&quot;:50.4,&quot;top&quot;:144,&quot;width&quot;:601.2}"/>
</p:tagLst>
</file>

<file path=ppt/tags/tag15.xml><?xml version="1.0" encoding="utf-8"?>
<p:tagLst xmlns:p="http://schemas.openxmlformats.org/presentationml/2006/main">
  <p:tag name="KSO_WM_DIAGRAM_VIRTUALLY_FRAME" val="{&quot;height&quot;:93.6,&quot;left&quot;:50.4,&quot;top&quot;:144,&quot;width&quot;:601.2}"/>
</p:tagLst>
</file>

<file path=ppt/tags/tag16.xml><?xml version="1.0" encoding="utf-8"?>
<p:tagLst xmlns:p="http://schemas.openxmlformats.org/presentationml/2006/main">
  <p:tag name="KSO_WM_DIAGRAM_VIRTUALLY_FRAME" val="{&quot;height&quot;:93.6,&quot;left&quot;:50.4,&quot;top&quot;:144,&quot;width&quot;:601.2}"/>
</p:tagLst>
</file>

<file path=ppt/tags/tag17.xml><?xml version="1.0" encoding="utf-8"?>
<p:tagLst xmlns:p="http://schemas.openxmlformats.org/presentationml/2006/main">
  <p:tag name="KSO_WM_DIAGRAM_VIRTUALLY_FRAME" val="{&quot;height&quot;:93.6,&quot;left&quot;:50.4,&quot;top&quot;:144,&quot;width&quot;:601.2}"/>
</p:tagLst>
</file>

<file path=ppt/tags/tag18.xml><?xml version="1.0" encoding="utf-8"?>
<p:tagLst xmlns:p="http://schemas.openxmlformats.org/presentationml/2006/main">
  <p:tag name="KSO_WM_DIAGRAM_VIRTUALLY_FRAME" val="{&quot;height&quot;:93.6,&quot;left&quot;:50.4,&quot;top&quot;:144,&quot;width&quot;:601.2}"/>
</p:tagLst>
</file>

<file path=ppt/tags/tag19.xml><?xml version="1.0" encoding="utf-8"?>
<p:tagLst xmlns:p="http://schemas.openxmlformats.org/presentationml/2006/main">
  <p:tag name="KSO_WM_DIAGRAM_VIRTUALLY_FRAME" val="{&quot;height&quot;:93.6,&quot;left&quot;:50.4,&quot;top&quot;:144,&quot;width&quot;:601.2}"/>
</p:tagLst>
</file>

<file path=ppt/tags/tag20.xml><?xml version="1.0" encoding="utf-8"?>
<p:tagLst xmlns:p="http://schemas.openxmlformats.org/presentationml/2006/main">
  <p:tag name="KSO_WM_DIAGRAM_VIRTUALLY_FRAME" val="{&quot;height&quot;:93.6,&quot;left&quot;:50.4,&quot;top&quot;:144,&quot;width&quot;:601.2}"/>
</p:tagLst>
</file>

<file path=ppt/tags/tag21.xml><?xml version="1.0" encoding="utf-8"?>
<p:tagLst xmlns:p="http://schemas.openxmlformats.org/presentationml/2006/main">
  <p:tag name="KSO_WM_DIAGRAM_VIRTUALLY_FRAME" val="{&quot;height&quot;:93.6,&quot;left&quot;:50.4,&quot;top&quot;:144,&quot;width&quot;:601.2}"/>
</p:tagLst>
</file>

<file path=ppt/tags/tag22.xml><?xml version="1.0" encoding="utf-8"?>
<p:tagLst xmlns:p="http://schemas.openxmlformats.org/presentationml/2006/main">
  <p:tag name="KSO_WM_DIAGRAM_VIRTUALLY_FRAME" val="{&quot;height&quot;:93.6,&quot;left&quot;:50.4,&quot;top&quot;:144,&quot;width&quot;:601.2}"/>
</p:tagLst>
</file>

<file path=ppt/tags/tag23.xml><?xml version="1.0" encoding="utf-8"?>
<p:tagLst xmlns:p="http://schemas.openxmlformats.org/presentationml/2006/main">
  <p:tag name="KSO_WM_DIAGRAM_VIRTUALLY_FRAME" val="{&quot;height&quot;:93.6,&quot;left&quot;:50.4,&quot;top&quot;:144,&quot;width&quot;:601.2}"/>
</p:tagLst>
</file>

<file path=ppt/tags/tag24.xml><?xml version="1.0" encoding="utf-8"?>
<p:tagLst xmlns:p="http://schemas.openxmlformats.org/presentationml/2006/main">
  <p:tag name="KSO_WM_DIAGRAM_VIRTUALLY_FRAME" val="{&quot;height&quot;:93.6,&quot;left&quot;:50.4,&quot;top&quot;:144,&quot;width&quot;:601.2}"/>
</p:tagLst>
</file>

<file path=ppt/tags/tag25.xml><?xml version="1.0" encoding="utf-8"?>
<p:tagLst xmlns:p="http://schemas.openxmlformats.org/presentationml/2006/main">
  <p:tag name="KSO_WM_DIAGRAM_VIRTUALLY_FRAME" val="{&quot;height&quot;:93.6,&quot;left&quot;:50.4,&quot;top&quot;:144,&quot;width&quot;:601.2}"/>
</p:tagLst>
</file>

<file path=ppt/tags/tag26.xml><?xml version="1.0" encoding="utf-8"?>
<p:tagLst xmlns:p="http://schemas.openxmlformats.org/presentationml/2006/main">
  <p:tag name="KSO_WM_DIAGRAM_VIRTUALLY_FRAME" val="{&quot;height&quot;:93.6,&quot;left&quot;:50.4,&quot;top&quot;:144,&quot;width&quot;:601.2}"/>
</p:tagLst>
</file>

<file path=ppt/tags/tag27.xml><?xml version="1.0" encoding="utf-8"?>
<p:tagLst xmlns:p="http://schemas.openxmlformats.org/presentationml/2006/main">
  <p:tag name="KSO_WM_DIAGRAM_VIRTUALLY_FRAME" val="{&quot;height&quot;:93.6,&quot;left&quot;:50.4,&quot;top&quot;:144,&quot;width&quot;:601.2}"/>
</p:tagLst>
</file>

<file path=ppt/tags/tag28.xml><?xml version="1.0" encoding="utf-8"?>
<p:tagLst xmlns:p="http://schemas.openxmlformats.org/presentationml/2006/main">
  <p:tag name="KSO_WM_DIAGRAM_VIRTUALLY_FRAME" val="{&quot;height&quot;:93.6,&quot;left&quot;:50.4,&quot;top&quot;:144,&quot;width&quot;:601.2}"/>
</p:tagLst>
</file>

<file path=ppt/tags/tag29.xml><?xml version="1.0" encoding="utf-8"?>
<p:tagLst xmlns:p="http://schemas.openxmlformats.org/presentationml/2006/main">
  <p:tag name="KSO_WM_DIAGRAM_VIRTUALLY_FRAME" val="{&quot;height&quot;:93.6,&quot;left&quot;:50.4,&quot;top&quot;:144,&quot;width&quot;:601.2}"/>
</p:tagLst>
</file>

<file path=ppt/tags/tag30.xml><?xml version="1.0" encoding="utf-8"?>
<p:tagLst xmlns:p="http://schemas.openxmlformats.org/presentationml/2006/main">
  <p:tag name="KSO_WM_DIAGRAM_VIRTUALLY_FRAME" val="{&quot;height&quot;:93.6,&quot;left&quot;:50.4,&quot;top&quot;:144,&quot;width&quot;:601.2}"/>
</p:tagLst>
</file>

<file path=ppt/tags/tag31.xml><?xml version="1.0" encoding="utf-8"?>
<p:tagLst xmlns:p="http://schemas.openxmlformats.org/presentationml/2006/main">
  <p:tag name="KSO_WM_DIAGRAM_VIRTUALLY_FRAME" val="{&quot;height&quot;:93.6,&quot;left&quot;:50.4,&quot;top&quot;:144,&quot;width&quot;:601.2}"/>
</p:tagLst>
</file>

<file path=ppt/tags/tag32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33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34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35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36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37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38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39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40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41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42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43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44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45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46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47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48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49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50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51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52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53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54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55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56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57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58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59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60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61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62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63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64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65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66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67.xml><?xml version="1.0" encoding="utf-8"?>
<p:tagLst xmlns:p="http://schemas.openxmlformats.org/presentationml/2006/main">
  <p:tag name="KSO_WM_DIAGRAM_VIRTUALLY_FRAME" val="{&quot;height&quot;:192.95999999999998,&quot;left&quot;:75.6,&quot;top&quot;:126,&quot;width&quot;:568.8}"/>
</p:tagLst>
</file>

<file path=ppt/tags/tag68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69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70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71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72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73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74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75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76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77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78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79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80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81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82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83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84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85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86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87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88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89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90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ags/tag91.xml><?xml version="1.0" encoding="utf-8"?>
<p:tagLst xmlns:p="http://schemas.openxmlformats.org/presentationml/2006/main">
  <p:tag name="KSO_WM_DIAGRAM_VIRTUALLY_FRAME" val="{&quot;height&quot;:79.2,&quot;left&quot;:46.8,&quot;top&quot;:140.4,&quot;width&quot;:637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3609</Words>
  <Application>WPS 演示</Application>
  <PresentationFormat>On-screen Show (16:9)</PresentationFormat>
  <Paragraphs>610</Paragraphs>
  <Slides>32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Arial</vt:lpstr>
      <vt:lpstr>宋体</vt:lpstr>
      <vt:lpstr>Wingdings</vt:lpstr>
      <vt:lpstr>微软雅黑</vt:lpstr>
      <vt:lpstr>微软雅黑</vt:lpstr>
      <vt:lpstr>Georgia</vt:lpstr>
      <vt:lpstr>Georgia</vt:lpstr>
      <vt:lpstr>Georgia</vt:lpstr>
      <vt:lpstr>Arial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TRAE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从计算机开发基础到人工智能与合成生物学</dc:title>
  <dc:creator>TRAE</dc:creator>
  <dc:subject>人工智能与合成生物学交叉研究基础</dc:subject>
  <cp:lastModifiedBy>于汇家</cp:lastModifiedBy>
  <cp:revision>6</cp:revision>
  <dcterms:created xsi:type="dcterms:W3CDTF">2026-08-04T17:19:00Z</dcterms:created>
  <dcterms:modified xsi:type="dcterms:W3CDTF">2026-08-05T01:04:21Z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194FDBCF30344388B5C1259A975D7E10_13</vt:lpwstr>
  </property>
</Properties>
</file>