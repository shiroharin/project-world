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63"/>
  </p:notesMasterIdLst>
  <p:sldIdLst>
    <p:sldId id="1255" r:id="rId3"/>
    <p:sldId id="1256" r:id="rId4"/>
    <p:sldId id="1258" r:id="rId5"/>
    <p:sldId id="1259" r:id="rId6"/>
    <p:sldId id="1385" r:id="rId7"/>
    <p:sldId id="1260" r:id="rId8"/>
    <p:sldId id="1261" r:id="rId9"/>
    <p:sldId id="1262" r:id="rId10"/>
    <p:sldId id="1265" r:id="rId11"/>
    <p:sldId id="1263" r:id="rId12"/>
    <p:sldId id="1264" r:id="rId13"/>
    <p:sldId id="1266" r:id="rId14"/>
    <p:sldId id="1267" r:id="rId15"/>
    <p:sldId id="1268" r:id="rId16"/>
    <p:sldId id="1269" r:id="rId17"/>
    <p:sldId id="1270" r:id="rId18"/>
    <p:sldId id="1271" r:id="rId19"/>
    <p:sldId id="347" r:id="rId20"/>
    <p:sldId id="1272" r:id="rId21"/>
    <p:sldId id="1386" r:id="rId22"/>
    <p:sldId id="1387" r:id="rId23"/>
    <p:sldId id="1388" r:id="rId24"/>
    <p:sldId id="1275" r:id="rId25"/>
    <p:sldId id="1276" r:id="rId26"/>
    <p:sldId id="1278" r:id="rId27"/>
    <p:sldId id="1277" r:id="rId28"/>
    <p:sldId id="1280" r:id="rId29"/>
    <p:sldId id="1281" r:id="rId30"/>
    <p:sldId id="1283" r:id="rId31"/>
    <p:sldId id="1284" r:id="rId32"/>
    <p:sldId id="1285" r:id="rId33"/>
    <p:sldId id="1349" r:id="rId34"/>
    <p:sldId id="1389" r:id="rId35"/>
    <p:sldId id="1390" r:id="rId36"/>
    <p:sldId id="1391" r:id="rId37"/>
    <p:sldId id="1392" r:id="rId38"/>
    <p:sldId id="1393" r:id="rId39"/>
    <p:sldId id="1395" r:id="rId40"/>
    <p:sldId id="1396" r:id="rId41"/>
    <p:sldId id="1397" r:id="rId42"/>
    <p:sldId id="1394" r:id="rId43"/>
    <p:sldId id="1398" r:id="rId44"/>
    <p:sldId id="1399" r:id="rId45"/>
    <p:sldId id="1379" r:id="rId46"/>
    <p:sldId id="1400" r:id="rId47"/>
    <p:sldId id="1287" r:id="rId48"/>
    <p:sldId id="1288" r:id="rId49"/>
    <p:sldId id="1289" r:id="rId50"/>
    <p:sldId id="1290" r:id="rId51"/>
    <p:sldId id="1291" r:id="rId52"/>
    <p:sldId id="1292" r:id="rId53"/>
    <p:sldId id="1293" r:id="rId54"/>
    <p:sldId id="1299" r:id="rId55"/>
    <p:sldId id="1302" r:id="rId56"/>
    <p:sldId id="1303" r:id="rId57"/>
    <p:sldId id="1304" r:id="rId58"/>
    <p:sldId id="1305" r:id="rId59"/>
    <p:sldId id="1306" r:id="rId60"/>
    <p:sldId id="1307" r:id="rId61"/>
    <p:sldId id="1308" r:id="rId6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5" d="100"/>
          <a:sy n="115" d="100"/>
        </p:scale>
        <p:origin x="40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EDD6BA-AEBD-4246-A5CD-41C5143A9CAA}" type="datetimeFigureOut">
              <a:rPr lang="zh-CN" altLang="en-US" smtClean="0"/>
              <a:t>2026/9/3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541C07-0D2F-44E6-86B8-2C0B5C79A7B9}" type="slidenum">
              <a:rPr lang="zh-CN" altLang="en-US" smtClean="0"/>
              <a:t>‹#›</a:t>
            </a:fld>
            <a:endParaRPr lang="zh-CN" altLang="en-US"/>
          </a:p>
        </p:txBody>
      </p:sp>
    </p:spTree>
    <p:extLst>
      <p:ext uri="{BB962C8B-B14F-4D97-AF65-F5344CB8AC3E}">
        <p14:creationId xmlns:p14="http://schemas.microsoft.com/office/powerpoint/2010/main" val="12187659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幻灯片图像占位符 1">
            <a:extLst>
              <a:ext uri="{FF2B5EF4-FFF2-40B4-BE49-F238E27FC236}">
                <a16:creationId xmlns:a16="http://schemas.microsoft.com/office/drawing/2014/main" id="{4DBB715C-44BF-48AD-792B-31573AC5AA5D}"/>
              </a:ext>
            </a:extLst>
          </p:cNvPr>
          <p:cNvSpPr>
            <a:spLocks noGrp="1" noRot="1" noChangeAspect="1" noChangeArrowheads="1" noTextEdit="1"/>
          </p:cNvSpPr>
          <p:nvPr>
            <p:ph type="sldImg"/>
          </p:nvPr>
        </p:nvSpPr>
        <p:spPr>
          <a:xfrm>
            <a:off x="90488" y="744538"/>
            <a:ext cx="6616700" cy="3722687"/>
          </a:xfrm>
        </p:spPr>
      </p:sp>
      <p:sp>
        <p:nvSpPr>
          <p:cNvPr id="122883" name="备注占位符 2">
            <a:extLst>
              <a:ext uri="{FF2B5EF4-FFF2-40B4-BE49-F238E27FC236}">
                <a16:creationId xmlns:a16="http://schemas.microsoft.com/office/drawing/2014/main" id="{D082F63F-608D-F407-AF47-407A6D95D1D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zh-CN" altLang="en-US" dirty="0"/>
              <a:t>天然蛋白质分子不是一条走向随机的松散肽链，每种天然蛋白质都有自己特有的空间结构，这种空间结构称为蛋白质的构象。</a:t>
            </a:r>
          </a:p>
        </p:txBody>
      </p:sp>
      <p:sp>
        <p:nvSpPr>
          <p:cNvPr id="122884" name="灯片编号占位符 3">
            <a:extLst>
              <a:ext uri="{FF2B5EF4-FFF2-40B4-BE49-F238E27FC236}">
                <a16:creationId xmlns:a16="http://schemas.microsoft.com/office/drawing/2014/main" id="{0D8025A9-2829-21AC-19FC-92F9DB86694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0A47495-81B6-4AB5-8870-CF458A6E3996}" type="slidenum">
              <a:rPr kumimoji="0" lang="en-US" altLang="zh-CN"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zh-CN"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幻灯片图像占位符 1">
            <a:extLst>
              <a:ext uri="{FF2B5EF4-FFF2-40B4-BE49-F238E27FC236}">
                <a16:creationId xmlns:a16="http://schemas.microsoft.com/office/drawing/2014/main" id="{FD740B9C-A70E-028B-D2EE-7A5A4604C691}"/>
              </a:ext>
            </a:extLst>
          </p:cNvPr>
          <p:cNvSpPr>
            <a:spLocks noGrp="1" noRot="1" noChangeAspect="1" noChangeArrowheads="1" noTextEdit="1"/>
          </p:cNvSpPr>
          <p:nvPr>
            <p:ph type="sldImg"/>
          </p:nvPr>
        </p:nvSpPr>
        <p:spPr>
          <a:xfrm>
            <a:off x="917575" y="744538"/>
            <a:ext cx="4962525" cy="3722687"/>
          </a:xfrm>
        </p:spPr>
      </p:sp>
      <p:sp>
        <p:nvSpPr>
          <p:cNvPr id="132099" name="备注占位符 2">
            <a:extLst>
              <a:ext uri="{FF2B5EF4-FFF2-40B4-BE49-F238E27FC236}">
                <a16:creationId xmlns:a16="http://schemas.microsoft.com/office/drawing/2014/main" id="{E8CB6E85-3053-C2F2-EA6B-C84ED2D1115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zh-CN" altLang="en-US"/>
              <a:t>肽平面，或酰胺平面。生物体内的多肽链构象变化的结果是使多肽主链达到一种最稳定状态的空间构象。</a:t>
            </a:r>
          </a:p>
        </p:txBody>
      </p:sp>
      <p:sp>
        <p:nvSpPr>
          <p:cNvPr id="132100" name="灯片编号占位符 3">
            <a:extLst>
              <a:ext uri="{FF2B5EF4-FFF2-40B4-BE49-F238E27FC236}">
                <a16:creationId xmlns:a16="http://schemas.microsoft.com/office/drawing/2014/main" id="{01DBBEC9-3F3C-2323-DB2D-70BA8AE5AA6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5604275-C396-4748-A136-F45A7E871773}" type="slidenum">
              <a:rPr kumimoji="0" lang="en-US" altLang="zh-CN"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zh-CN"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幻灯片图像占位符 1">
            <a:extLst>
              <a:ext uri="{FF2B5EF4-FFF2-40B4-BE49-F238E27FC236}">
                <a16:creationId xmlns:a16="http://schemas.microsoft.com/office/drawing/2014/main" id="{9179A5BD-1364-7A3D-45FB-646FA644EA70}"/>
              </a:ext>
            </a:extLst>
          </p:cNvPr>
          <p:cNvSpPr>
            <a:spLocks noGrp="1" noRot="1" noChangeAspect="1" noChangeArrowheads="1" noTextEdit="1"/>
          </p:cNvSpPr>
          <p:nvPr>
            <p:ph type="sldImg"/>
          </p:nvPr>
        </p:nvSpPr>
        <p:spPr>
          <a:xfrm>
            <a:off x="917575" y="744538"/>
            <a:ext cx="4962525" cy="3722687"/>
          </a:xfrm>
        </p:spPr>
      </p:sp>
      <p:sp>
        <p:nvSpPr>
          <p:cNvPr id="134147" name="备注占位符 2">
            <a:extLst>
              <a:ext uri="{FF2B5EF4-FFF2-40B4-BE49-F238E27FC236}">
                <a16:creationId xmlns:a16="http://schemas.microsoft.com/office/drawing/2014/main" id="{C7BC2D9A-98B8-261B-8898-28E5C36517B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zh-CN" altLang="en-US"/>
              <a:t>一般二硫键数目越多蛋白质结构越稳定。胰岛素由两条肽链共</a:t>
            </a:r>
            <a:r>
              <a:rPr lang="en-US" altLang="zh-CN"/>
              <a:t>51</a:t>
            </a:r>
            <a:r>
              <a:rPr lang="zh-CN" altLang="en-US"/>
              <a:t>个氨基酸组成，一条</a:t>
            </a:r>
            <a:r>
              <a:rPr lang="en-US" altLang="zh-CN"/>
              <a:t>A</a:t>
            </a:r>
            <a:r>
              <a:rPr lang="zh-CN" altLang="en-US"/>
              <a:t>链，</a:t>
            </a:r>
            <a:r>
              <a:rPr lang="en-US" altLang="zh-CN"/>
              <a:t>21</a:t>
            </a:r>
            <a:r>
              <a:rPr lang="zh-CN" altLang="en-US"/>
              <a:t>肽，一条</a:t>
            </a:r>
            <a:r>
              <a:rPr lang="en-US" altLang="zh-CN"/>
              <a:t>B</a:t>
            </a:r>
            <a:r>
              <a:rPr lang="zh-CN" altLang="en-US"/>
              <a:t>链，</a:t>
            </a:r>
            <a:r>
              <a:rPr lang="en-US" altLang="zh-CN"/>
              <a:t>30</a:t>
            </a:r>
            <a:r>
              <a:rPr lang="zh-CN" altLang="en-US"/>
              <a:t>肽，在链内和链间都存在二硫键。</a:t>
            </a:r>
          </a:p>
        </p:txBody>
      </p:sp>
      <p:sp>
        <p:nvSpPr>
          <p:cNvPr id="134148" name="灯片编号占位符 3">
            <a:extLst>
              <a:ext uri="{FF2B5EF4-FFF2-40B4-BE49-F238E27FC236}">
                <a16:creationId xmlns:a16="http://schemas.microsoft.com/office/drawing/2014/main" id="{9C4C6FB0-3155-3694-2292-DF3ED4C750B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8BC3A1D-BDED-4784-80DF-F2D11E3387A0}" type="slidenum">
              <a:rPr kumimoji="0" lang="en-US" altLang="zh-CN"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zh-CN"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幻灯片图像占位符 1">
            <a:extLst>
              <a:ext uri="{FF2B5EF4-FFF2-40B4-BE49-F238E27FC236}">
                <a16:creationId xmlns:a16="http://schemas.microsoft.com/office/drawing/2014/main" id="{7EC25FAC-2FD2-A7A5-1468-91DA46E9E9F9}"/>
              </a:ext>
            </a:extLst>
          </p:cNvPr>
          <p:cNvSpPr>
            <a:spLocks noGrp="1" noRot="1" noChangeAspect="1" noChangeArrowheads="1" noTextEdit="1"/>
          </p:cNvSpPr>
          <p:nvPr>
            <p:ph type="sldImg"/>
          </p:nvPr>
        </p:nvSpPr>
        <p:spPr>
          <a:xfrm>
            <a:off x="90488" y="744538"/>
            <a:ext cx="6616700" cy="3722687"/>
          </a:xfrm>
        </p:spPr>
      </p:sp>
      <p:sp>
        <p:nvSpPr>
          <p:cNvPr id="137219" name="备注占位符 2">
            <a:extLst>
              <a:ext uri="{FF2B5EF4-FFF2-40B4-BE49-F238E27FC236}">
                <a16:creationId xmlns:a16="http://schemas.microsoft.com/office/drawing/2014/main" id="{163DDDB0-DC0F-5B20-7C0F-2AA449EE9F0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zh-CN" altLang="en-US"/>
              <a:t>构型是指在一个化合物分子中原子的空间排列，这种排列的改变会牵涉共价键的形成和破坏，但与氢键无关。构象是用来表示一个多肽结构中一些原子间单键转动而产生的不同空间排列，这种构象的改变会牵涉氢键的形成和破坏，但不致使共价键被破坏。重氢交换法测</a:t>
            </a:r>
            <a:r>
              <a:rPr lang="en-US" altLang="zh-CN"/>
              <a:t>α-</a:t>
            </a:r>
            <a:r>
              <a:rPr lang="zh-CN" altLang="en-US"/>
              <a:t>螺旋，核磁共振光谱法测氨基酸残基构象变化，圆二色谱测二级结构含量，荧光偏振法测疏水微区，红外偏振法测疏水区。</a:t>
            </a:r>
          </a:p>
        </p:txBody>
      </p:sp>
      <p:sp>
        <p:nvSpPr>
          <p:cNvPr id="137220" name="灯片编号占位符 3">
            <a:extLst>
              <a:ext uri="{FF2B5EF4-FFF2-40B4-BE49-F238E27FC236}">
                <a16:creationId xmlns:a16="http://schemas.microsoft.com/office/drawing/2014/main" id="{AB96D8F6-E36C-5C7C-C5C1-1B769E80515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63718C1-5421-47D1-97EF-0B5E54557E73}" type="slidenum">
              <a:rPr kumimoji="0" lang="en-US" altLang="zh-CN"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zh-CN"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幻灯片图像占位符 1">
            <a:extLst>
              <a:ext uri="{FF2B5EF4-FFF2-40B4-BE49-F238E27FC236}">
                <a16:creationId xmlns:a16="http://schemas.microsoft.com/office/drawing/2014/main" id="{C784EFEF-EBD4-F4E1-A83F-DF6E4E8BCF48}"/>
              </a:ext>
            </a:extLst>
          </p:cNvPr>
          <p:cNvSpPr>
            <a:spLocks noGrp="1" noRot="1" noChangeAspect="1" noChangeArrowheads="1" noTextEdit="1"/>
          </p:cNvSpPr>
          <p:nvPr>
            <p:ph type="sldImg"/>
          </p:nvPr>
        </p:nvSpPr>
        <p:spPr>
          <a:xfrm>
            <a:off x="917575" y="744538"/>
            <a:ext cx="4962525" cy="3722687"/>
          </a:xfrm>
        </p:spPr>
      </p:sp>
      <p:sp>
        <p:nvSpPr>
          <p:cNvPr id="140291" name="备注占位符 2">
            <a:extLst>
              <a:ext uri="{FF2B5EF4-FFF2-40B4-BE49-F238E27FC236}">
                <a16:creationId xmlns:a16="http://schemas.microsoft.com/office/drawing/2014/main" id="{CAC32215-A6DD-43E9-0127-9FBC183DC11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zh-CN" altLang="en-US"/>
              <a:t>蛋白质分子中某一段肽链的局部空间结构，也就是该段肽链骨架原子的相对空间位置，并不涉及氨基酸残基侧链的构象。氢键是稳定二级结构的主要作用力。</a:t>
            </a:r>
          </a:p>
        </p:txBody>
      </p:sp>
      <p:sp>
        <p:nvSpPr>
          <p:cNvPr id="140292" name="灯片编号占位符 3">
            <a:extLst>
              <a:ext uri="{FF2B5EF4-FFF2-40B4-BE49-F238E27FC236}">
                <a16:creationId xmlns:a16="http://schemas.microsoft.com/office/drawing/2014/main" id="{C2635B2D-6B52-6EA4-8CFB-6C87D7D1A03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1CF1711-45A1-4623-8624-0CB04A6CC247}" type="slidenum">
              <a:rPr kumimoji="0" lang="en-US" altLang="zh-CN"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zh-CN"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幻灯片图像占位符 1">
            <a:extLst>
              <a:ext uri="{FF2B5EF4-FFF2-40B4-BE49-F238E27FC236}">
                <a16:creationId xmlns:a16="http://schemas.microsoft.com/office/drawing/2014/main" id="{C57B26C8-55FB-D253-C523-52620C3AFFCE}"/>
              </a:ext>
            </a:extLst>
          </p:cNvPr>
          <p:cNvSpPr>
            <a:spLocks noGrp="1" noRot="1" noChangeAspect="1" noChangeArrowheads="1" noTextEdit="1"/>
          </p:cNvSpPr>
          <p:nvPr>
            <p:ph type="sldImg"/>
          </p:nvPr>
        </p:nvSpPr>
        <p:spPr>
          <a:xfrm>
            <a:off x="90488" y="744538"/>
            <a:ext cx="6616700" cy="3722687"/>
          </a:xfrm>
        </p:spPr>
      </p:sp>
      <p:sp>
        <p:nvSpPr>
          <p:cNvPr id="143363" name="备注占位符 2">
            <a:extLst>
              <a:ext uri="{FF2B5EF4-FFF2-40B4-BE49-F238E27FC236}">
                <a16:creationId xmlns:a16="http://schemas.microsoft.com/office/drawing/2014/main" id="{C95F1115-4535-8BA4-209E-0F2A8FEA013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zh-CN" altLang="en-US" dirty="0"/>
              <a:t>有左旋和右旋两种，右旋比左旋更稳定，因此更常见。螺旋是否可以形成以及形成的螺旋体是否稳定，与氨基酸组成和序列直接相关。如多肽链中有脯氨酸时，螺旋被中断，并产生一个结节。这是因为脯氨酸是亚氨基酸，氢原子参与肽键的形成后，再没有多余氢原子形成氢键，肽链就拐弯不再形成螺旋。甘氨酸侧链没有束缚，但肽平面上的角度可以任意值，难以形成</a:t>
            </a:r>
            <a:r>
              <a:rPr lang="en-US" altLang="zh-CN" dirty="0"/>
              <a:t>α-</a:t>
            </a:r>
            <a:r>
              <a:rPr lang="zh-CN" altLang="en-US" dirty="0"/>
              <a:t>螺旋所需的二面角。另外，如果肽链中连续存在带相同电荷的氨基酸残基，由于同性电荷相斥也会影响</a:t>
            </a:r>
            <a:r>
              <a:rPr lang="en-US" altLang="zh-CN" dirty="0"/>
              <a:t>α</a:t>
            </a:r>
            <a:r>
              <a:rPr lang="zh-CN" altLang="en-US" dirty="0"/>
              <a:t>螺旋形成。受热水、稀酸或稀碱处理即可伸展，但取消后又可恢复原状。存在于角蛋白，原肌球蛋白，胶原蛋白等纤维状蛋白质中，也存在于一些球状蛋白质中。</a:t>
            </a:r>
          </a:p>
        </p:txBody>
      </p:sp>
      <p:sp>
        <p:nvSpPr>
          <p:cNvPr id="143364" name="灯片编号占位符 3">
            <a:extLst>
              <a:ext uri="{FF2B5EF4-FFF2-40B4-BE49-F238E27FC236}">
                <a16:creationId xmlns:a16="http://schemas.microsoft.com/office/drawing/2014/main" id="{B8753718-9FFC-9464-5530-43144CBB1EB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1A64F29-B234-4CB1-8981-1765C619B68F}" type="slidenum">
              <a:rPr kumimoji="0" lang="en-US" altLang="zh-CN"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zh-CN"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幻灯片图像占位符 1">
            <a:extLst>
              <a:ext uri="{FF2B5EF4-FFF2-40B4-BE49-F238E27FC236}">
                <a16:creationId xmlns:a16="http://schemas.microsoft.com/office/drawing/2014/main" id="{3FA88734-61E5-7CFA-C981-28FE7051E38F}"/>
              </a:ext>
            </a:extLst>
          </p:cNvPr>
          <p:cNvSpPr>
            <a:spLocks noGrp="1" noRot="1" noChangeAspect="1" noChangeArrowheads="1" noTextEdit="1"/>
          </p:cNvSpPr>
          <p:nvPr>
            <p:ph type="sldImg"/>
          </p:nvPr>
        </p:nvSpPr>
        <p:spPr>
          <a:xfrm>
            <a:off x="917575" y="744538"/>
            <a:ext cx="4962525" cy="3722687"/>
          </a:xfrm>
        </p:spPr>
      </p:sp>
      <p:sp>
        <p:nvSpPr>
          <p:cNvPr id="145411" name="备注占位符 2">
            <a:extLst>
              <a:ext uri="{FF2B5EF4-FFF2-40B4-BE49-F238E27FC236}">
                <a16:creationId xmlns:a16="http://schemas.microsoft.com/office/drawing/2014/main" id="{B782AF52-11F5-B519-200B-C6A6965584D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zh-CN" altLang="en-US"/>
              <a:t>存在于纤维状蛋白质，也存在于球状蛋白质中。</a:t>
            </a:r>
          </a:p>
        </p:txBody>
      </p:sp>
      <p:sp>
        <p:nvSpPr>
          <p:cNvPr id="145412" name="灯片编号占位符 3">
            <a:extLst>
              <a:ext uri="{FF2B5EF4-FFF2-40B4-BE49-F238E27FC236}">
                <a16:creationId xmlns:a16="http://schemas.microsoft.com/office/drawing/2014/main" id="{953F3DC3-FB12-34E3-6212-488A3CEF21F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39CB399-DD4C-4649-B4AB-53A757C4FF18}" type="slidenum">
              <a:rPr kumimoji="0" lang="en-US" altLang="zh-CN"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zh-CN"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幻灯片图像占位符 1">
            <a:extLst>
              <a:ext uri="{FF2B5EF4-FFF2-40B4-BE49-F238E27FC236}">
                <a16:creationId xmlns:a16="http://schemas.microsoft.com/office/drawing/2014/main" id="{F50CF1E7-36DB-ABD0-1167-11E60C08A631}"/>
              </a:ext>
            </a:extLst>
          </p:cNvPr>
          <p:cNvSpPr>
            <a:spLocks noGrp="1" noRot="1" noChangeAspect="1" noChangeArrowheads="1" noTextEdit="1"/>
          </p:cNvSpPr>
          <p:nvPr>
            <p:ph type="sldImg"/>
          </p:nvPr>
        </p:nvSpPr>
        <p:spPr>
          <a:xfrm>
            <a:off x="917575" y="744538"/>
            <a:ext cx="4962525" cy="3722687"/>
          </a:xfrm>
        </p:spPr>
      </p:sp>
      <p:sp>
        <p:nvSpPr>
          <p:cNvPr id="151555" name="备注占位符 2">
            <a:extLst>
              <a:ext uri="{FF2B5EF4-FFF2-40B4-BE49-F238E27FC236}">
                <a16:creationId xmlns:a16="http://schemas.microsoft.com/office/drawing/2014/main" id="{0A14D21A-72C4-01B8-CCB1-554F0A74AAB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zh-CN" altLang="en-US"/>
              <a:t>无规卷曲泛指那些不能被归入明确的二级结构如折叠片或螺旋的多肽区段。</a:t>
            </a:r>
          </a:p>
        </p:txBody>
      </p:sp>
      <p:sp>
        <p:nvSpPr>
          <p:cNvPr id="151556" name="灯片编号占位符 3">
            <a:extLst>
              <a:ext uri="{FF2B5EF4-FFF2-40B4-BE49-F238E27FC236}">
                <a16:creationId xmlns:a16="http://schemas.microsoft.com/office/drawing/2014/main" id="{CED1BB44-2ABA-35B5-DE51-2D2F7980191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2D21880-3481-4FAB-942F-EC95EE2E19D7}" type="slidenum">
              <a:rPr kumimoji="0" lang="en-US" altLang="zh-CN"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altLang="zh-CN"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6541C07-0D2F-44E6-86B8-2C0B5C79A7B9}" type="slidenum">
              <a:rPr lang="zh-CN" altLang="en-US" smtClean="0"/>
              <a:t>26</a:t>
            </a:fld>
            <a:endParaRPr lang="zh-CN" altLang="en-US"/>
          </a:p>
        </p:txBody>
      </p:sp>
    </p:spTree>
    <p:extLst>
      <p:ext uri="{BB962C8B-B14F-4D97-AF65-F5344CB8AC3E}">
        <p14:creationId xmlns:p14="http://schemas.microsoft.com/office/powerpoint/2010/main" val="42637632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6541C07-0D2F-44E6-86B8-2C0B5C79A7B9}" type="slidenum">
              <a:rPr lang="zh-CN" altLang="en-US" smtClean="0"/>
              <a:t>39</a:t>
            </a:fld>
            <a:endParaRPr lang="zh-CN" altLang="en-US"/>
          </a:p>
        </p:txBody>
      </p:sp>
    </p:spTree>
    <p:extLst>
      <p:ext uri="{BB962C8B-B14F-4D97-AF65-F5344CB8AC3E}">
        <p14:creationId xmlns:p14="http://schemas.microsoft.com/office/powerpoint/2010/main" val="29746837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6541C07-0D2F-44E6-86B8-2C0B5C79A7B9}" type="slidenum">
              <a:rPr lang="zh-CN" altLang="en-US" smtClean="0"/>
              <a:t>40</a:t>
            </a:fld>
            <a:endParaRPr lang="zh-CN" altLang="en-US"/>
          </a:p>
        </p:txBody>
      </p:sp>
    </p:spTree>
    <p:extLst>
      <p:ext uri="{BB962C8B-B14F-4D97-AF65-F5344CB8AC3E}">
        <p14:creationId xmlns:p14="http://schemas.microsoft.com/office/powerpoint/2010/main" val="1801120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6541C07-0D2F-44E6-86B8-2C0B5C79A7B9}" type="slidenum">
              <a:rPr lang="zh-CN" altLang="en-US" smtClean="0"/>
              <a:t>42</a:t>
            </a:fld>
            <a:endParaRPr lang="zh-CN" altLang="en-US"/>
          </a:p>
        </p:txBody>
      </p:sp>
    </p:spTree>
    <p:extLst>
      <p:ext uri="{BB962C8B-B14F-4D97-AF65-F5344CB8AC3E}">
        <p14:creationId xmlns:p14="http://schemas.microsoft.com/office/powerpoint/2010/main" val="7335661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A1092CB5-6FCB-44EA-AF41-89EEEE7AECAD}" type="slidenum">
              <a:rPr lang="en-US" altLang="zh-CN" smtClean="0"/>
              <a:pPr>
                <a:defRPr/>
              </a:pPr>
              <a:t>44</a:t>
            </a:fld>
            <a:endParaRPr lang="en-US" altLang="zh-CN"/>
          </a:p>
        </p:txBody>
      </p:sp>
    </p:spTree>
    <p:extLst>
      <p:ext uri="{BB962C8B-B14F-4D97-AF65-F5344CB8AC3E}">
        <p14:creationId xmlns:p14="http://schemas.microsoft.com/office/powerpoint/2010/main" val="32672020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0F9AF9-9AAD-C382-C812-732FEFE56908}"/>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2A7FAD8D-34CA-6B3D-F966-060BFE85A37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C7F42972-F73D-116B-844E-BEE76C42C131}"/>
              </a:ext>
            </a:extLst>
          </p:cNvPr>
          <p:cNvSpPr>
            <a:spLocks noGrp="1"/>
          </p:cNvSpPr>
          <p:nvPr>
            <p:ph type="dt" sz="half" idx="10"/>
          </p:nvPr>
        </p:nvSpPr>
        <p:spPr/>
        <p:txBody>
          <a:bodyPr/>
          <a:lstStyle/>
          <a:p>
            <a:fld id="{C4F7F091-3263-4258-9FCE-5FF00B8430B4}" type="datetimeFigureOut">
              <a:rPr lang="zh-CN" altLang="en-US" smtClean="0"/>
              <a:t>2026/9/3</a:t>
            </a:fld>
            <a:endParaRPr lang="zh-CN" altLang="en-US"/>
          </a:p>
        </p:txBody>
      </p:sp>
      <p:sp>
        <p:nvSpPr>
          <p:cNvPr id="5" name="页脚占位符 4">
            <a:extLst>
              <a:ext uri="{FF2B5EF4-FFF2-40B4-BE49-F238E27FC236}">
                <a16:creationId xmlns:a16="http://schemas.microsoft.com/office/drawing/2014/main" id="{AB7C49D7-1AFB-31CD-2911-5DB3D3BFD82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AF39218-3EC3-18D8-CF97-FC80F2D15F85}"/>
              </a:ext>
            </a:extLst>
          </p:cNvPr>
          <p:cNvSpPr>
            <a:spLocks noGrp="1"/>
          </p:cNvSpPr>
          <p:nvPr>
            <p:ph type="sldNum" sz="quarter" idx="12"/>
          </p:nvPr>
        </p:nvSpPr>
        <p:spPr/>
        <p:txBody>
          <a:bodyPr/>
          <a:lstStyle/>
          <a:p>
            <a:fld id="{7E9FE47F-82FB-42F1-933A-ED941AA4DA2A}" type="slidenum">
              <a:rPr lang="zh-CN" altLang="en-US" smtClean="0"/>
              <a:t>‹#›</a:t>
            </a:fld>
            <a:endParaRPr lang="zh-CN" altLang="en-US"/>
          </a:p>
        </p:txBody>
      </p:sp>
    </p:spTree>
    <p:extLst>
      <p:ext uri="{BB962C8B-B14F-4D97-AF65-F5344CB8AC3E}">
        <p14:creationId xmlns:p14="http://schemas.microsoft.com/office/powerpoint/2010/main" val="32962294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4317C6-DF47-35F0-CAB4-90C6CC86149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D346EE3-7F8C-5AEF-A939-E6AA671EAC0A}"/>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5F7EC18-DD9C-2905-7057-0CB2DF39C72C}"/>
              </a:ext>
            </a:extLst>
          </p:cNvPr>
          <p:cNvSpPr>
            <a:spLocks noGrp="1"/>
          </p:cNvSpPr>
          <p:nvPr>
            <p:ph type="dt" sz="half" idx="10"/>
          </p:nvPr>
        </p:nvSpPr>
        <p:spPr/>
        <p:txBody>
          <a:bodyPr/>
          <a:lstStyle/>
          <a:p>
            <a:fld id="{C4F7F091-3263-4258-9FCE-5FF00B8430B4}" type="datetimeFigureOut">
              <a:rPr lang="zh-CN" altLang="en-US" smtClean="0"/>
              <a:t>2026/9/3</a:t>
            </a:fld>
            <a:endParaRPr lang="zh-CN" altLang="en-US"/>
          </a:p>
        </p:txBody>
      </p:sp>
      <p:sp>
        <p:nvSpPr>
          <p:cNvPr id="5" name="页脚占位符 4">
            <a:extLst>
              <a:ext uri="{FF2B5EF4-FFF2-40B4-BE49-F238E27FC236}">
                <a16:creationId xmlns:a16="http://schemas.microsoft.com/office/drawing/2014/main" id="{573601BF-1C0B-829C-79B3-F98F7ADD761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040A3F8-7320-6FFE-516A-85E556C60A1E}"/>
              </a:ext>
            </a:extLst>
          </p:cNvPr>
          <p:cNvSpPr>
            <a:spLocks noGrp="1"/>
          </p:cNvSpPr>
          <p:nvPr>
            <p:ph type="sldNum" sz="quarter" idx="12"/>
          </p:nvPr>
        </p:nvSpPr>
        <p:spPr/>
        <p:txBody>
          <a:bodyPr/>
          <a:lstStyle/>
          <a:p>
            <a:fld id="{7E9FE47F-82FB-42F1-933A-ED941AA4DA2A}" type="slidenum">
              <a:rPr lang="zh-CN" altLang="en-US" smtClean="0"/>
              <a:t>‹#›</a:t>
            </a:fld>
            <a:endParaRPr lang="zh-CN" altLang="en-US"/>
          </a:p>
        </p:txBody>
      </p:sp>
    </p:spTree>
    <p:extLst>
      <p:ext uri="{BB962C8B-B14F-4D97-AF65-F5344CB8AC3E}">
        <p14:creationId xmlns:p14="http://schemas.microsoft.com/office/powerpoint/2010/main" val="42848621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9F9844-A008-5A3B-FD4D-1C637FA74575}"/>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21309B0B-5D27-5562-B5F6-6E57A720B5E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95648E1-BD56-925E-2999-AA2D7B12C5ED}"/>
              </a:ext>
            </a:extLst>
          </p:cNvPr>
          <p:cNvSpPr>
            <a:spLocks noGrp="1"/>
          </p:cNvSpPr>
          <p:nvPr>
            <p:ph type="dt" sz="half" idx="10"/>
          </p:nvPr>
        </p:nvSpPr>
        <p:spPr/>
        <p:txBody>
          <a:bodyPr/>
          <a:lstStyle/>
          <a:p>
            <a:fld id="{C4F7F091-3263-4258-9FCE-5FF00B8430B4}" type="datetimeFigureOut">
              <a:rPr lang="zh-CN" altLang="en-US" smtClean="0"/>
              <a:t>2026/9/3</a:t>
            </a:fld>
            <a:endParaRPr lang="zh-CN" altLang="en-US"/>
          </a:p>
        </p:txBody>
      </p:sp>
      <p:sp>
        <p:nvSpPr>
          <p:cNvPr id="5" name="页脚占位符 4">
            <a:extLst>
              <a:ext uri="{FF2B5EF4-FFF2-40B4-BE49-F238E27FC236}">
                <a16:creationId xmlns:a16="http://schemas.microsoft.com/office/drawing/2014/main" id="{AEEA2E77-1A0D-FBD1-6CE6-2D1DB5292F3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72DC5E2-AFF4-E53E-6595-384D45D35121}"/>
              </a:ext>
            </a:extLst>
          </p:cNvPr>
          <p:cNvSpPr>
            <a:spLocks noGrp="1"/>
          </p:cNvSpPr>
          <p:nvPr>
            <p:ph type="sldNum" sz="quarter" idx="12"/>
          </p:nvPr>
        </p:nvSpPr>
        <p:spPr/>
        <p:txBody>
          <a:bodyPr/>
          <a:lstStyle/>
          <a:p>
            <a:fld id="{7E9FE47F-82FB-42F1-933A-ED941AA4DA2A}" type="slidenum">
              <a:rPr lang="zh-CN" altLang="en-US" smtClean="0"/>
              <a:t>‹#›</a:t>
            </a:fld>
            <a:endParaRPr lang="zh-CN" altLang="en-US"/>
          </a:p>
        </p:txBody>
      </p:sp>
    </p:spTree>
    <p:extLst>
      <p:ext uri="{BB962C8B-B14F-4D97-AF65-F5344CB8AC3E}">
        <p14:creationId xmlns:p14="http://schemas.microsoft.com/office/powerpoint/2010/main" val="856333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10E838-1A21-ECCE-818F-FE2CB808DA7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2E5D98D-4013-6C60-6326-23161FFDD56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D406DAE0-1BF8-10D8-DDCE-0E325854BE33}"/>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C1B12C40-F13B-9517-982B-21E3E05509B1}"/>
              </a:ext>
            </a:extLst>
          </p:cNvPr>
          <p:cNvSpPr>
            <a:spLocks noGrp="1"/>
          </p:cNvSpPr>
          <p:nvPr>
            <p:ph type="dt" sz="half" idx="10"/>
          </p:nvPr>
        </p:nvSpPr>
        <p:spPr/>
        <p:txBody>
          <a:bodyPr/>
          <a:lstStyle/>
          <a:p>
            <a:fld id="{C4F7F091-3263-4258-9FCE-5FF00B8430B4}" type="datetimeFigureOut">
              <a:rPr lang="zh-CN" altLang="en-US" smtClean="0"/>
              <a:t>2026/9/3</a:t>
            </a:fld>
            <a:endParaRPr lang="zh-CN" altLang="en-US"/>
          </a:p>
        </p:txBody>
      </p:sp>
      <p:sp>
        <p:nvSpPr>
          <p:cNvPr id="6" name="页脚占位符 5">
            <a:extLst>
              <a:ext uri="{FF2B5EF4-FFF2-40B4-BE49-F238E27FC236}">
                <a16:creationId xmlns:a16="http://schemas.microsoft.com/office/drawing/2014/main" id="{9C47A5AD-B1C7-ABFC-94F1-F62DA2C53EC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938E721-BD89-92DE-CFB6-6C1F69B51C9F}"/>
              </a:ext>
            </a:extLst>
          </p:cNvPr>
          <p:cNvSpPr>
            <a:spLocks noGrp="1"/>
          </p:cNvSpPr>
          <p:nvPr>
            <p:ph type="sldNum" sz="quarter" idx="12"/>
          </p:nvPr>
        </p:nvSpPr>
        <p:spPr/>
        <p:txBody>
          <a:bodyPr/>
          <a:lstStyle/>
          <a:p>
            <a:fld id="{7E9FE47F-82FB-42F1-933A-ED941AA4DA2A}" type="slidenum">
              <a:rPr lang="zh-CN" altLang="en-US" smtClean="0"/>
              <a:t>‹#›</a:t>
            </a:fld>
            <a:endParaRPr lang="zh-CN" altLang="en-US"/>
          </a:p>
        </p:txBody>
      </p:sp>
    </p:spTree>
    <p:extLst>
      <p:ext uri="{BB962C8B-B14F-4D97-AF65-F5344CB8AC3E}">
        <p14:creationId xmlns:p14="http://schemas.microsoft.com/office/powerpoint/2010/main" val="27997867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6543D4-3DF3-F28C-DD69-47CEC8E8A670}"/>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2F8D797-7684-96CD-EBF6-1A95B72640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D7A8B42A-A699-62D3-E9FC-7080B681F706}"/>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1E11374-CCD3-F4E1-6951-C814906AA4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BA7D2712-8096-107E-C785-B9F4120FCC52}"/>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9BFB62B0-13DD-57B4-0210-49EDE8A584C9}"/>
              </a:ext>
            </a:extLst>
          </p:cNvPr>
          <p:cNvSpPr>
            <a:spLocks noGrp="1"/>
          </p:cNvSpPr>
          <p:nvPr>
            <p:ph type="dt" sz="half" idx="10"/>
          </p:nvPr>
        </p:nvSpPr>
        <p:spPr/>
        <p:txBody>
          <a:bodyPr/>
          <a:lstStyle/>
          <a:p>
            <a:fld id="{C4F7F091-3263-4258-9FCE-5FF00B8430B4}" type="datetimeFigureOut">
              <a:rPr lang="zh-CN" altLang="en-US" smtClean="0"/>
              <a:t>2026/9/3</a:t>
            </a:fld>
            <a:endParaRPr lang="zh-CN" altLang="en-US"/>
          </a:p>
        </p:txBody>
      </p:sp>
      <p:sp>
        <p:nvSpPr>
          <p:cNvPr id="8" name="页脚占位符 7">
            <a:extLst>
              <a:ext uri="{FF2B5EF4-FFF2-40B4-BE49-F238E27FC236}">
                <a16:creationId xmlns:a16="http://schemas.microsoft.com/office/drawing/2014/main" id="{A6C6202D-6E7C-FDBB-3026-9731F15F8188}"/>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C12C5D97-AE91-949B-85AE-26F3D6AE40DD}"/>
              </a:ext>
            </a:extLst>
          </p:cNvPr>
          <p:cNvSpPr>
            <a:spLocks noGrp="1"/>
          </p:cNvSpPr>
          <p:nvPr>
            <p:ph type="sldNum" sz="quarter" idx="12"/>
          </p:nvPr>
        </p:nvSpPr>
        <p:spPr/>
        <p:txBody>
          <a:bodyPr/>
          <a:lstStyle/>
          <a:p>
            <a:fld id="{7E9FE47F-82FB-42F1-933A-ED941AA4DA2A}" type="slidenum">
              <a:rPr lang="zh-CN" altLang="en-US" smtClean="0"/>
              <a:t>‹#›</a:t>
            </a:fld>
            <a:endParaRPr lang="zh-CN" altLang="en-US"/>
          </a:p>
        </p:txBody>
      </p:sp>
    </p:spTree>
    <p:extLst>
      <p:ext uri="{BB962C8B-B14F-4D97-AF65-F5344CB8AC3E}">
        <p14:creationId xmlns:p14="http://schemas.microsoft.com/office/powerpoint/2010/main" val="2596080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A89DEB-2BC3-0B0A-10DD-B9BDA394C802}"/>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B1F8F62-8FC9-8AFF-829A-1C67D05AA613}"/>
              </a:ext>
            </a:extLst>
          </p:cNvPr>
          <p:cNvSpPr>
            <a:spLocks noGrp="1"/>
          </p:cNvSpPr>
          <p:nvPr>
            <p:ph type="dt" sz="half" idx="10"/>
          </p:nvPr>
        </p:nvSpPr>
        <p:spPr/>
        <p:txBody>
          <a:bodyPr/>
          <a:lstStyle/>
          <a:p>
            <a:fld id="{C4F7F091-3263-4258-9FCE-5FF00B8430B4}" type="datetimeFigureOut">
              <a:rPr lang="zh-CN" altLang="en-US" smtClean="0"/>
              <a:t>2026/9/3</a:t>
            </a:fld>
            <a:endParaRPr lang="zh-CN" altLang="en-US"/>
          </a:p>
        </p:txBody>
      </p:sp>
      <p:sp>
        <p:nvSpPr>
          <p:cNvPr id="4" name="页脚占位符 3">
            <a:extLst>
              <a:ext uri="{FF2B5EF4-FFF2-40B4-BE49-F238E27FC236}">
                <a16:creationId xmlns:a16="http://schemas.microsoft.com/office/drawing/2014/main" id="{21443A0F-B432-1627-C838-120D2513D4C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807E3839-5A3F-482B-ED59-4FD4C608E750}"/>
              </a:ext>
            </a:extLst>
          </p:cNvPr>
          <p:cNvSpPr>
            <a:spLocks noGrp="1"/>
          </p:cNvSpPr>
          <p:nvPr>
            <p:ph type="sldNum" sz="quarter" idx="12"/>
          </p:nvPr>
        </p:nvSpPr>
        <p:spPr/>
        <p:txBody>
          <a:bodyPr/>
          <a:lstStyle/>
          <a:p>
            <a:fld id="{7E9FE47F-82FB-42F1-933A-ED941AA4DA2A}" type="slidenum">
              <a:rPr lang="zh-CN" altLang="en-US" smtClean="0"/>
              <a:t>‹#›</a:t>
            </a:fld>
            <a:endParaRPr lang="zh-CN" altLang="en-US"/>
          </a:p>
        </p:txBody>
      </p:sp>
    </p:spTree>
    <p:extLst>
      <p:ext uri="{BB962C8B-B14F-4D97-AF65-F5344CB8AC3E}">
        <p14:creationId xmlns:p14="http://schemas.microsoft.com/office/powerpoint/2010/main" val="25212217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AC494BC-1AB6-73F9-E9BD-85C86E11EE4C}"/>
              </a:ext>
            </a:extLst>
          </p:cNvPr>
          <p:cNvSpPr>
            <a:spLocks noGrp="1"/>
          </p:cNvSpPr>
          <p:nvPr>
            <p:ph type="dt" sz="half" idx="10"/>
          </p:nvPr>
        </p:nvSpPr>
        <p:spPr/>
        <p:txBody>
          <a:bodyPr/>
          <a:lstStyle/>
          <a:p>
            <a:fld id="{C4F7F091-3263-4258-9FCE-5FF00B8430B4}" type="datetimeFigureOut">
              <a:rPr lang="zh-CN" altLang="en-US" smtClean="0"/>
              <a:t>2026/9/3</a:t>
            </a:fld>
            <a:endParaRPr lang="zh-CN" altLang="en-US"/>
          </a:p>
        </p:txBody>
      </p:sp>
      <p:sp>
        <p:nvSpPr>
          <p:cNvPr id="3" name="页脚占位符 2">
            <a:extLst>
              <a:ext uri="{FF2B5EF4-FFF2-40B4-BE49-F238E27FC236}">
                <a16:creationId xmlns:a16="http://schemas.microsoft.com/office/drawing/2014/main" id="{FFC11F78-1482-B074-AFA0-EC7B83472C7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C53EE3A3-CC4C-B906-54AF-F83720555A5D}"/>
              </a:ext>
            </a:extLst>
          </p:cNvPr>
          <p:cNvSpPr>
            <a:spLocks noGrp="1"/>
          </p:cNvSpPr>
          <p:nvPr>
            <p:ph type="sldNum" sz="quarter" idx="12"/>
          </p:nvPr>
        </p:nvSpPr>
        <p:spPr/>
        <p:txBody>
          <a:bodyPr/>
          <a:lstStyle/>
          <a:p>
            <a:fld id="{7E9FE47F-82FB-42F1-933A-ED941AA4DA2A}" type="slidenum">
              <a:rPr lang="zh-CN" altLang="en-US" smtClean="0"/>
              <a:t>‹#›</a:t>
            </a:fld>
            <a:endParaRPr lang="zh-CN" altLang="en-US"/>
          </a:p>
        </p:txBody>
      </p:sp>
    </p:spTree>
    <p:extLst>
      <p:ext uri="{BB962C8B-B14F-4D97-AF65-F5344CB8AC3E}">
        <p14:creationId xmlns:p14="http://schemas.microsoft.com/office/powerpoint/2010/main" val="2082759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8D2CCD-B7EC-22D4-CDAE-F8CC0997EE4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FD6E5627-B5D9-7D11-7868-7713B72C67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E7AB16B3-1974-0A9B-AC64-D8E57D39E4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EC10E57-11E9-8945-3637-92A36CBBB42B}"/>
              </a:ext>
            </a:extLst>
          </p:cNvPr>
          <p:cNvSpPr>
            <a:spLocks noGrp="1"/>
          </p:cNvSpPr>
          <p:nvPr>
            <p:ph type="dt" sz="half" idx="10"/>
          </p:nvPr>
        </p:nvSpPr>
        <p:spPr/>
        <p:txBody>
          <a:bodyPr/>
          <a:lstStyle/>
          <a:p>
            <a:fld id="{C4F7F091-3263-4258-9FCE-5FF00B8430B4}" type="datetimeFigureOut">
              <a:rPr lang="zh-CN" altLang="en-US" smtClean="0"/>
              <a:t>2026/9/3</a:t>
            </a:fld>
            <a:endParaRPr lang="zh-CN" altLang="en-US"/>
          </a:p>
        </p:txBody>
      </p:sp>
      <p:sp>
        <p:nvSpPr>
          <p:cNvPr id="6" name="页脚占位符 5">
            <a:extLst>
              <a:ext uri="{FF2B5EF4-FFF2-40B4-BE49-F238E27FC236}">
                <a16:creationId xmlns:a16="http://schemas.microsoft.com/office/drawing/2014/main" id="{9F6A8002-FF26-5AC8-0FC8-965F6AAB0D2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08399A6-A3EA-9117-D91E-E7929AA1E160}"/>
              </a:ext>
            </a:extLst>
          </p:cNvPr>
          <p:cNvSpPr>
            <a:spLocks noGrp="1"/>
          </p:cNvSpPr>
          <p:nvPr>
            <p:ph type="sldNum" sz="quarter" idx="12"/>
          </p:nvPr>
        </p:nvSpPr>
        <p:spPr/>
        <p:txBody>
          <a:bodyPr/>
          <a:lstStyle/>
          <a:p>
            <a:fld id="{7E9FE47F-82FB-42F1-933A-ED941AA4DA2A}" type="slidenum">
              <a:rPr lang="zh-CN" altLang="en-US" smtClean="0"/>
              <a:t>‹#›</a:t>
            </a:fld>
            <a:endParaRPr lang="zh-CN" altLang="en-US"/>
          </a:p>
        </p:txBody>
      </p:sp>
    </p:spTree>
    <p:extLst>
      <p:ext uri="{BB962C8B-B14F-4D97-AF65-F5344CB8AC3E}">
        <p14:creationId xmlns:p14="http://schemas.microsoft.com/office/powerpoint/2010/main" val="6578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C89DC2-8ED9-9750-439E-C5107673FF4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E3DEA7D8-ECA7-5E38-3BDE-47C9A4A73B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56919E39-D5CE-24DF-B11E-DC7FF24274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ABD0AB4-673B-828D-90F5-9698CF5AAD4C}"/>
              </a:ext>
            </a:extLst>
          </p:cNvPr>
          <p:cNvSpPr>
            <a:spLocks noGrp="1"/>
          </p:cNvSpPr>
          <p:nvPr>
            <p:ph type="dt" sz="half" idx="10"/>
          </p:nvPr>
        </p:nvSpPr>
        <p:spPr/>
        <p:txBody>
          <a:bodyPr/>
          <a:lstStyle/>
          <a:p>
            <a:fld id="{C4F7F091-3263-4258-9FCE-5FF00B8430B4}" type="datetimeFigureOut">
              <a:rPr lang="zh-CN" altLang="en-US" smtClean="0"/>
              <a:t>2026/9/3</a:t>
            </a:fld>
            <a:endParaRPr lang="zh-CN" altLang="en-US"/>
          </a:p>
        </p:txBody>
      </p:sp>
      <p:sp>
        <p:nvSpPr>
          <p:cNvPr id="6" name="页脚占位符 5">
            <a:extLst>
              <a:ext uri="{FF2B5EF4-FFF2-40B4-BE49-F238E27FC236}">
                <a16:creationId xmlns:a16="http://schemas.microsoft.com/office/drawing/2014/main" id="{97CB840E-1451-ED27-249A-104A9305A6D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952C1E8-2CA2-01BA-C2EE-4CAECCDE2EF0}"/>
              </a:ext>
            </a:extLst>
          </p:cNvPr>
          <p:cNvSpPr>
            <a:spLocks noGrp="1"/>
          </p:cNvSpPr>
          <p:nvPr>
            <p:ph type="sldNum" sz="quarter" idx="12"/>
          </p:nvPr>
        </p:nvSpPr>
        <p:spPr/>
        <p:txBody>
          <a:bodyPr/>
          <a:lstStyle/>
          <a:p>
            <a:fld id="{7E9FE47F-82FB-42F1-933A-ED941AA4DA2A}" type="slidenum">
              <a:rPr lang="zh-CN" altLang="en-US" smtClean="0"/>
              <a:t>‹#›</a:t>
            </a:fld>
            <a:endParaRPr lang="zh-CN" altLang="en-US"/>
          </a:p>
        </p:txBody>
      </p:sp>
    </p:spTree>
    <p:extLst>
      <p:ext uri="{BB962C8B-B14F-4D97-AF65-F5344CB8AC3E}">
        <p14:creationId xmlns:p14="http://schemas.microsoft.com/office/powerpoint/2010/main" val="30268413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988FE2-C107-7A41-CBBA-C072005D2AB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8F976094-0A3C-0EAC-BB9A-C5AE0069CD8B}"/>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78B739F-74CE-34D5-B6B4-E8A431B1687B}"/>
              </a:ext>
            </a:extLst>
          </p:cNvPr>
          <p:cNvSpPr>
            <a:spLocks noGrp="1"/>
          </p:cNvSpPr>
          <p:nvPr>
            <p:ph type="dt" sz="half" idx="10"/>
          </p:nvPr>
        </p:nvSpPr>
        <p:spPr/>
        <p:txBody>
          <a:bodyPr/>
          <a:lstStyle/>
          <a:p>
            <a:fld id="{C4F7F091-3263-4258-9FCE-5FF00B8430B4}" type="datetimeFigureOut">
              <a:rPr lang="zh-CN" altLang="en-US" smtClean="0"/>
              <a:t>2026/9/3</a:t>
            </a:fld>
            <a:endParaRPr lang="zh-CN" altLang="en-US"/>
          </a:p>
        </p:txBody>
      </p:sp>
      <p:sp>
        <p:nvSpPr>
          <p:cNvPr id="5" name="页脚占位符 4">
            <a:extLst>
              <a:ext uri="{FF2B5EF4-FFF2-40B4-BE49-F238E27FC236}">
                <a16:creationId xmlns:a16="http://schemas.microsoft.com/office/drawing/2014/main" id="{7FED4CF3-1EDD-6589-4B37-4738329FA82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4822275-8786-CE25-EC72-9900E37E6122}"/>
              </a:ext>
            </a:extLst>
          </p:cNvPr>
          <p:cNvSpPr>
            <a:spLocks noGrp="1"/>
          </p:cNvSpPr>
          <p:nvPr>
            <p:ph type="sldNum" sz="quarter" idx="12"/>
          </p:nvPr>
        </p:nvSpPr>
        <p:spPr/>
        <p:txBody>
          <a:bodyPr/>
          <a:lstStyle/>
          <a:p>
            <a:fld id="{7E9FE47F-82FB-42F1-933A-ED941AA4DA2A}" type="slidenum">
              <a:rPr lang="zh-CN" altLang="en-US" smtClean="0"/>
              <a:t>‹#›</a:t>
            </a:fld>
            <a:endParaRPr lang="zh-CN" altLang="en-US"/>
          </a:p>
        </p:txBody>
      </p:sp>
    </p:spTree>
    <p:extLst>
      <p:ext uri="{BB962C8B-B14F-4D97-AF65-F5344CB8AC3E}">
        <p14:creationId xmlns:p14="http://schemas.microsoft.com/office/powerpoint/2010/main" val="42465631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92729E18-2B02-27DD-894C-68F54A93332F}"/>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103E3B8-1D0E-3619-0993-23CDDE8C447C}"/>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8CA00DF-8F48-BFA5-CA77-230D11974A36}"/>
              </a:ext>
            </a:extLst>
          </p:cNvPr>
          <p:cNvSpPr>
            <a:spLocks noGrp="1"/>
          </p:cNvSpPr>
          <p:nvPr>
            <p:ph type="dt" sz="half" idx="10"/>
          </p:nvPr>
        </p:nvSpPr>
        <p:spPr/>
        <p:txBody>
          <a:bodyPr/>
          <a:lstStyle/>
          <a:p>
            <a:fld id="{C4F7F091-3263-4258-9FCE-5FF00B8430B4}" type="datetimeFigureOut">
              <a:rPr lang="zh-CN" altLang="en-US" smtClean="0"/>
              <a:t>2026/9/3</a:t>
            </a:fld>
            <a:endParaRPr lang="zh-CN" altLang="en-US"/>
          </a:p>
        </p:txBody>
      </p:sp>
      <p:sp>
        <p:nvSpPr>
          <p:cNvPr id="5" name="页脚占位符 4">
            <a:extLst>
              <a:ext uri="{FF2B5EF4-FFF2-40B4-BE49-F238E27FC236}">
                <a16:creationId xmlns:a16="http://schemas.microsoft.com/office/drawing/2014/main" id="{BDEFCEC7-B5DE-770F-CE46-86DB9D1BA39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FD9F685-D978-F711-A359-206083785797}"/>
              </a:ext>
            </a:extLst>
          </p:cNvPr>
          <p:cNvSpPr>
            <a:spLocks noGrp="1"/>
          </p:cNvSpPr>
          <p:nvPr>
            <p:ph type="sldNum" sz="quarter" idx="12"/>
          </p:nvPr>
        </p:nvSpPr>
        <p:spPr/>
        <p:txBody>
          <a:bodyPr/>
          <a:lstStyle/>
          <a:p>
            <a:fld id="{7E9FE47F-82FB-42F1-933A-ED941AA4DA2A}" type="slidenum">
              <a:rPr lang="zh-CN" altLang="en-US" smtClean="0"/>
              <a:t>‹#›</a:t>
            </a:fld>
            <a:endParaRPr lang="zh-CN" altLang="en-US"/>
          </a:p>
        </p:txBody>
      </p:sp>
    </p:spTree>
    <p:extLst>
      <p:ext uri="{BB962C8B-B14F-4D97-AF65-F5344CB8AC3E}">
        <p14:creationId xmlns:p14="http://schemas.microsoft.com/office/powerpoint/2010/main" val="26017823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noProof="1"/>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p>
        </p:txBody>
      </p:sp>
      <p:sp>
        <p:nvSpPr>
          <p:cNvPr id="4" name="Rectangle 9">
            <a:extLst>
              <a:ext uri="{FF2B5EF4-FFF2-40B4-BE49-F238E27FC236}">
                <a16:creationId xmlns:a16="http://schemas.microsoft.com/office/drawing/2014/main" id="{350E9885-65C5-C721-79C5-E13EE11067EF}"/>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0">
            <a:extLst>
              <a:ext uri="{FF2B5EF4-FFF2-40B4-BE49-F238E27FC236}">
                <a16:creationId xmlns:a16="http://schemas.microsoft.com/office/drawing/2014/main" id="{2E3A94DC-4871-7B14-90AC-E7058F7FEAD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1">
            <a:extLst>
              <a:ext uri="{FF2B5EF4-FFF2-40B4-BE49-F238E27FC236}">
                <a16:creationId xmlns:a16="http://schemas.microsoft.com/office/drawing/2014/main" id="{A51C82B9-9300-9371-7CE8-DA98FCFF8A8B}"/>
              </a:ext>
            </a:extLst>
          </p:cNvPr>
          <p:cNvSpPr>
            <a:spLocks noGrp="1" noChangeArrowheads="1"/>
          </p:cNvSpPr>
          <p:nvPr>
            <p:ph type="sldNum" sz="quarter" idx="12"/>
          </p:nvPr>
        </p:nvSpPr>
        <p:spPr>
          <a:ln/>
        </p:spPr>
        <p:txBody>
          <a:bodyPr/>
          <a:lstStyle>
            <a:lvl1pPr>
              <a:defRPr/>
            </a:lvl1pPr>
          </a:lstStyle>
          <a:p>
            <a:pPr>
              <a:defRPr/>
            </a:pPr>
            <a:fld id="{7F050C7A-1163-4EED-89C5-AE07EF3AA92B}" type="slidenum">
              <a:rPr lang="en-US" altLang="zh-CN"/>
              <a:pPr>
                <a:defRPr/>
              </a:pPr>
              <a:t>‹#›</a:t>
            </a:fld>
            <a:endParaRPr lang="en-US" altLang="zh-CN"/>
          </a:p>
        </p:txBody>
      </p:sp>
    </p:spTree>
    <p:extLst>
      <p:ext uri="{BB962C8B-B14F-4D97-AF65-F5344CB8AC3E}">
        <p14:creationId xmlns:p14="http://schemas.microsoft.com/office/powerpoint/2010/main" val="2442293682"/>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9">
            <a:extLst>
              <a:ext uri="{FF2B5EF4-FFF2-40B4-BE49-F238E27FC236}">
                <a16:creationId xmlns:a16="http://schemas.microsoft.com/office/drawing/2014/main" id="{E38D9FBD-440F-131E-D6E9-81826FB535C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0">
            <a:extLst>
              <a:ext uri="{FF2B5EF4-FFF2-40B4-BE49-F238E27FC236}">
                <a16:creationId xmlns:a16="http://schemas.microsoft.com/office/drawing/2014/main" id="{B0BE738A-F2DB-B1AC-22CE-4D584058B83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1">
            <a:extLst>
              <a:ext uri="{FF2B5EF4-FFF2-40B4-BE49-F238E27FC236}">
                <a16:creationId xmlns:a16="http://schemas.microsoft.com/office/drawing/2014/main" id="{BA523C8A-537D-E052-C91C-1BA81EE96E32}"/>
              </a:ext>
            </a:extLst>
          </p:cNvPr>
          <p:cNvSpPr>
            <a:spLocks noGrp="1" noChangeArrowheads="1"/>
          </p:cNvSpPr>
          <p:nvPr>
            <p:ph type="sldNum" sz="quarter" idx="12"/>
          </p:nvPr>
        </p:nvSpPr>
        <p:spPr>
          <a:ln/>
        </p:spPr>
        <p:txBody>
          <a:bodyPr/>
          <a:lstStyle>
            <a:lvl1pPr>
              <a:defRPr/>
            </a:lvl1pPr>
          </a:lstStyle>
          <a:p>
            <a:pPr>
              <a:defRPr/>
            </a:pPr>
            <a:fld id="{CCB71338-4FC4-452B-AD7B-7E2AACDB409C}" type="slidenum">
              <a:rPr lang="en-US" altLang="zh-CN"/>
              <a:pPr>
                <a:defRPr/>
              </a:pPr>
              <a:t>‹#›</a:t>
            </a:fld>
            <a:endParaRPr lang="en-US" altLang="zh-CN"/>
          </a:p>
        </p:txBody>
      </p:sp>
    </p:spTree>
    <p:extLst>
      <p:ext uri="{BB962C8B-B14F-4D97-AF65-F5344CB8AC3E}">
        <p14:creationId xmlns:p14="http://schemas.microsoft.com/office/powerpoint/2010/main" val="877413787"/>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9">
            <a:extLst>
              <a:ext uri="{FF2B5EF4-FFF2-40B4-BE49-F238E27FC236}">
                <a16:creationId xmlns:a16="http://schemas.microsoft.com/office/drawing/2014/main" id="{7529E9D8-F8B5-BB49-D5D3-297F51030D8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0">
            <a:extLst>
              <a:ext uri="{FF2B5EF4-FFF2-40B4-BE49-F238E27FC236}">
                <a16:creationId xmlns:a16="http://schemas.microsoft.com/office/drawing/2014/main" id="{DFA0FE7B-2115-C2DA-43BC-0E985DE6484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1">
            <a:extLst>
              <a:ext uri="{FF2B5EF4-FFF2-40B4-BE49-F238E27FC236}">
                <a16:creationId xmlns:a16="http://schemas.microsoft.com/office/drawing/2014/main" id="{57EAC1DA-666C-7DA9-5343-D7407800EAC9}"/>
              </a:ext>
            </a:extLst>
          </p:cNvPr>
          <p:cNvSpPr>
            <a:spLocks noGrp="1" noChangeArrowheads="1"/>
          </p:cNvSpPr>
          <p:nvPr>
            <p:ph type="sldNum" sz="quarter" idx="12"/>
          </p:nvPr>
        </p:nvSpPr>
        <p:spPr>
          <a:ln/>
        </p:spPr>
        <p:txBody>
          <a:bodyPr/>
          <a:lstStyle>
            <a:lvl1pPr>
              <a:defRPr/>
            </a:lvl1pPr>
          </a:lstStyle>
          <a:p>
            <a:pPr>
              <a:defRPr/>
            </a:pPr>
            <a:fld id="{5270163E-2C89-4D68-93EA-990553CA7B4F}" type="slidenum">
              <a:rPr lang="en-US" altLang="zh-CN"/>
              <a:pPr>
                <a:defRPr/>
              </a:pPr>
              <a:t>‹#›</a:t>
            </a:fld>
            <a:endParaRPr lang="en-US" altLang="zh-CN"/>
          </a:p>
        </p:txBody>
      </p:sp>
    </p:spTree>
    <p:extLst>
      <p:ext uri="{BB962C8B-B14F-4D97-AF65-F5344CB8AC3E}">
        <p14:creationId xmlns:p14="http://schemas.microsoft.com/office/powerpoint/2010/main" val="2377772712"/>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1219200" y="1600201"/>
            <a:ext cx="508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6502400" y="1600201"/>
            <a:ext cx="508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9">
            <a:extLst>
              <a:ext uri="{FF2B5EF4-FFF2-40B4-BE49-F238E27FC236}">
                <a16:creationId xmlns:a16="http://schemas.microsoft.com/office/drawing/2014/main" id="{467BF927-CFFC-F2A5-AE1E-EEACA47DDE31}"/>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0">
            <a:extLst>
              <a:ext uri="{FF2B5EF4-FFF2-40B4-BE49-F238E27FC236}">
                <a16:creationId xmlns:a16="http://schemas.microsoft.com/office/drawing/2014/main" id="{F395F5C0-42E5-EBF8-F624-0FA99237E2C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1">
            <a:extLst>
              <a:ext uri="{FF2B5EF4-FFF2-40B4-BE49-F238E27FC236}">
                <a16:creationId xmlns:a16="http://schemas.microsoft.com/office/drawing/2014/main" id="{4B255BC8-8FA3-1300-33EB-9A7C5319AADE}"/>
              </a:ext>
            </a:extLst>
          </p:cNvPr>
          <p:cNvSpPr>
            <a:spLocks noGrp="1" noChangeArrowheads="1"/>
          </p:cNvSpPr>
          <p:nvPr>
            <p:ph type="sldNum" sz="quarter" idx="12"/>
          </p:nvPr>
        </p:nvSpPr>
        <p:spPr>
          <a:ln/>
        </p:spPr>
        <p:txBody>
          <a:bodyPr/>
          <a:lstStyle>
            <a:lvl1pPr>
              <a:defRPr/>
            </a:lvl1pPr>
          </a:lstStyle>
          <a:p>
            <a:pPr>
              <a:defRPr/>
            </a:pPr>
            <a:fld id="{0B0EB55E-193D-42F8-A9DC-5F5678AFAF16}" type="slidenum">
              <a:rPr lang="en-US" altLang="zh-CN"/>
              <a:pPr>
                <a:defRPr/>
              </a:pPr>
              <a:t>‹#›</a:t>
            </a:fld>
            <a:endParaRPr lang="en-US" altLang="zh-CN"/>
          </a:p>
        </p:txBody>
      </p:sp>
    </p:spTree>
    <p:extLst>
      <p:ext uri="{BB962C8B-B14F-4D97-AF65-F5344CB8AC3E}">
        <p14:creationId xmlns:p14="http://schemas.microsoft.com/office/powerpoint/2010/main" val="955101687"/>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9">
            <a:extLst>
              <a:ext uri="{FF2B5EF4-FFF2-40B4-BE49-F238E27FC236}">
                <a16:creationId xmlns:a16="http://schemas.microsoft.com/office/drawing/2014/main" id="{30A7E11D-F095-709D-1F04-9BE4337D43D4}"/>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10">
            <a:extLst>
              <a:ext uri="{FF2B5EF4-FFF2-40B4-BE49-F238E27FC236}">
                <a16:creationId xmlns:a16="http://schemas.microsoft.com/office/drawing/2014/main" id="{7B975E4D-9B29-3B7A-F832-B6B3376770F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11">
            <a:extLst>
              <a:ext uri="{FF2B5EF4-FFF2-40B4-BE49-F238E27FC236}">
                <a16:creationId xmlns:a16="http://schemas.microsoft.com/office/drawing/2014/main" id="{441E4444-1C32-3C5C-EDF8-4314834F71C8}"/>
              </a:ext>
            </a:extLst>
          </p:cNvPr>
          <p:cNvSpPr>
            <a:spLocks noGrp="1" noChangeArrowheads="1"/>
          </p:cNvSpPr>
          <p:nvPr>
            <p:ph type="sldNum" sz="quarter" idx="12"/>
          </p:nvPr>
        </p:nvSpPr>
        <p:spPr>
          <a:ln/>
        </p:spPr>
        <p:txBody>
          <a:bodyPr/>
          <a:lstStyle>
            <a:lvl1pPr>
              <a:defRPr/>
            </a:lvl1pPr>
          </a:lstStyle>
          <a:p>
            <a:pPr>
              <a:defRPr/>
            </a:pPr>
            <a:fld id="{DC16F83A-AD11-416C-A98E-0814E5B73F79}" type="slidenum">
              <a:rPr lang="en-US" altLang="zh-CN"/>
              <a:pPr>
                <a:defRPr/>
              </a:pPr>
              <a:t>‹#›</a:t>
            </a:fld>
            <a:endParaRPr lang="en-US" altLang="zh-CN"/>
          </a:p>
        </p:txBody>
      </p:sp>
    </p:spTree>
    <p:extLst>
      <p:ext uri="{BB962C8B-B14F-4D97-AF65-F5344CB8AC3E}">
        <p14:creationId xmlns:p14="http://schemas.microsoft.com/office/powerpoint/2010/main" val="3868280273"/>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9">
            <a:extLst>
              <a:ext uri="{FF2B5EF4-FFF2-40B4-BE49-F238E27FC236}">
                <a16:creationId xmlns:a16="http://schemas.microsoft.com/office/drawing/2014/main" id="{C5A6444A-8F0F-7314-72E4-4A19528B0B48}"/>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10">
            <a:extLst>
              <a:ext uri="{FF2B5EF4-FFF2-40B4-BE49-F238E27FC236}">
                <a16:creationId xmlns:a16="http://schemas.microsoft.com/office/drawing/2014/main" id="{04656287-EA12-AB56-81A0-52D3F6D6F6D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11">
            <a:extLst>
              <a:ext uri="{FF2B5EF4-FFF2-40B4-BE49-F238E27FC236}">
                <a16:creationId xmlns:a16="http://schemas.microsoft.com/office/drawing/2014/main" id="{E0C094BC-5D4C-D558-0B63-6E63FB49BCCF}"/>
              </a:ext>
            </a:extLst>
          </p:cNvPr>
          <p:cNvSpPr>
            <a:spLocks noGrp="1" noChangeArrowheads="1"/>
          </p:cNvSpPr>
          <p:nvPr>
            <p:ph type="sldNum" sz="quarter" idx="12"/>
          </p:nvPr>
        </p:nvSpPr>
        <p:spPr>
          <a:ln/>
        </p:spPr>
        <p:txBody>
          <a:bodyPr/>
          <a:lstStyle>
            <a:lvl1pPr>
              <a:defRPr/>
            </a:lvl1pPr>
          </a:lstStyle>
          <a:p>
            <a:pPr>
              <a:defRPr/>
            </a:pPr>
            <a:fld id="{4E604BEF-5275-426D-97E8-BB113984765D}" type="slidenum">
              <a:rPr lang="en-US" altLang="zh-CN"/>
              <a:pPr>
                <a:defRPr/>
              </a:pPr>
              <a:t>‹#›</a:t>
            </a:fld>
            <a:endParaRPr lang="en-US" altLang="zh-CN"/>
          </a:p>
        </p:txBody>
      </p:sp>
    </p:spTree>
    <p:extLst>
      <p:ext uri="{BB962C8B-B14F-4D97-AF65-F5344CB8AC3E}">
        <p14:creationId xmlns:p14="http://schemas.microsoft.com/office/powerpoint/2010/main" val="3298072322"/>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E7B0CFEE-4965-4EE8-1270-0A1D19F7C6DD}"/>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10">
            <a:extLst>
              <a:ext uri="{FF2B5EF4-FFF2-40B4-BE49-F238E27FC236}">
                <a16:creationId xmlns:a16="http://schemas.microsoft.com/office/drawing/2014/main" id="{E423074F-B98A-070C-C6A2-9DEDF2B6F8B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11">
            <a:extLst>
              <a:ext uri="{FF2B5EF4-FFF2-40B4-BE49-F238E27FC236}">
                <a16:creationId xmlns:a16="http://schemas.microsoft.com/office/drawing/2014/main" id="{8F909A00-162E-D3E7-0609-9E83BD3CE4D0}"/>
              </a:ext>
            </a:extLst>
          </p:cNvPr>
          <p:cNvSpPr>
            <a:spLocks noGrp="1" noChangeArrowheads="1"/>
          </p:cNvSpPr>
          <p:nvPr>
            <p:ph type="sldNum" sz="quarter" idx="12"/>
          </p:nvPr>
        </p:nvSpPr>
        <p:spPr>
          <a:ln/>
        </p:spPr>
        <p:txBody>
          <a:bodyPr/>
          <a:lstStyle>
            <a:lvl1pPr>
              <a:defRPr/>
            </a:lvl1pPr>
          </a:lstStyle>
          <a:p>
            <a:pPr>
              <a:defRPr/>
            </a:pPr>
            <a:fld id="{96CD32F1-49E5-42B2-968A-A20E2EC2544C}" type="slidenum">
              <a:rPr lang="en-US" altLang="zh-CN"/>
              <a:pPr>
                <a:defRPr/>
              </a:pPr>
              <a:t>‹#›</a:t>
            </a:fld>
            <a:endParaRPr lang="en-US" altLang="zh-CN"/>
          </a:p>
        </p:txBody>
      </p:sp>
    </p:spTree>
    <p:extLst>
      <p:ext uri="{BB962C8B-B14F-4D97-AF65-F5344CB8AC3E}">
        <p14:creationId xmlns:p14="http://schemas.microsoft.com/office/powerpoint/2010/main" val="274742875"/>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9">
            <a:extLst>
              <a:ext uri="{FF2B5EF4-FFF2-40B4-BE49-F238E27FC236}">
                <a16:creationId xmlns:a16="http://schemas.microsoft.com/office/drawing/2014/main" id="{94D007E7-77E9-67EB-EF38-99D0B5905948}"/>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0">
            <a:extLst>
              <a:ext uri="{FF2B5EF4-FFF2-40B4-BE49-F238E27FC236}">
                <a16:creationId xmlns:a16="http://schemas.microsoft.com/office/drawing/2014/main" id="{7D987D30-622D-FFBE-C2EF-934DA5A874C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1">
            <a:extLst>
              <a:ext uri="{FF2B5EF4-FFF2-40B4-BE49-F238E27FC236}">
                <a16:creationId xmlns:a16="http://schemas.microsoft.com/office/drawing/2014/main" id="{05DD7B1A-439C-F27E-7B0D-802553AA12BE}"/>
              </a:ext>
            </a:extLst>
          </p:cNvPr>
          <p:cNvSpPr>
            <a:spLocks noGrp="1" noChangeArrowheads="1"/>
          </p:cNvSpPr>
          <p:nvPr>
            <p:ph type="sldNum" sz="quarter" idx="12"/>
          </p:nvPr>
        </p:nvSpPr>
        <p:spPr>
          <a:ln/>
        </p:spPr>
        <p:txBody>
          <a:bodyPr/>
          <a:lstStyle>
            <a:lvl1pPr>
              <a:defRPr/>
            </a:lvl1pPr>
          </a:lstStyle>
          <a:p>
            <a:pPr>
              <a:defRPr/>
            </a:pPr>
            <a:fld id="{F3DE5DAB-922D-4E0B-AAD2-EB5B1059B874}" type="slidenum">
              <a:rPr lang="en-US" altLang="zh-CN"/>
              <a:pPr>
                <a:defRPr/>
              </a:pPr>
              <a:t>‹#›</a:t>
            </a:fld>
            <a:endParaRPr lang="en-US" altLang="zh-CN"/>
          </a:p>
        </p:txBody>
      </p:sp>
    </p:spTree>
    <p:extLst>
      <p:ext uri="{BB962C8B-B14F-4D97-AF65-F5344CB8AC3E}">
        <p14:creationId xmlns:p14="http://schemas.microsoft.com/office/powerpoint/2010/main" val="1211952155"/>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9">
            <a:extLst>
              <a:ext uri="{FF2B5EF4-FFF2-40B4-BE49-F238E27FC236}">
                <a16:creationId xmlns:a16="http://schemas.microsoft.com/office/drawing/2014/main" id="{5F88334B-7D05-B049-B29C-CB12DD86F807}"/>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0">
            <a:extLst>
              <a:ext uri="{FF2B5EF4-FFF2-40B4-BE49-F238E27FC236}">
                <a16:creationId xmlns:a16="http://schemas.microsoft.com/office/drawing/2014/main" id="{1B50F314-3B9D-378B-F8DC-DC2C24C9A03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1">
            <a:extLst>
              <a:ext uri="{FF2B5EF4-FFF2-40B4-BE49-F238E27FC236}">
                <a16:creationId xmlns:a16="http://schemas.microsoft.com/office/drawing/2014/main" id="{A60D9CF0-5A95-7DDE-7A6D-1E89393F30AB}"/>
              </a:ext>
            </a:extLst>
          </p:cNvPr>
          <p:cNvSpPr>
            <a:spLocks noGrp="1" noChangeArrowheads="1"/>
          </p:cNvSpPr>
          <p:nvPr>
            <p:ph type="sldNum" sz="quarter" idx="12"/>
          </p:nvPr>
        </p:nvSpPr>
        <p:spPr>
          <a:ln/>
        </p:spPr>
        <p:txBody>
          <a:bodyPr/>
          <a:lstStyle>
            <a:lvl1pPr>
              <a:defRPr/>
            </a:lvl1pPr>
          </a:lstStyle>
          <a:p>
            <a:pPr>
              <a:defRPr/>
            </a:pPr>
            <a:fld id="{F6AAB924-4932-4941-8E93-17368CF36EE1}" type="slidenum">
              <a:rPr lang="en-US" altLang="zh-CN"/>
              <a:pPr>
                <a:defRPr/>
              </a:pPr>
              <a:t>‹#›</a:t>
            </a:fld>
            <a:endParaRPr lang="en-US" altLang="zh-CN"/>
          </a:p>
        </p:txBody>
      </p:sp>
    </p:spTree>
    <p:extLst>
      <p:ext uri="{BB962C8B-B14F-4D97-AF65-F5344CB8AC3E}">
        <p14:creationId xmlns:p14="http://schemas.microsoft.com/office/powerpoint/2010/main" val="2366961033"/>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9">
            <a:extLst>
              <a:ext uri="{FF2B5EF4-FFF2-40B4-BE49-F238E27FC236}">
                <a16:creationId xmlns:a16="http://schemas.microsoft.com/office/drawing/2014/main" id="{15F1524E-C6AC-3D64-E82C-2FC56172937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0">
            <a:extLst>
              <a:ext uri="{FF2B5EF4-FFF2-40B4-BE49-F238E27FC236}">
                <a16:creationId xmlns:a16="http://schemas.microsoft.com/office/drawing/2014/main" id="{4BCEC478-0102-74B5-8E88-CAA18FFEBCE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1">
            <a:extLst>
              <a:ext uri="{FF2B5EF4-FFF2-40B4-BE49-F238E27FC236}">
                <a16:creationId xmlns:a16="http://schemas.microsoft.com/office/drawing/2014/main" id="{A48FEF4C-C740-AAE0-17CC-185A8FE01D72}"/>
              </a:ext>
            </a:extLst>
          </p:cNvPr>
          <p:cNvSpPr>
            <a:spLocks noGrp="1" noChangeArrowheads="1"/>
          </p:cNvSpPr>
          <p:nvPr>
            <p:ph type="sldNum" sz="quarter" idx="12"/>
          </p:nvPr>
        </p:nvSpPr>
        <p:spPr>
          <a:ln/>
        </p:spPr>
        <p:txBody>
          <a:bodyPr/>
          <a:lstStyle>
            <a:lvl1pPr>
              <a:defRPr/>
            </a:lvl1pPr>
          </a:lstStyle>
          <a:p>
            <a:pPr>
              <a:defRPr/>
            </a:pPr>
            <a:fld id="{E11969C5-A913-4655-8A11-23CE0C4FE711}" type="slidenum">
              <a:rPr lang="en-US" altLang="zh-CN"/>
              <a:pPr>
                <a:defRPr/>
              </a:pPr>
              <a:t>‹#›</a:t>
            </a:fld>
            <a:endParaRPr lang="en-US" altLang="zh-CN"/>
          </a:p>
        </p:txBody>
      </p:sp>
    </p:spTree>
    <p:extLst>
      <p:ext uri="{BB962C8B-B14F-4D97-AF65-F5344CB8AC3E}">
        <p14:creationId xmlns:p14="http://schemas.microsoft.com/office/powerpoint/2010/main" val="2415428660"/>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91600" y="277813"/>
            <a:ext cx="2590800" cy="5853112"/>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1219200" y="277813"/>
            <a:ext cx="7569200" cy="5853112"/>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9">
            <a:extLst>
              <a:ext uri="{FF2B5EF4-FFF2-40B4-BE49-F238E27FC236}">
                <a16:creationId xmlns:a16="http://schemas.microsoft.com/office/drawing/2014/main" id="{988BB914-4336-AE81-0EAB-242480DA143E}"/>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0">
            <a:extLst>
              <a:ext uri="{FF2B5EF4-FFF2-40B4-BE49-F238E27FC236}">
                <a16:creationId xmlns:a16="http://schemas.microsoft.com/office/drawing/2014/main" id="{AF3B29A9-10CB-7FCB-5567-BC425728DE4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1">
            <a:extLst>
              <a:ext uri="{FF2B5EF4-FFF2-40B4-BE49-F238E27FC236}">
                <a16:creationId xmlns:a16="http://schemas.microsoft.com/office/drawing/2014/main" id="{4901CDD0-C13C-F76C-F004-79BC67F0930D}"/>
              </a:ext>
            </a:extLst>
          </p:cNvPr>
          <p:cNvSpPr>
            <a:spLocks noGrp="1" noChangeArrowheads="1"/>
          </p:cNvSpPr>
          <p:nvPr>
            <p:ph type="sldNum" sz="quarter" idx="12"/>
          </p:nvPr>
        </p:nvSpPr>
        <p:spPr>
          <a:ln/>
        </p:spPr>
        <p:txBody>
          <a:bodyPr/>
          <a:lstStyle>
            <a:lvl1pPr>
              <a:defRPr/>
            </a:lvl1pPr>
          </a:lstStyle>
          <a:p>
            <a:pPr>
              <a:defRPr/>
            </a:pPr>
            <a:fld id="{4C29513E-567F-46F0-BA6A-14370C4911A8}" type="slidenum">
              <a:rPr lang="en-US" altLang="zh-CN"/>
              <a:pPr>
                <a:defRPr/>
              </a:pPr>
              <a:t>‹#›</a:t>
            </a:fld>
            <a:endParaRPr lang="en-US" altLang="zh-CN"/>
          </a:p>
        </p:txBody>
      </p:sp>
    </p:spTree>
    <p:extLst>
      <p:ext uri="{BB962C8B-B14F-4D97-AF65-F5344CB8AC3E}">
        <p14:creationId xmlns:p14="http://schemas.microsoft.com/office/powerpoint/2010/main" val="1628995388"/>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gif"/><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57B44E0-170F-6B72-4F1A-50018FE6AB1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8ECFF3E1-BAB7-1497-4908-19443C6070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970C8E3-A9D5-BC30-785A-896A104F91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F7F091-3263-4258-9FCE-5FF00B8430B4}" type="datetimeFigureOut">
              <a:rPr lang="zh-CN" altLang="en-US" smtClean="0"/>
              <a:t>2026/9/3</a:t>
            </a:fld>
            <a:endParaRPr lang="zh-CN" altLang="en-US"/>
          </a:p>
        </p:txBody>
      </p:sp>
      <p:sp>
        <p:nvSpPr>
          <p:cNvPr id="5" name="页脚占位符 4">
            <a:extLst>
              <a:ext uri="{FF2B5EF4-FFF2-40B4-BE49-F238E27FC236}">
                <a16:creationId xmlns:a16="http://schemas.microsoft.com/office/drawing/2014/main" id="{F69183DB-51D0-A301-55F2-A5F302E6E1B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32F5ABB-BCFA-6619-C7A0-46EE78943B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9FE47F-82FB-42F1-933A-ED941AA4DA2A}" type="slidenum">
              <a:rPr lang="zh-CN" altLang="en-US" smtClean="0"/>
              <a:t>‹#›</a:t>
            </a:fld>
            <a:endParaRPr lang="zh-CN" altLang="en-US"/>
          </a:p>
        </p:txBody>
      </p:sp>
    </p:spTree>
    <p:extLst>
      <p:ext uri="{BB962C8B-B14F-4D97-AF65-F5344CB8AC3E}">
        <p14:creationId xmlns:p14="http://schemas.microsoft.com/office/powerpoint/2010/main" val="25465537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rgbClr val="FFFFCC"/>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7CC7224B-2E95-D493-6342-63636E432275}"/>
              </a:ext>
            </a:extLst>
          </p:cNvPr>
          <p:cNvGrpSpPr>
            <a:grpSpLocks/>
          </p:cNvGrpSpPr>
          <p:nvPr/>
        </p:nvGrpSpPr>
        <p:grpSpPr bwMode="auto">
          <a:xfrm>
            <a:off x="0" y="0"/>
            <a:ext cx="11582400" cy="4876800"/>
            <a:chOff x="0" y="0"/>
            <a:chExt cx="5472" cy="3072"/>
          </a:xfrm>
        </p:grpSpPr>
        <p:sp>
          <p:nvSpPr>
            <p:cNvPr id="2" name="Rectangle 3">
              <a:extLst>
                <a:ext uri="{FF2B5EF4-FFF2-40B4-BE49-F238E27FC236}">
                  <a16:creationId xmlns:a16="http://schemas.microsoft.com/office/drawing/2014/main" id="{E743ED5A-A3E9-046D-7CE5-00E934ABB8FD}"/>
                </a:ext>
              </a:extLst>
            </p:cNvPr>
            <p:cNvSpPr>
              <a:spLocks noChangeArrowheads="1"/>
            </p:cNvSpPr>
            <p:nvPr/>
          </p:nvSpPr>
          <p:spPr bwMode="auto">
            <a:xfrm>
              <a:off x="0" y="0"/>
              <a:ext cx="384" cy="3072"/>
            </a:xfrm>
            <a:prstGeom prst="rect">
              <a:avLst/>
            </a:prstGeom>
            <a:solidFill>
              <a:schemeClr val="accent1"/>
            </a:solidFill>
            <a:ln>
              <a:noFill/>
            </a:ln>
          </p:spPr>
          <p:txBody>
            <a:bodyPr wrap="none" anchor="ctr"/>
            <a:lstStyle>
              <a:lvl1pPr eaLnBrk="0" hangingPunct="0">
                <a:defRPr sz="2400" b="1">
                  <a:solidFill>
                    <a:schemeClr val="tx2"/>
                  </a:solidFill>
                  <a:latin typeface="Times New Roman" panose="02020603050405020304" pitchFamily="18" charset="0"/>
                  <a:ea typeface="楷体_GB2312" pitchFamily="49" charset="-122"/>
                </a:defRPr>
              </a:lvl1pPr>
              <a:lvl2pPr marL="742950" indent="-285750" eaLnBrk="0" hangingPunct="0">
                <a:defRPr sz="2400" b="1">
                  <a:solidFill>
                    <a:schemeClr val="tx2"/>
                  </a:solidFill>
                  <a:latin typeface="Times New Roman" panose="02020603050405020304" pitchFamily="18" charset="0"/>
                  <a:ea typeface="楷体_GB2312" pitchFamily="49" charset="-122"/>
                </a:defRPr>
              </a:lvl2pPr>
              <a:lvl3pPr marL="1143000" indent="-228600" eaLnBrk="0" hangingPunct="0">
                <a:defRPr sz="2400" b="1">
                  <a:solidFill>
                    <a:schemeClr val="tx2"/>
                  </a:solidFill>
                  <a:latin typeface="Times New Roman" panose="02020603050405020304" pitchFamily="18" charset="0"/>
                  <a:ea typeface="楷体_GB2312" pitchFamily="49" charset="-122"/>
                </a:defRPr>
              </a:lvl3pPr>
              <a:lvl4pPr marL="1600200" indent="-228600" eaLnBrk="0" hangingPunct="0">
                <a:defRPr sz="2400" b="1">
                  <a:solidFill>
                    <a:schemeClr val="tx2"/>
                  </a:solidFill>
                  <a:latin typeface="Times New Roman" panose="02020603050405020304" pitchFamily="18" charset="0"/>
                  <a:ea typeface="楷体_GB2312" pitchFamily="49" charset="-122"/>
                </a:defRPr>
              </a:lvl4pPr>
              <a:lvl5pPr marL="2057400" indent="-228600" eaLnBrk="0" hangingPunct="0">
                <a:defRPr sz="2400" b="1">
                  <a:solidFill>
                    <a:schemeClr val="tx2"/>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buFont typeface="Arial" panose="020B0604020202020204" pitchFamily="34" charset="0"/>
                <a:defRPr sz="2400" b="1">
                  <a:solidFill>
                    <a:schemeClr val="tx2"/>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buFont typeface="Arial" panose="020B0604020202020204" pitchFamily="34" charset="0"/>
                <a:defRPr sz="2400" b="1">
                  <a:solidFill>
                    <a:schemeClr val="tx2"/>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buFont typeface="Arial" panose="020B0604020202020204" pitchFamily="34" charset="0"/>
                <a:defRPr sz="2400" b="1">
                  <a:solidFill>
                    <a:schemeClr val="tx2"/>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buFont typeface="Arial" panose="020B0604020202020204" pitchFamily="34" charset="0"/>
                <a:defRPr sz="2400" b="1">
                  <a:solidFill>
                    <a:schemeClr val="tx2"/>
                  </a:solidFill>
                  <a:latin typeface="Times New Roman" panose="02020603050405020304" pitchFamily="18" charset="0"/>
                  <a:ea typeface="楷体_GB2312" pitchFamily="49" charset="-122"/>
                </a:defRPr>
              </a:lvl9pPr>
            </a:lstStyle>
            <a:p>
              <a:pPr algn="ctr" eaLnBrk="1" hangingPunct="1">
                <a:buFont typeface="Arial" panose="020B0604020202020204" pitchFamily="34" charset="0"/>
                <a:buNone/>
                <a:defRPr/>
              </a:pPr>
              <a:endParaRPr lang="zh-CN" altLang="en-US" sz="2400" b="0">
                <a:solidFill>
                  <a:schemeClr val="tx1"/>
                </a:solidFill>
                <a:ea typeface="宋体" panose="02010600030101010101" pitchFamily="2" charset="-122"/>
              </a:endParaRPr>
            </a:p>
          </p:txBody>
        </p:sp>
        <p:grpSp>
          <p:nvGrpSpPr>
            <p:cNvPr id="3" name="Group 4">
              <a:extLst>
                <a:ext uri="{FF2B5EF4-FFF2-40B4-BE49-F238E27FC236}">
                  <a16:creationId xmlns:a16="http://schemas.microsoft.com/office/drawing/2014/main" id="{780B494B-ED75-207E-842C-E57474DDDDCD}"/>
                </a:ext>
              </a:extLst>
            </p:cNvPr>
            <p:cNvGrpSpPr>
              <a:grpSpLocks/>
            </p:cNvGrpSpPr>
            <p:nvPr/>
          </p:nvGrpSpPr>
          <p:grpSpPr bwMode="auto">
            <a:xfrm>
              <a:off x="240" y="893"/>
              <a:ext cx="5232" cy="115"/>
              <a:chOff x="0" y="0"/>
              <a:chExt cx="5232" cy="115"/>
            </a:xfrm>
          </p:grpSpPr>
          <p:sp>
            <p:nvSpPr>
              <p:cNvPr id="4" name="Rectangle 5">
                <a:extLst>
                  <a:ext uri="{FF2B5EF4-FFF2-40B4-BE49-F238E27FC236}">
                    <a16:creationId xmlns:a16="http://schemas.microsoft.com/office/drawing/2014/main" id="{457D3935-B9BA-01AD-892A-B284E1082155}"/>
                  </a:ext>
                </a:extLst>
              </p:cNvPr>
              <p:cNvSpPr>
                <a:spLocks noChangeArrowheads="1"/>
              </p:cNvSpPr>
              <p:nvPr/>
            </p:nvSpPr>
            <p:spPr bwMode="auto">
              <a:xfrm>
                <a:off x="4080" y="0"/>
                <a:ext cx="1152" cy="115"/>
              </a:xfrm>
              <a:prstGeom prst="rect">
                <a:avLst/>
              </a:prstGeom>
              <a:solidFill>
                <a:schemeClr val="folHlink"/>
              </a:solidFill>
              <a:ln>
                <a:noFill/>
              </a:ln>
            </p:spPr>
            <p:txBody>
              <a:bodyPr wrap="none" anchor="ctr"/>
              <a:lstStyle>
                <a:lvl1pPr eaLnBrk="0" hangingPunct="0">
                  <a:defRPr sz="2400" b="1">
                    <a:solidFill>
                      <a:schemeClr val="tx2"/>
                    </a:solidFill>
                    <a:latin typeface="Times New Roman" panose="02020603050405020304" pitchFamily="18" charset="0"/>
                    <a:ea typeface="楷体_GB2312" pitchFamily="49" charset="-122"/>
                  </a:defRPr>
                </a:lvl1pPr>
                <a:lvl2pPr marL="742950" indent="-285750" eaLnBrk="0" hangingPunct="0">
                  <a:defRPr sz="2400" b="1">
                    <a:solidFill>
                      <a:schemeClr val="tx2"/>
                    </a:solidFill>
                    <a:latin typeface="Times New Roman" panose="02020603050405020304" pitchFamily="18" charset="0"/>
                    <a:ea typeface="楷体_GB2312" pitchFamily="49" charset="-122"/>
                  </a:defRPr>
                </a:lvl2pPr>
                <a:lvl3pPr marL="1143000" indent="-228600" eaLnBrk="0" hangingPunct="0">
                  <a:defRPr sz="2400" b="1">
                    <a:solidFill>
                      <a:schemeClr val="tx2"/>
                    </a:solidFill>
                    <a:latin typeface="Times New Roman" panose="02020603050405020304" pitchFamily="18" charset="0"/>
                    <a:ea typeface="楷体_GB2312" pitchFamily="49" charset="-122"/>
                  </a:defRPr>
                </a:lvl3pPr>
                <a:lvl4pPr marL="1600200" indent="-228600" eaLnBrk="0" hangingPunct="0">
                  <a:defRPr sz="2400" b="1">
                    <a:solidFill>
                      <a:schemeClr val="tx2"/>
                    </a:solidFill>
                    <a:latin typeface="Times New Roman" panose="02020603050405020304" pitchFamily="18" charset="0"/>
                    <a:ea typeface="楷体_GB2312" pitchFamily="49" charset="-122"/>
                  </a:defRPr>
                </a:lvl4pPr>
                <a:lvl5pPr marL="2057400" indent="-228600" eaLnBrk="0" hangingPunct="0">
                  <a:defRPr sz="2400" b="1">
                    <a:solidFill>
                      <a:schemeClr val="tx2"/>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buFont typeface="Arial" panose="020B0604020202020204" pitchFamily="34" charset="0"/>
                  <a:defRPr sz="2400" b="1">
                    <a:solidFill>
                      <a:schemeClr val="tx2"/>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buFont typeface="Arial" panose="020B0604020202020204" pitchFamily="34" charset="0"/>
                  <a:defRPr sz="2400" b="1">
                    <a:solidFill>
                      <a:schemeClr val="tx2"/>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buFont typeface="Arial" panose="020B0604020202020204" pitchFamily="34" charset="0"/>
                  <a:defRPr sz="2400" b="1">
                    <a:solidFill>
                      <a:schemeClr val="tx2"/>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buFont typeface="Arial" panose="020B0604020202020204" pitchFamily="34" charset="0"/>
                  <a:defRPr sz="2400" b="1">
                    <a:solidFill>
                      <a:schemeClr val="tx2"/>
                    </a:solidFill>
                    <a:latin typeface="Times New Roman" panose="02020603050405020304" pitchFamily="18" charset="0"/>
                    <a:ea typeface="楷体_GB2312" pitchFamily="49" charset="-122"/>
                  </a:defRPr>
                </a:lvl9pPr>
              </a:lstStyle>
              <a:p>
                <a:pPr algn="ctr" eaLnBrk="1" hangingPunct="1">
                  <a:buFont typeface="Arial" panose="020B0604020202020204" pitchFamily="34" charset="0"/>
                  <a:buNone/>
                  <a:defRPr/>
                </a:pPr>
                <a:endParaRPr lang="zh-CN" altLang="en-US" sz="2400" b="0">
                  <a:solidFill>
                    <a:schemeClr val="tx1"/>
                  </a:solidFill>
                  <a:ea typeface="宋体" panose="02010600030101010101" pitchFamily="2" charset="-122"/>
                </a:endParaRPr>
              </a:p>
            </p:txBody>
          </p:sp>
          <p:sp>
            <p:nvSpPr>
              <p:cNvPr id="1036" name="Line 6">
                <a:extLst>
                  <a:ext uri="{FF2B5EF4-FFF2-40B4-BE49-F238E27FC236}">
                    <a16:creationId xmlns:a16="http://schemas.microsoft.com/office/drawing/2014/main" id="{57B67E41-609D-E68D-5E51-41091DC4B7B0}"/>
                  </a:ext>
                </a:extLst>
              </p:cNvPr>
              <p:cNvSpPr>
                <a:spLocks noChangeShapeType="1"/>
              </p:cNvSpPr>
              <p:nvPr/>
            </p:nvSpPr>
            <p:spPr bwMode="auto">
              <a:xfrm>
                <a:off x="0" y="48"/>
                <a:ext cx="5232" cy="0"/>
              </a:xfrm>
              <a:prstGeom prst="line">
                <a:avLst/>
              </a:prstGeom>
              <a:noFill/>
              <a:ln w="19050">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sz="1800"/>
              </a:p>
            </p:txBody>
          </p:sp>
        </p:grpSp>
      </p:grpSp>
      <p:sp>
        <p:nvSpPr>
          <p:cNvPr id="1027" name="Rectangle 7">
            <a:extLst>
              <a:ext uri="{FF2B5EF4-FFF2-40B4-BE49-F238E27FC236}">
                <a16:creationId xmlns:a16="http://schemas.microsoft.com/office/drawing/2014/main" id="{CAECF7A8-E843-3B7D-B19E-D950C98222BF}"/>
              </a:ext>
            </a:extLst>
          </p:cNvPr>
          <p:cNvSpPr>
            <a:spLocks noGrp="1" noChangeArrowheads="1"/>
          </p:cNvSpPr>
          <p:nvPr>
            <p:ph type="title" idx="4294967295"/>
          </p:nvPr>
        </p:nvSpPr>
        <p:spPr bwMode="auto">
          <a:xfrm>
            <a:off x="1219200" y="277813"/>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8" name="Rectangle 8">
            <a:extLst>
              <a:ext uri="{FF2B5EF4-FFF2-40B4-BE49-F238E27FC236}">
                <a16:creationId xmlns:a16="http://schemas.microsoft.com/office/drawing/2014/main" id="{F3035A1C-62D4-0778-3109-66C8454A4F46}"/>
              </a:ext>
            </a:extLst>
          </p:cNvPr>
          <p:cNvSpPr>
            <a:spLocks noGrp="1" noChangeArrowheads="1"/>
          </p:cNvSpPr>
          <p:nvPr>
            <p:ph type="body" idx="4294967295"/>
          </p:nvPr>
        </p:nvSpPr>
        <p:spPr bwMode="auto">
          <a:xfrm>
            <a:off x="1219200" y="1600201"/>
            <a:ext cx="103632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33" name="Rectangle 9">
            <a:extLst>
              <a:ext uri="{FF2B5EF4-FFF2-40B4-BE49-F238E27FC236}">
                <a16:creationId xmlns:a16="http://schemas.microsoft.com/office/drawing/2014/main" id="{9DE595DB-730A-0C00-2D85-7FCD6A1F1473}"/>
              </a:ext>
            </a:extLst>
          </p:cNvPr>
          <p:cNvSpPr>
            <a:spLocks noGrp="1" noChangeArrowheads="1"/>
          </p:cNvSpPr>
          <p:nvPr>
            <p:ph type="dt" sz="half" idx="2"/>
          </p:nvPr>
        </p:nvSpPr>
        <p:spPr bwMode="auto">
          <a:xfrm>
            <a:off x="1219200" y="6251575"/>
            <a:ext cx="2641600" cy="457200"/>
          </a:xfrm>
          <a:prstGeom prst="rect">
            <a:avLst/>
          </a:prstGeom>
          <a:noFill/>
          <a:ln w="9525">
            <a:noFill/>
            <a:miter lim="800000"/>
          </a:ln>
        </p:spPr>
        <p:txBody>
          <a:bodyPr vert="horz" wrap="square" lIns="91440" tIns="45720" rIns="91440" bIns="45720" numCol="1" anchor="t" anchorCtr="0" compatLnSpc="1"/>
          <a:lstStyle>
            <a:lvl1pPr algn="l" eaLnBrk="1" hangingPunct="1">
              <a:buFont typeface="Arial" panose="020B0604020202020204" pitchFamily="34" charset="0"/>
              <a:buNone/>
              <a:defRPr sz="1000" b="0">
                <a:solidFill>
                  <a:schemeClr val="tx1"/>
                </a:solidFill>
                <a:latin typeface="+mn-lt"/>
                <a:ea typeface="+mn-ea"/>
              </a:defRPr>
            </a:lvl1pPr>
          </a:lstStyle>
          <a:p>
            <a:pPr>
              <a:defRPr/>
            </a:pPr>
            <a:endParaRPr lang="en-US"/>
          </a:p>
        </p:txBody>
      </p:sp>
      <p:sp>
        <p:nvSpPr>
          <p:cNvPr id="1034" name="Rectangle 10">
            <a:extLst>
              <a:ext uri="{FF2B5EF4-FFF2-40B4-BE49-F238E27FC236}">
                <a16:creationId xmlns:a16="http://schemas.microsoft.com/office/drawing/2014/main" id="{F06C4505-936F-BC9B-A53E-9A996F3F0053}"/>
              </a:ext>
            </a:extLst>
          </p:cNvPr>
          <p:cNvSpPr>
            <a:spLocks noGrp="1" noChangeArrowheads="1"/>
          </p:cNvSpPr>
          <p:nvPr>
            <p:ph type="ftr" sz="quarter" idx="3"/>
          </p:nvPr>
        </p:nvSpPr>
        <p:spPr bwMode="auto">
          <a:xfrm>
            <a:off x="4470400" y="6248400"/>
            <a:ext cx="3962400" cy="457200"/>
          </a:xfrm>
          <a:prstGeom prst="rect">
            <a:avLst/>
          </a:prstGeom>
          <a:noFill/>
          <a:ln w="9525">
            <a:noFill/>
            <a:miter lim="800000"/>
          </a:ln>
        </p:spPr>
        <p:txBody>
          <a:bodyPr vert="horz" wrap="square" lIns="91440" tIns="45720" rIns="91440" bIns="45720" numCol="1" anchor="t" anchorCtr="0" compatLnSpc="1"/>
          <a:lstStyle>
            <a:lvl1pPr algn="ctr" eaLnBrk="1" hangingPunct="1">
              <a:buFont typeface="Arial" panose="020B0604020202020204" pitchFamily="34" charset="0"/>
              <a:buNone/>
              <a:defRPr sz="1000" b="0">
                <a:solidFill>
                  <a:schemeClr val="tx1"/>
                </a:solidFill>
                <a:latin typeface="+mn-lt"/>
                <a:ea typeface="+mn-ea"/>
              </a:defRPr>
            </a:lvl1pPr>
          </a:lstStyle>
          <a:p>
            <a:pPr>
              <a:defRPr/>
            </a:pPr>
            <a:endParaRPr lang="en-US"/>
          </a:p>
        </p:txBody>
      </p:sp>
      <p:sp>
        <p:nvSpPr>
          <p:cNvPr id="1035" name="Rectangle 11">
            <a:extLst>
              <a:ext uri="{FF2B5EF4-FFF2-40B4-BE49-F238E27FC236}">
                <a16:creationId xmlns:a16="http://schemas.microsoft.com/office/drawing/2014/main" id="{38124B26-94C6-0F3A-FC55-9635DC45CE37}"/>
              </a:ext>
            </a:extLst>
          </p:cNvPr>
          <p:cNvSpPr>
            <a:spLocks noGrp="1" noChangeArrowheads="1"/>
          </p:cNvSpPr>
          <p:nvPr>
            <p:ph type="sldNum" sz="quarter" idx="4"/>
          </p:nvPr>
        </p:nvSpPr>
        <p:spPr bwMode="auto">
          <a:xfrm>
            <a:off x="9042400" y="6248400"/>
            <a:ext cx="2540000" cy="457200"/>
          </a:xfrm>
          <a:prstGeom prst="rect">
            <a:avLst/>
          </a:prstGeom>
          <a:noFill/>
          <a:ln w="9525">
            <a:noFill/>
            <a:miter lim="800000"/>
          </a:ln>
        </p:spPr>
        <p:txBody>
          <a:bodyPr vert="horz" wrap="square" lIns="91440" tIns="45720" rIns="91440" bIns="45720" numCol="1" anchor="t" anchorCtr="0" compatLnSpc="1">
            <a:prstTxWarp prst="textNoShape">
              <a:avLst/>
            </a:prstTxWarp>
          </a:bodyPr>
          <a:lstStyle>
            <a:lvl1pPr algn="r" eaLnBrk="1" hangingPunct="1">
              <a:buFont typeface="Arial" panose="020B0604020202020204" pitchFamily="34" charset="0"/>
              <a:buNone/>
              <a:defRPr sz="1000" b="0" smtClean="0">
                <a:solidFill>
                  <a:schemeClr val="tx1"/>
                </a:solidFill>
                <a:latin typeface="Arial" panose="020B0604020202020204" pitchFamily="34" charset="0"/>
                <a:ea typeface="宋体" panose="02010600030101010101" pitchFamily="2" charset="-122"/>
              </a:defRPr>
            </a:lvl1pPr>
          </a:lstStyle>
          <a:p>
            <a:pPr>
              <a:defRPr/>
            </a:pPr>
            <a:fld id="{77A1FBB3-1D39-46E9-A489-AE7BD0289987}" type="slidenum">
              <a:rPr lang="en-US" altLang="zh-CN"/>
              <a:pPr>
                <a:defRPr/>
              </a:pPr>
              <a:t>‹#›</a:t>
            </a:fld>
            <a:endParaRPr lang="en-US" altLang="zh-CN"/>
          </a:p>
        </p:txBody>
      </p:sp>
      <p:sp>
        <p:nvSpPr>
          <p:cNvPr id="1032" name="Line 12">
            <a:extLst>
              <a:ext uri="{FF2B5EF4-FFF2-40B4-BE49-F238E27FC236}">
                <a16:creationId xmlns:a16="http://schemas.microsoft.com/office/drawing/2014/main" id="{6E3F1AF2-6159-9BF0-B4C2-910D13421AEA}"/>
              </a:ext>
            </a:extLst>
          </p:cNvPr>
          <p:cNvSpPr>
            <a:spLocks noChangeShapeType="1"/>
          </p:cNvSpPr>
          <p:nvPr/>
        </p:nvSpPr>
        <p:spPr bwMode="auto">
          <a:xfrm>
            <a:off x="0" y="4876800"/>
            <a:ext cx="812800" cy="0"/>
          </a:xfrm>
          <a:prstGeom prst="line">
            <a:avLst/>
          </a:prstGeom>
          <a:noFill/>
          <a:ln w="44450">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sz="1800"/>
          </a:p>
        </p:txBody>
      </p:sp>
    </p:spTree>
    <p:extLst>
      <p:ext uri="{BB962C8B-B14F-4D97-AF65-F5344CB8AC3E}">
        <p14:creationId xmlns:p14="http://schemas.microsoft.com/office/powerpoint/2010/main" val="25785834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sz="4200">
          <a:solidFill>
            <a:schemeClr val="tx2"/>
          </a:solidFill>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sz="4200">
          <a:solidFill>
            <a:schemeClr val="tx2"/>
          </a:solidFill>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sz="4200">
          <a:solidFill>
            <a:schemeClr val="tx2"/>
          </a:solidFill>
          <a:latin typeface="Times New Roman" panose="02020603050405020304" pitchFamily="18" charset="0"/>
          <a:ea typeface="宋体" panose="02010600030101010101" pitchFamily="2" charset="-122"/>
        </a:defRPr>
      </a:lvl5pPr>
      <a:lvl6pPr marL="457200" algn="l" rtl="0" eaLnBrk="0" fontAlgn="base" hangingPunct="0">
        <a:spcBef>
          <a:spcPct val="0"/>
        </a:spcBef>
        <a:spcAft>
          <a:spcPct val="0"/>
        </a:spcAft>
        <a:defRPr sz="4200">
          <a:solidFill>
            <a:schemeClr val="tx2"/>
          </a:solidFill>
          <a:latin typeface="Times New Roman" panose="02020603050405020304" pitchFamily="18" charset="0"/>
          <a:ea typeface="宋体" panose="02010600030101010101" pitchFamily="2" charset="-122"/>
        </a:defRPr>
      </a:lvl6pPr>
      <a:lvl7pPr marL="914400" algn="l" rtl="0" eaLnBrk="0" fontAlgn="base" hangingPunct="0">
        <a:spcBef>
          <a:spcPct val="0"/>
        </a:spcBef>
        <a:spcAft>
          <a:spcPct val="0"/>
        </a:spcAft>
        <a:defRPr sz="4200">
          <a:solidFill>
            <a:schemeClr val="tx2"/>
          </a:solidFill>
          <a:latin typeface="Times New Roman" panose="02020603050405020304" pitchFamily="18" charset="0"/>
          <a:ea typeface="宋体" panose="02010600030101010101" pitchFamily="2" charset="-122"/>
        </a:defRPr>
      </a:lvl7pPr>
      <a:lvl8pPr marL="1371600" algn="l" rtl="0" eaLnBrk="0" fontAlgn="base" hangingPunct="0">
        <a:spcBef>
          <a:spcPct val="0"/>
        </a:spcBef>
        <a:spcAft>
          <a:spcPct val="0"/>
        </a:spcAft>
        <a:defRPr sz="4200">
          <a:solidFill>
            <a:schemeClr val="tx2"/>
          </a:solidFill>
          <a:latin typeface="Times New Roman" panose="02020603050405020304" pitchFamily="18" charset="0"/>
          <a:ea typeface="宋体" panose="02010600030101010101" pitchFamily="2" charset="-122"/>
        </a:defRPr>
      </a:lvl8pPr>
      <a:lvl9pPr marL="1828800" algn="l" rtl="0" eaLnBrk="0" fontAlgn="base" hangingPunct="0">
        <a:spcBef>
          <a:spcPct val="0"/>
        </a:spcBef>
        <a:spcAft>
          <a:spcPct val="0"/>
        </a:spcAft>
        <a:defRPr sz="4200">
          <a:solidFill>
            <a:schemeClr val="tx2"/>
          </a:solidFill>
          <a:latin typeface="Times New Roman" panose="02020603050405020304" pitchFamily="18" charset="0"/>
          <a:ea typeface="宋体" panose="02010600030101010101" pitchFamily="2" charset="-122"/>
        </a:defRPr>
      </a:lvl9pPr>
    </p:titleStyle>
    <p:bodyStyle>
      <a:lvl1pPr marL="533400" indent="-533400" algn="l" rtl="0" eaLnBrk="0" fontAlgn="base" hangingPunct="0">
        <a:spcBef>
          <a:spcPct val="20000"/>
        </a:spcBef>
        <a:spcAft>
          <a:spcPct val="0"/>
        </a:spcAft>
        <a:buClr>
          <a:srgbClr val="0033CC"/>
        </a:buClr>
        <a:buSzPct val="90000"/>
        <a:buFont typeface="Wingdings" panose="05000000000000000000" pitchFamily="2" charset="2"/>
        <a:buBlip>
          <a:blip r:embed="rId13"/>
        </a:buBlip>
        <a:defRPr sz="2800">
          <a:solidFill>
            <a:schemeClr val="tx1"/>
          </a:solidFill>
          <a:latin typeface="+mn-lt"/>
          <a:ea typeface="+mn-ea"/>
          <a:cs typeface="+mn-cs"/>
        </a:defRPr>
      </a:lvl1pPr>
      <a:lvl2pPr marL="952500" indent="-495300" algn="l" rtl="0" eaLnBrk="0" fontAlgn="base" hangingPunct="0">
        <a:spcBef>
          <a:spcPct val="20000"/>
        </a:spcBef>
        <a:spcAft>
          <a:spcPct val="0"/>
        </a:spcAft>
        <a:buClr>
          <a:schemeClr val="accent1"/>
        </a:buClr>
        <a:buSzPct val="75000"/>
        <a:buFont typeface="Wingdings" panose="05000000000000000000" pitchFamily="2" charset="2"/>
        <a:buChar char="n"/>
        <a:defRPr sz="2600">
          <a:solidFill>
            <a:schemeClr val="tx1"/>
          </a:solidFill>
          <a:latin typeface="+mn-lt"/>
          <a:ea typeface="+mn-ea"/>
        </a:defRPr>
      </a:lvl2pPr>
      <a:lvl3pPr marL="1352550" indent="-438150" algn="l" rtl="0" eaLnBrk="0" fontAlgn="base" hangingPunct="0">
        <a:spcBef>
          <a:spcPct val="20000"/>
        </a:spcBef>
        <a:spcAft>
          <a:spcPct val="0"/>
        </a:spcAft>
        <a:buClr>
          <a:schemeClr val="folHlink"/>
        </a:buClr>
        <a:buSzPct val="55000"/>
        <a:buFont typeface="Wingdings" panose="05000000000000000000" pitchFamily="2" charset="2"/>
        <a:buChar char="n"/>
        <a:defRPr sz="2300">
          <a:solidFill>
            <a:schemeClr val="tx1"/>
          </a:solidFill>
          <a:latin typeface="+mn-lt"/>
          <a:ea typeface="+mn-ea"/>
        </a:defRPr>
      </a:lvl3pPr>
      <a:lvl4pPr marL="1752600" indent="-381000" algn="l" rtl="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mn-lt"/>
          <a:ea typeface="+mn-ea"/>
        </a:defRPr>
      </a:lvl4pPr>
      <a:lvl5pPr marL="2209800" indent="-381000" algn="l" rtl="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mn-lt"/>
          <a:ea typeface="+mn-ea"/>
        </a:defRPr>
      </a:lvl5pPr>
      <a:lvl6pPr marL="2667000" indent="-381000" algn="l" rtl="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mn-lt"/>
          <a:ea typeface="+mn-ea"/>
        </a:defRPr>
      </a:lvl6pPr>
      <a:lvl7pPr marL="3124200" indent="-381000" algn="l" rtl="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mn-lt"/>
          <a:ea typeface="+mn-ea"/>
        </a:defRPr>
      </a:lvl7pPr>
      <a:lvl8pPr marL="3581400" indent="-381000" algn="l" rtl="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mn-lt"/>
          <a:ea typeface="+mn-ea"/>
        </a:defRPr>
      </a:lvl8pPr>
      <a:lvl9pPr marL="4038600" indent="-381000" algn="l" rtl="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image" Target="../media/image2.png"/><Relationship Id="rId1" Type="http://schemas.openxmlformats.org/officeDocument/2006/relationships/slideLayout" Target="../slideLayouts/slideLayout18.xml"/><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image" Target="../media/image5.jpe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gif"/><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image" Target="../media/image7.jpe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xml"/><Relationship Id="rId1" Type="http://schemas.openxmlformats.org/officeDocument/2006/relationships/slideLayout" Target="../slideLayouts/slideLayout18.xml"/><Relationship Id="rId6" Type="http://schemas.openxmlformats.org/officeDocument/2006/relationships/image" Target="../media/image9.png"/><Relationship Id="rId5" Type="http://schemas.openxmlformats.org/officeDocument/2006/relationships/image" Target="../media/image1.gif"/><Relationship Id="rId4" Type="http://schemas.openxmlformats.org/officeDocument/2006/relationships/image" Target="../media/image8.wmf"/></Relationships>
</file>

<file path=ppt/slides/_rels/slide1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3.xml"/><Relationship Id="rId1" Type="http://schemas.openxmlformats.org/officeDocument/2006/relationships/slideLayout" Target="../slideLayouts/slideLayout1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gif"/><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7" Type="http://schemas.openxmlformats.org/officeDocument/2006/relationships/image" Target="../media/image1.gif"/><Relationship Id="rId2" Type="http://schemas.openxmlformats.org/officeDocument/2006/relationships/notesSlide" Target="../notesSlides/notesSlide6.xml"/><Relationship Id="rId1" Type="http://schemas.openxmlformats.org/officeDocument/2006/relationships/slideLayout" Target="../slideLayouts/slideLayout18.xml"/><Relationship Id="rId6" Type="http://schemas.openxmlformats.org/officeDocument/2006/relationships/image" Target="../media/image15.jpeg"/><Relationship Id="rId5" Type="http://schemas.openxmlformats.org/officeDocument/2006/relationships/image" Target="../media/image14.png"/><Relationship Id="rId4" Type="http://schemas.openxmlformats.org/officeDocument/2006/relationships/oleObject" Target="../embeddings/oleObject2.bin"/></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7.xml"/><Relationship Id="rId1" Type="http://schemas.openxmlformats.org/officeDocument/2006/relationships/slideLayout" Target="../slideLayouts/slideLayout18.xml"/><Relationship Id="rId4" Type="http://schemas.openxmlformats.org/officeDocument/2006/relationships/image" Target="../media/image16.jpeg"/></Relationships>
</file>

<file path=ppt/slides/_rels/slide20.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image" Target="../media/image17.png"/><Relationship Id="rId1" Type="http://schemas.openxmlformats.org/officeDocument/2006/relationships/slideLayout" Target="../slideLayouts/slideLayout18.xml"/><Relationship Id="rId5" Type="http://schemas.openxmlformats.org/officeDocument/2006/relationships/image" Target="../media/image19.jpeg"/><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gif"/><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9.xml"/><Relationship Id="rId1" Type="http://schemas.openxmlformats.org/officeDocument/2006/relationships/slideLayout" Target="../slideLayouts/slideLayout18.xml"/><Relationship Id="rId4" Type="http://schemas.openxmlformats.org/officeDocument/2006/relationships/image" Target="../media/image1.gi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1.gif"/><Relationship Id="rId1" Type="http://schemas.openxmlformats.org/officeDocument/2006/relationships/slideLayout" Target="../slideLayouts/slideLayout18.xml"/><Relationship Id="rId5" Type="http://schemas.openxmlformats.org/officeDocument/2006/relationships/image" Target="../media/image26.jpeg"/><Relationship Id="rId4" Type="http://schemas.openxmlformats.org/officeDocument/2006/relationships/image" Target="../media/image25.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1.gif"/><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image" Target="../media/image28.png"/><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8.png"/><Relationship Id="rId1" Type="http://schemas.openxmlformats.org/officeDocument/2006/relationships/slideLayout" Target="../slideLayouts/slideLayout18.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 Id="rId9" Type="http://schemas.openxmlformats.org/officeDocument/2006/relationships/image" Target="../media/image45.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1.gif"/><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image" Target="../media/image1.gif"/><Relationship Id="rId1" Type="http://schemas.openxmlformats.org/officeDocument/2006/relationships/slideLayout" Target="../slideLayouts/slideLayout13.xml"/><Relationship Id="rId6" Type="http://schemas.openxmlformats.org/officeDocument/2006/relationships/image" Target="../media/image50.png"/><Relationship Id="rId5" Type="http://schemas.openxmlformats.org/officeDocument/2006/relationships/image" Target="../media/image49.jpeg"/><Relationship Id="rId4" Type="http://schemas.openxmlformats.org/officeDocument/2006/relationships/image" Target="../media/image48.png"/></Relationships>
</file>

<file path=ppt/slides/_rels/slide53.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1.gif"/><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0.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image" Target="../media/image53.jpe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4C28B4AF-38EB-8CF5-98BF-6817DA5E958A}"/>
              </a:ext>
            </a:extLst>
          </p:cNvPr>
          <p:cNvSpPr>
            <a:spLocks noGrp="1" noChangeArrowheads="1"/>
          </p:cNvSpPr>
          <p:nvPr>
            <p:ph type="title" idx="4294967295"/>
          </p:nvPr>
        </p:nvSpPr>
        <p:spPr>
          <a:xfrm>
            <a:off x="2424113" y="1916113"/>
            <a:ext cx="7772400" cy="1143000"/>
          </a:xfrm>
          <a:solidFill>
            <a:srgbClr val="FFCCFF"/>
          </a:solidFill>
          <a:effectLst>
            <a:outerShdw dist="107763" dir="2700000" algn="ctr" rotWithShape="0">
              <a:schemeClr val="bg2">
                <a:alpha val="50000"/>
              </a:schemeClr>
            </a:outerShdw>
          </a:effectLst>
        </p:spPr>
        <p:txBody>
          <a:bodyPr/>
          <a:lstStyle/>
          <a:p>
            <a:pPr algn="ctr" eaLnBrk="1" hangingPunct="1"/>
            <a:r>
              <a:rPr lang="zh-CN" altLang="en-US" sz="4000" b="1">
                <a:solidFill>
                  <a:schemeClr val="tx1"/>
                </a:solidFill>
                <a:latin typeface="黑体" panose="02010609060101010101" pitchFamily="49" charset="-122"/>
                <a:ea typeface="黑体" panose="02010609060101010101" pitchFamily="49" charset="-122"/>
              </a:rPr>
              <a:t>第三节  蛋白质结构</a:t>
            </a:r>
          </a:p>
        </p:txBody>
      </p:sp>
      <p:sp>
        <p:nvSpPr>
          <p:cNvPr id="120835" name="Text Box 3">
            <a:extLst>
              <a:ext uri="{FF2B5EF4-FFF2-40B4-BE49-F238E27FC236}">
                <a16:creationId xmlns:a16="http://schemas.microsoft.com/office/drawing/2014/main" id="{F3BECEA6-B64E-2574-3548-FBB11BB78402}"/>
              </a:ext>
            </a:extLst>
          </p:cNvPr>
          <p:cNvSpPr txBox="1">
            <a:spLocks noChangeArrowheads="1"/>
          </p:cNvSpPr>
          <p:nvPr/>
        </p:nvSpPr>
        <p:spPr bwMode="auto">
          <a:xfrm>
            <a:off x="2381250" y="3286125"/>
            <a:ext cx="8064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3400" indent="-533400">
              <a:spcBef>
                <a:spcPct val="20000"/>
              </a:spcBef>
              <a:buClr>
                <a:srgbClr val="0033CC"/>
              </a:buClr>
              <a:buSzPct val="90000"/>
              <a:buFont typeface="Wingdings" panose="05000000000000000000" pitchFamily="2" charset="2"/>
              <a:buBlip>
                <a:blip r:embed="rId2"/>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lang="en-US" altLang="zh-CN" sz="3200" b="1">
                <a:solidFill>
                  <a:srgbClr val="000000"/>
                </a:solidFill>
                <a:latin typeface="Times New Roman" panose="02020603050405020304" pitchFamily="18" charset="0"/>
                <a:sym typeface="Arial" panose="020B0604020202020204" pitchFamily="34" charset="0"/>
              </a:rPr>
              <a:t>Section </a:t>
            </a:r>
            <a:r>
              <a:rPr lang="zh-CN" altLang="en-US" sz="3200" b="1">
                <a:solidFill>
                  <a:srgbClr val="000000"/>
                </a:solidFill>
                <a:latin typeface="Times New Roman" panose="02020603050405020304" pitchFamily="18" charset="0"/>
                <a:sym typeface="Arial" panose="020B0604020202020204" pitchFamily="34" charset="0"/>
              </a:rPr>
              <a:t>3    Protein Structure</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矩形 1">
            <a:extLst>
              <a:ext uri="{FF2B5EF4-FFF2-40B4-BE49-F238E27FC236}">
                <a16:creationId xmlns:a16="http://schemas.microsoft.com/office/drawing/2014/main" id="{5AC9233B-5681-A2C1-6421-0F2B004D69B5}"/>
              </a:ext>
            </a:extLst>
          </p:cNvPr>
          <p:cNvSpPr>
            <a:spLocks noChangeArrowheads="1"/>
          </p:cNvSpPr>
          <p:nvPr/>
        </p:nvSpPr>
        <p:spPr bwMode="auto">
          <a:xfrm>
            <a:off x="2135188" y="1916113"/>
            <a:ext cx="7632700" cy="44377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SzPct val="90000"/>
              <a:buFont typeface="Wingdings" panose="05000000000000000000" pitchFamily="2" charset="2"/>
              <a:buBlip>
                <a:blip r:embed="rId3"/>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fontAlgn="base">
              <a:lnSpc>
                <a:spcPct val="150000"/>
              </a:lnSpc>
              <a:spcBef>
                <a:spcPct val="0"/>
              </a:spcBef>
              <a:spcAft>
                <a:spcPct val="0"/>
              </a:spcAft>
              <a:buClrTx/>
              <a:buSzTx/>
              <a:buNone/>
            </a:pPr>
            <a:r>
              <a:rPr lang="zh-CN" altLang="en-US" b="1" dirty="0">
                <a:solidFill>
                  <a:srgbClr val="FF0000"/>
                </a:solidFill>
                <a:latin typeface="宋体" panose="02010600030101010101" pitchFamily="2" charset="-122"/>
              </a:rPr>
              <a:t>蛋白质</a:t>
            </a:r>
            <a:r>
              <a:rPr lang="zh-CN" altLang="en-US" b="1" dirty="0">
                <a:solidFill>
                  <a:srgbClr val="000000"/>
                </a:solidFill>
                <a:latin typeface="宋体" panose="02010600030101010101" pitchFamily="2" charset="-122"/>
              </a:rPr>
              <a:t>是由各种氨基酸通过肽键连接而成的多肽链，再由一条或一条以上的多肽链按各自特殊方式组合成具有一定空间立体构象的完整生物活性分子。</a:t>
            </a:r>
            <a:r>
              <a:rPr lang="zh-CN" altLang="en-US" b="1" dirty="0">
                <a:solidFill>
                  <a:srgbClr val="FF0000"/>
                </a:solidFill>
                <a:latin typeface="宋体" panose="02010600030101010101" pitchFamily="2" charset="-122"/>
              </a:rPr>
              <a:t>天然蛋白质</a:t>
            </a:r>
            <a:r>
              <a:rPr lang="zh-CN" altLang="en-US" b="1" dirty="0">
                <a:solidFill>
                  <a:srgbClr val="000000"/>
                </a:solidFill>
                <a:latin typeface="宋体" panose="02010600030101010101" pitchFamily="2" charset="-122"/>
              </a:rPr>
              <a:t>分子不是一条走向随机的松散肽链，每种天然蛋白质都有自己特有的空间结构，这种空间结构称为</a:t>
            </a:r>
            <a:r>
              <a:rPr lang="zh-CN" altLang="en-US" b="1" dirty="0">
                <a:solidFill>
                  <a:srgbClr val="FF0000"/>
                </a:solidFill>
                <a:latin typeface="宋体" panose="02010600030101010101" pitchFamily="2" charset="-122"/>
              </a:rPr>
              <a:t>蛋白质的构象</a:t>
            </a:r>
            <a:r>
              <a:rPr lang="zh-CN" altLang="en-US" b="1" dirty="0">
                <a:solidFill>
                  <a:srgbClr val="000000"/>
                </a:solidFill>
                <a:latin typeface="宋体" panose="02010600030101010101" pitchFamily="2" charset="-122"/>
              </a:rPr>
              <a:t>。</a:t>
            </a:r>
          </a:p>
          <a:p>
            <a:pPr fontAlgn="base">
              <a:lnSpc>
                <a:spcPct val="150000"/>
              </a:lnSpc>
              <a:spcBef>
                <a:spcPct val="0"/>
              </a:spcBef>
              <a:spcAft>
                <a:spcPct val="0"/>
              </a:spcAft>
              <a:buClrTx/>
              <a:buSzTx/>
              <a:buNone/>
            </a:pPr>
            <a:endParaRPr lang="zh-CN" altLang="en-US" sz="2400" b="1" dirty="0">
              <a:solidFill>
                <a:srgbClr val="660033"/>
              </a:solidFill>
              <a:latin typeface="宋体" panose="02010600030101010101" pitchFamily="2"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DABFAB2C-47A1-D70D-60EB-6496680DAF4B}"/>
              </a:ext>
            </a:extLst>
          </p:cNvPr>
          <p:cNvSpPr>
            <a:spLocks noGrp="1" noRot="1" noChangeArrowheads="1"/>
          </p:cNvSpPr>
          <p:nvPr>
            <p:ph type="body" idx="4294967295"/>
          </p:nvPr>
        </p:nvSpPr>
        <p:spPr>
          <a:xfrm>
            <a:off x="2166938" y="1500189"/>
            <a:ext cx="8286750" cy="4924425"/>
          </a:xfrm>
        </p:spPr>
        <p:txBody>
          <a:bodyPr/>
          <a:lstStyle/>
          <a:p>
            <a:pPr marL="0" indent="0" eaLnBrk="1" hangingPunct="1">
              <a:buNone/>
              <a:defRPr/>
            </a:pPr>
            <a:r>
              <a:rPr lang="zh-CN" altLang="en-US" b="1" dirty="0">
                <a:latin typeface="+mn-ea"/>
              </a:rPr>
              <a:t>一级结构：氨基酸的组成等；</a:t>
            </a:r>
          </a:p>
          <a:p>
            <a:pPr marL="0" indent="0" eaLnBrk="1" hangingPunct="1">
              <a:buNone/>
              <a:defRPr/>
            </a:pPr>
            <a:r>
              <a:rPr lang="zh-CN" altLang="en-US" b="1" dirty="0">
                <a:latin typeface="+mn-ea"/>
              </a:rPr>
              <a:t>二级结构：多肽链本身的折叠方式；</a:t>
            </a:r>
          </a:p>
          <a:p>
            <a:pPr marL="0" indent="0" eaLnBrk="1" hangingPunct="1">
              <a:buNone/>
              <a:defRPr/>
            </a:pPr>
            <a:r>
              <a:rPr lang="zh-CN" altLang="en-US" b="1" dirty="0">
                <a:latin typeface="+mn-ea"/>
              </a:rPr>
              <a:t>三级结构：螺旋肽链结构盘绕、折叠成复杂的空间结构；</a:t>
            </a:r>
          </a:p>
          <a:p>
            <a:pPr marL="0" indent="0" eaLnBrk="1" hangingPunct="1">
              <a:buNone/>
              <a:defRPr/>
            </a:pPr>
            <a:r>
              <a:rPr lang="zh-CN" altLang="en-US" b="1" dirty="0">
                <a:latin typeface="+mn-ea"/>
              </a:rPr>
              <a:t>四级结构：蛋白质亚基聚合成大分子蛋白质的方式；</a:t>
            </a:r>
          </a:p>
          <a:p>
            <a:pPr eaLnBrk="1" hangingPunct="1">
              <a:buFont typeface="Wingdings" panose="05000000000000000000" pitchFamily="2" charset="2"/>
              <a:buNone/>
              <a:defRPr/>
            </a:pPr>
            <a:endParaRPr lang="zh-CN" altLang="en-US" b="1" dirty="0">
              <a:latin typeface="+mn-ea"/>
            </a:endParaRPr>
          </a:p>
          <a:p>
            <a:pPr eaLnBrk="1" hangingPunct="1">
              <a:buFont typeface="Wingdings" panose="05000000000000000000" pitchFamily="2" charset="2"/>
              <a:buNone/>
              <a:defRPr/>
            </a:pPr>
            <a:r>
              <a:rPr lang="zh-CN" altLang="en-US" b="1" dirty="0">
                <a:latin typeface="+mn-ea"/>
              </a:rPr>
              <a:t>蛋白质的结构层次：</a:t>
            </a:r>
          </a:p>
          <a:p>
            <a:pPr eaLnBrk="1" hangingPunct="1">
              <a:buFont typeface="Wingdings" panose="05000000000000000000" pitchFamily="2" charset="2"/>
              <a:buNone/>
              <a:defRPr/>
            </a:pPr>
            <a:r>
              <a:rPr lang="zh-CN" altLang="en-US" b="1" dirty="0">
                <a:latin typeface="+mn-ea"/>
              </a:rPr>
              <a:t>    </a:t>
            </a:r>
            <a:r>
              <a:rPr lang="zh-CN" altLang="en-US" b="1" dirty="0">
                <a:solidFill>
                  <a:srgbClr val="0000FF"/>
                </a:solidFill>
                <a:latin typeface="+mn-ea"/>
              </a:rPr>
              <a:t>一级结构→二级结构</a:t>
            </a:r>
            <a:r>
              <a:rPr lang="zh-CN" altLang="en-US" b="1" dirty="0">
                <a:latin typeface="+mn-ea"/>
              </a:rPr>
              <a:t>→超二级结构→结构域→</a:t>
            </a:r>
            <a:r>
              <a:rPr lang="zh-CN" altLang="en-US" b="1" dirty="0">
                <a:solidFill>
                  <a:srgbClr val="0000FF"/>
                </a:solidFill>
                <a:latin typeface="+mn-ea"/>
              </a:rPr>
              <a:t>三级结构→四级结构</a:t>
            </a:r>
          </a:p>
        </p:txBody>
      </p:sp>
      <p:sp>
        <p:nvSpPr>
          <p:cNvPr id="123907" name="Rectangle 4">
            <a:extLst>
              <a:ext uri="{FF2B5EF4-FFF2-40B4-BE49-F238E27FC236}">
                <a16:creationId xmlns:a16="http://schemas.microsoft.com/office/drawing/2014/main" id="{7C3D61F2-C5BE-63FB-5950-616A2E8FB4E5}"/>
              </a:ext>
            </a:extLst>
          </p:cNvPr>
          <p:cNvSpPr>
            <a:spLocks noRot="1" noChangeArrowheads="1"/>
          </p:cNvSpPr>
          <p:nvPr/>
        </p:nvSpPr>
        <p:spPr bwMode="auto">
          <a:xfrm>
            <a:off x="4024313" y="571500"/>
            <a:ext cx="4248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0033CC"/>
              </a:buClr>
              <a:buSzPct val="90000"/>
              <a:buFont typeface="Wingdings" panose="05000000000000000000" pitchFamily="2" charset="2"/>
              <a:buBlip>
                <a:blip r:embed="rId2"/>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lang="zh-CN" altLang="en-US" sz="4000" b="1">
                <a:solidFill>
                  <a:srgbClr val="000000"/>
                </a:solidFill>
                <a:latin typeface="Times New Roman" panose="02020603050405020304" pitchFamily="18" charset="0"/>
                <a:ea typeface="黑体" panose="02010609060101010101" pitchFamily="49" charset="-122"/>
              </a:rPr>
              <a:t>蛋白质的结构</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矩形 1">
            <a:extLst>
              <a:ext uri="{FF2B5EF4-FFF2-40B4-BE49-F238E27FC236}">
                <a16:creationId xmlns:a16="http://schemas.microsoft.com/office/drawing/2014/main" id="{5F0FD74D-CA72-3868-CC3B-DDA3FF8EE473}"/>
              </a:ext>
            </a:extLst>
          </p:cNvPr>
          <p:cNvSpPr>
            <a:spLocks noChangeArrowheads="1"/>
          </p:cNvSpPr>
          <p:nvPr/>
        </p:nvSpPr>
        <p:spPr bwMode="auto">
          <a:xfrm>
            <a:off x="2238375" y="1643063"/>
            <a:ext cx="8178800" cy="3657600"/>
          </a:xfrm>
          <a:prstGeom prst="rect">
            <a:avLst/>
          </a:prstGeom>
          <a:noFill/>
          <a:ln w="9525">
            <a:noFill/>
            <a:miter lim="800000"/>
          </a:ln>
        </p:spPr>
        <p:txBody>
          <a:bodyPr>
            <a:spAutoFit/>
          </a:bodyPr>
          <a:lstStyle/>
          <a:p>
            <a:pPr fontAlgn="base">
              <a:spcBef>
                <a:spcPct val="0"/>
              </a:spcBef>
              <a:spcAft>
                <a:spcPct val="0"/>
              </a:spcAft>
              <a:defRPr/>
            </a:pPr>
            <a:endParaRPr lang="en-US" sz="2400" b="1" dirty="0">
              <a:solidFill>
                <a:srgbClr val="000000"/>
              </a:solidFill>
              <a:latin typeface="Times New Roman" panose="02020603050405020304" pitchFamily="18" charset="0"/>
              <a:ea typeface="楷体_GB2312" pitchFamily="49" charset="-122"/>
            </a:endParaRPr>
          </a:p>
          <a:p>
            <a:pPr marL="342900" indent="-342900" fontAlgn="base">
              <a:lnSpc>
                <a:spcPct val="150000"/>
              </a:lnSpc>
              <a:spcBef>
                <a:spcPct val="0"/>
              </a:spcBef>
              <a:spcAft>
                <a:spcPct val="0"/>
              </a:spcAft>
              <a:buClr>
                <a:srgbClr val="0000FF"/>
              </a:buClr>
              <a:buFont typeface="Wingdings" panose="05000000000000000000" pitchFamily="2" charset="2"/>
              <a:buChar char="u"/>
              <a:defRPr/>
            </a:pPr>
            <a:r>
              <a:rPr lang="zh-CN" altLang="en-US" sz="2800" b="1" dirty="0">
                <a:solidFill>
                  <a:srgbClr val="000000"/>
                </a:solidFill>
                <a:latin typeface="Times New Roman" panose="02020603050405020304" pitchFamily="18" charset="0"/>
                <a:ea typeface="宋体" panose="02010600030101010101" pitchFamily="2" charset="-122"/>
              </a:rPr>
              <a:t>蛋白质的一级结构是指蛋白质分子中氨基酸的组成、排列顺序、连接方式以及</a:t>
            </a:r>
            <a:r>
              <a:rPr lang="zh-CN" altLang="en-US" sz="2800" b="1" dirty="0">
                <a:solidFill>
                  <a:srgbClr val="C00000"/>
                </a:solidFill>
                <a:latin typeface="Times New Roman" panose="02020603050405020304" pitchFamily="18" charset="0"/>
                <a:ea typeface="宋体" panose="02010600030101010101" pitchFamily="2" charset="-122"/>
              </a:rPr>
              <a:t>多肽链</a:t>
            </a:r>
            <a:r>
              <a:rPr lang="zh-CN" altLang="en-US" sz="2800" b="1" dirty="0">
                <a:solidFill>
                  <a:srgbClr val="000000"/>
                </a:solidFill>
                <a:latin typeface="Times New Roman" panose="02020603050405020304" pitchFamily="18" charset="0"/>
                <a:ea typeface="宋体" panose="02010600030101010101" pitchFamily="2" charset="-122"/>
              </a:rPr>
              <a:t>的数目和关联，包括</a:t>
            </a:r>
            <a:r>
              <a:rPr lang="zh-CN" altLang="en-US" sz="2800" b="1" dirty="0">
                <a:solidFill>
                  <a:srgbClr val="C00000"/>
                </a:solidFill>
                <a:latin typeface="Times New Roman" panose="02020603050405020304" pitchFamily="18" charset="0"/>
                <a:ea typeface="宋体" panose="02010600030101010101" pitchFamily="2" charset="-122"/>
              </a:rPr>
              <a:t>二硫键</a:t>
            </a:r>
            <a:r>
              <a:rPr lang="zh-CN" altLang="en-US" sz="2800" b="1" dirty="0">
                <a:solidFill>
                  <a:srgbClr val="000000"/>
                </a:solidFill>
                <a:latin typeface="Times New Roman" panose="02020603050405020304" pitchFamily="18" charset="0"/>
                <a:ea typeface="宋体" panose="02010600030101010101" pitchFamily="2" charset="-122"/>
              </a:rPr>
              <a:t>的位置。</a:t>
            </a:r>
            <a:endParaRPr lang="en-US" sz="2800" b="1" dirty="0">
              <a:solidFill>
                <a:srgbClr val="000000"/>
              </a:solidFill>
              <a:latin typeface="Times New Roman" panose="02020603050405020304" pitchFamily="18" charset="0"/>
              <a:ea typeface="宋体" panose="02010600030101010101" pitchFamily="2" charset="-122"/>
            </a:endParaRPr>
          </a:p>
          <a:p>
            <a:pPr marL="342900" indent="-342900" fontAlgn="base">
              <a:lnSpc>
                <a:spcPct val="150000"/>
              </a:lnSpc>
              <a:spcBef>
                <a:spcPct val="0"/>
              </a:spcBef>
              <a:spcAft>
                <a:spcPct val="0"/>
              </a:spcAft>
              <a:buClr>
                <a:srgbClr val="0000FF"/>
              </a:buClr>
              <a:buFont typeface="Wingdings" panose="05000000000000000000" pitchFamily="2" charset="2"/>
              <a:buChar char="u"/>
              <a:defRPr/>
            </a:pPr>
            <a:r>
              <a:rPr lang="zh-CN" altLang="en-US" sz="2800" b="1" dirty="0">
                <a:solidFill>
                  <a:srgbClr val="000000"/>
                </a:solidFill>
                <a:latin typeface="Times New Roman" panose="02020603050405020304" pitchFamily="18" charset="0"/>
                <a:ea typeface="宋体" panose="02010600030101010101" pitchFamily="2" charset="-122"/>
              </a:rPr>
              <a:t>一级结构是蛋白质分子的最基本结构，维持一级结构的化学键为共价键，主要为</a:t>
            </a:r>
            <a:r>
              <a:rPr lang="zh-CN" altLang="en-US" sz="2800" b="1" dirty="0">
                <a:solidFill>
                  <a:srgbClr val="C00000"/>
                </a:solidFill>
                <a:latin typeface="Times New Roman" panose="02020603050405020304" pitchFamily="18" charset="0"/>
                <a:ea typeface="宋体" panose="02010600030101010101" pitchFamily="2" charset="-122"/>
              </a:rPr>
              <a:t>肽键</a:t>
            </a:r>
            <a:r>
              <a:rPr lang="zh-CN" altLang="en-US" sz="2800" b="1" dirty="0">
                <a:solidFill>
                  <a:srgbClr val="000000"/>
                </a:solidFill>
                <a:latin typeface="Times New Roman" panose="02020603050405020304" pitchFamily="18" charset="0"/>
                <a:ea typeface="宋体" panose="02010600030101010101" pitchFamily="2" charset="-122"/>
              </a:rPr>
              <a:t>。</a:t>
            </a:r>
          </a:p>
        </p:txBody>
      </p:sp>
      <p:sp>
        <p:nvSpPr>
          <p:cNvPr id="124931" name="Text Box 3">
            <a:extLst>
              <a:ext uri="{FF2B5EF4-FFF2-40B4-BE49-F238E27FC236}">
                <a16:creationId xmlns:a16="http://schemas.microsoft.com/office/drawing/2014/main" id="{D404D771-F276-A296-2AF4-7BFAD7F8B16B}"/>
              </a:ext>
            </a:extLst>
          </p:cNvPr>
          <p:cNvSpPr txBox="1">
            <a:spLocks noChangeArrowheads="1"/>
          </p:cNvSpPr>
          <p:nvPr/>
        </p:nvSpPr>
        <p:spPr bwMode="auto">
          <a:xfrm>
            <a:off x="3204629" y="571500"/>
            <a:ext cx="533030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33CC"/>
              </a:buClr>
              <a:buSzPct val="90000"/>
              <a:buFont typeface="Wingdings" panose="05000000000000000000" pitchFamily="2" charset="2"/>
              <a:buBlip>
                <a:blip r:embed="rId2"/>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lang="zh-CN" altLang="en-US" sz="4000" b="1">
                <a:solidFill>
                  <a:srgbClr val="000000"/>
                </a:solidFill>
                <a:latin typeface="Times New Roman" panose="02020603050405020304" pitchFamily="18" charset="0"/>
                <a:ea typeface="黑体" panose="02010609060101010101" pitchFamily="49" charset="-122"/>
              </a:rPr>
              <a:t>一、蛋白质的一级结构</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5954" name="Picture 2">
            <a:extLst>
              <a:ext uri="{FF2B5EF4-FFF2-40B4-BE49-F238E27FC236}">
                <a16:creationId xmlns:a16="http://schemas.microsoft.com/office/drawing/2014/main" id="{BA430563-EECB-1B95-A1A9-62DD2270E7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6989" y="115888"/>
            <a:ext cx="7094537" cy="2368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5955" name="TextBox 3">
            <a:extLst>
              <a:ext uri="{FF2B5EF4-FFF2-40B4-BE49-F238E27FC236}">
                <a16:creationId xmlns:a16="http://schemas.microsoft.com/office/drawing/2014/main" id="{EC25DE35-474E-21F0-E355-DD46FE38DEF7}"/>
              </a:ext>
            </a:extLst>
          </p:cNvPr>
          <p:cNvSpPr txBox="1">
            <a:spLocks noChangeArrowheads="1"/>
          </p:cNvSpPr>
          <p:nvPr/>
        </p:nvSpPr>
        <p:spPr bwMode="auto">
          <a:xfrm>
            <a:off x="5880101" y="1989138"/>
            <a:ext cx="26590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33CC"/>
              </a:buClr>
              <a:buSzPct val="90000"/>
              <a:buFont typeface="Wingdings" panose="05000000000000000000" pitchFamily="2" charset="2"/>
              <a:buBlip>
                <a:blip r:embed="rId3"/>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r>
              <a:rPr lang="zh-CN" altLang="en-US" sz="2400" b="1">
                <a:solidFill>
                  <a:srgbClr val="CC00CC"/>
                </a:solidFill>
                <a:latin typeface="Garamond" panose="02020404030301010803" pitchFamily="18" charset="0"/>
                <a:ea typeface="楷体_GB2312" pitchFamily="49" charset="-122"/>
              </a:rPr>
              <a:t>牛胰岛素一级结构</a:t>
            </a:r>
          </a:p>
        </p:txBody>
      </p:sp>
      <p:pic>
        <p:nvPicPr>
          <p:cNvPr id="125956" name="Picture 4" descr="幻灯片19">
            <a:extLst>
              <a:ext uri="{FF2B5EF4-FFF2-40B4-BE49-F238E27FC236}">
                <a16:creationId xmlns:a16="http://schemas.microsoft.com/office/drawing/2014/main" id="{F2C90D25-1255-2D33-71E7-98CE1BF222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3613" y="2511425"/>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矩形 1">
            <a:extLst>
              <a:ext uri="{FF2B5EF4-FFF2-40B4-BE49-F238E27FC236}">
                <a16:creationId xmlns:a16="http://schemas.microsoft.com/office/drawing/2014/main" id="{D691E4E3-E64C-79A8-9CEA-9D0176160B0A}"/>
              </a:ext>
            </a:extLst>
          </p:cNvPr>
          <p:cNvSpPr>
            <a:spLocks noChangeArrowheads="1"/>
          </p:cNvSpPr>
          <p:nvPr/>
        </p:nvSpPr>
        <p:spPr bwMode="auto">
          <a:xfrm>
            <a:off x="2381251" y="1643063"/>
            <a:ext cx="7858125" cy="1738312"/>
          </a:xfrm>
          <a:prstGeom prst="rect">
            <a:avLst/>
          </a:prstGeom>
          <a:noFill/>
          <a:ln>
            <a:noFill/>
          </a:ln>
        </p:spPr>
        <p:txBody>
          <a:bodyPr>
            <a:spAutoFit/>
          </a:bodyPr>
          <a:lstStyle/>
          <a:p>
            <a:pPr fontAlgn="base">
              <a:spcBef>
                <a:spcPct val="0"/>
              </a:spcBef>
              <a:spcAft>
                <a:spcPct val="0"/>
              </a:spcAft>
              <a:defRPr/>
            </a:pPr>
            <a:r>
              <a:rPr lang="zh-CN" altLang="en-US" sz="2800" b="1" dirty="0">
                <a:solidFill>
                  <a:srgbClr val="0000FF"/>
                </a:solidFill>
                <a:latin typeface="宋体" pitchFamily="2" charset="-122"/>
                <a:ea typeface="宋体" pitchFamily="2" charset="-122"/>
              </a:rPr>
              <a:t>1.肽键：</a:t>
            </a:r>
            <a:r>
              <a:rPr lang="zh-CN" altLang="en-US" sz="2800" b="1" dirty="0">
                <a:solidFill>
                  <a:srgbClr val="000000"/>
                </a:solidFill>
                <a:latin typeface="宋体" pitchFamily="2" charset="-122"/>
                <a:ea typeface="宋体" pitchFamily="2" charset="-122"/>
              </a:rPr>
              <a:t>一个氨基酸的</a:t>
            </a:r>
            <a:r>
              <a:rPr lang="zh-CN" altLang="en-US" sz="2800" b="1" dirty="0">
                <a:solidFill>
                  <a:srgbClr val="000000"/>
                </a:solidFill>
                <a:latin typeface="Times New Roman"/>
                <a:ea typeface="宋体" pitchFamily="2" charset="-122"/>
              </a:rPr>
              <a:t>α</a:t>
            </a:r>
            <a:r>
              <a:rPr lang="zh-CN" altLang="en-US" sz="2800" b="1" dirty="0">
                <a:solidFill>
                  <a:srgbClr val="000000"/>
                </a:solidFill>
                <a:latin typeface="宋体" pitchFamily="2" charset="-122"/>
                <a:ea typeface="宋体" pitchFamily="2" charset="-122"/>
              </a:rPr>
              <a:t>-羧基和另一个氨基酸分子的</a:t>
            </a:r>
            <a:r>
              <a:rPr lang="zh-CN" altLang="en-US" sz="2800" b="1" dirty="0">
                <a:solidFill>
                  <a:srgbClr val="000000"/>
                </a:solidFill>
                <a:latin typeface="Times New Roman"/>
                <a:ea typeface="宋体" pitchFamily="2" charset="-122"/>
              </a:rPr>
              <a:t>α</a:t>
            </a:r>
            <a:r>
              <a:rPr lang="zh-CN" altLang="en-US" sz="2800" b="1" dirty="0">
                <a:solidFill>
                  <a:srgbClr val="000000"/>
                </a:solidFill>
                <a:latin typeface="宋体" pitchFamily="2" charset="-122"/>
                <a:ea typeface="宋体" pitchFamily="2" charset="-122"/>
              </a:rPr>
              <a:t>-氨基缩合失去水而形成的酰胺键。是稳定一级结构的化学键。</a:t>
            </a:r>
          </a:p>
          <a:p>
            <a:pPr algn="ctr" fontAlgn="base">
              <a:spcBef>
                <a:spcPct val="0"/>
              </a:spcBef>
              <a:spcAft>
                <a:spcPct val="0"/>
              </a:spcAft>
              <a:defRPr/>
            </a:pPr>
            <a:r>
              <a:rPr lang="zh-CN" altLang="en-US" sz="2400" b="1" dirty="0">
                <a:solidFill>
                  <a:srgbClr val="000000"/>
                </a:solidFill>
                <a:latin typeface="Times New Roman" panose="02020603050405020304" pitchFamily="18" charset="0"/>
                <a:ea typeface="楷体_GB2312" pitchFamily="49" charset="-122"/>
              </a:rPr>
              <a:t> </a:t>
            </a:r>
          </a:p>
        </p:txBody>
      </p:sp>
      <p:pic>
        <p:nvPicPr>
          <p:cNvPr id="126979" name="Picture 2" descr="dbz08">
            <a:extLst>
              <a:ext uri="{FF2B5EF4-FFF2-40B4-BE49-F238E27FC236}">
                <a16:creationId xmlns:a16="http://schemas.microsoft.com/office/drawing/2014/main" id="{1048C2CF-BD10-00C8-47A0-52A267457C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4321" t="28542" r="13385" b="8951"/>
          <a:stretch>
            <a:fillRect/>
          </a:stretch>
        </p:blipFill>
        <p:spPr bwMode="auto">
          <a:xfrm>
            <a:off x="3648075" y="2997201"/>
            <a:ext cx="4973638" cy="3744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6980" name="Text Box 4">
            <a:extLst>
              <a:ext uri="{FF2B5EF4-FFF2-40B4-BE49-F238E27FC236}">
                <a16:creationId xmlns:a16="http://schemas.microsoft.com/office/drawing/2014/main" id="{CC09E55B-050D-CF89-7D52-FA4EE592AAF4}"/>
              </a:ext>
            </a:extLst>
          </p:cNvPr>
          <p:cNvSpPr txBox="1">
            <a:spLocks noChangeArrowheads="1"/>
          </p:cNvSpPr>
          <p:nvPr/>
        </p:nvSpPr>
        <p:spPr bwMode="auto">
          <a:xfrm>
            <a:off x="1802225" y="836613"/>
            <a:ext cx="6776214"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33CC"/>
              </a:buClr>
              <a:buSzPct val="90000"/>
              <a:buFont typeface="Wingdings" panose="05000000000000000000" pitchFamily="2" charset="2"/>
              <a:buBlip>
                <a:blip r:embed="rId3"/>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lang="zh-CN" altLang="en-US" sz="3200" b="1">
                <a:solidFill>
                  <a:srgbClr val="000000"/>
                </a:solidFill>
                <a:latin typeface="Times New Roman" panose="02020603050405020304" pitchFamily="18" charset="0"/>
                <a:ea typeface="楷体" panose="02010609060101010101" pitchFamily="49" charset="-122"/>
              </a:rPr>
              <a:t>（一）肽键、多肽、肽单位与肽平面</a:t>
            </a:r>
          </a:p>
          <a:p>
            <a:pPr algn="ctr" fontAlgn="base">
              <a:spcBef>
                <a:spcPct val="0"/>
              </a:spcBef>
              <a:spcAft>
                <a:spcPct val="0"/>
              </a:spcAft>
              <a:buClrTx/>
              <a:buSzTx/>
              <a:buNone/>
            </a:pPr>
            <a:endParaRPr lang="zh-CN" altLang="en-US" sz="3200" b="1">
              <a:solidFill>
                <a:srgbClr val="660033"/>
              </a:solidFill>
              <a:latin typeface="Times New Roman" panose="02020603050405020304" pitchFamily="18" charset="0"/>
              <a:ea typeface="楷体_GB2312" pitchFamily="49" charset="-122"/>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8002" name="Rectangle 2">
            <a:extLst>
              <a:ext uri="{FF2B5EF4-FFF2-40B4-BE49-F238E27FC236}">
                <a16:creationId xmlns:a16="http://schemas.microsoft.com/office/drawing/2014/main" id="{DD440AFB-0418-C210-5F92-5AC2C2EDD227}"/>
              </a:ext>
            </a:extLst>
          </p:cNvPr>
          <p:cNvSpPr>
            <a:spLocks noGrp="1" noRot="1" noChangeArrowheads="1"/>
          </p:cNvSpPr>
          <p:nvPr>
            <p:ph type="body" sz="half" idx="4294967295"/>
          </p:nvPr>
        </p:nvSpPr>
        <p:spPr>
          <a:xfrm>
            <a:off x="2089150" y="4005264"/>
            <a:ext cx="8686800" cy="2632075"/>
          </a:xfrm>
        </p:spPr>
        <p:txBody>
          <a:bodyPr/>
          <a:lstStyle/>
          <a:p>
            <a:pPr marL="0" indent="0" algn="just" eaLnBrk="1" hangingPunct="1">
              <a:lnSpc>
                <a:spcPct val="150000"/>
              </a:lnSpc>
              <a:buSzPct val="100000"/>
              <a:buNone/>
            </a:pPr>
            <a:r>
              <a:rPr lang="zh-CN" altLang="en-US" sz="2400" b="1">
                <a:latin typeface="Times New Roman" panose="02020603050405020304" pitchFamily="18" charset="0"/>
              </a:rPr>
              <a:t>氨基酸通过肽链相连所形成的化合物称为</a:t>
            </a:r>
            <a:r>
              <a:rPr lang="zh-CN" altLang="en-US" sz="2400" b="1">
                <a:solidFill>
                  <a:srgbClr val="CC00CC"/>
                </a:solidFill>
                <a:latin typeface="Times New Roman" panose="02020603050405020304" pitchFamily="18" charset="0"/>
              </a:rPr>
              <a:t>肽</a:t>
            </a:r>
            <a:r>
              <a:rPr lang="zh-CN" altLang="en-US" sz="2400" b="1">
                <a:latin typeface="Times New Roman" panose="02020603050405020304" pitchFamily="18" charset="0"/>
              </a:rPr>
              <a:t>。由两个氨基酸以肽链连接而成的化合物称为</a:t>
            </a:r>
            <a:r>
              <a:rPr lang="zh-CN" altLang="en-US" sz="2400" b="1">
                <a:solidFill>
                  <a:srgbClr val="CC00CC"/>
                </a:solidFill>
                <a:latin typeface="Times New Roman" panose="02020603050405020304" pitchFamily="18" charset="0"/>
              </a:rPr>
              <a:t>二肽</a:t>
            </a:r>
            <a:r>
              <a:rPr lang="zh-CN" altLang="en-US" sz="2400" b="1">
                <a:latin typeface="Times New Roman" panose="02020603050405020304" pitchFamily="18" charset="0"/>
              </a:rPr>
              <a:t>，由三个氨基酸以肽键连接而成的肽称为</a:t>
            </a:r>
            <a:r>
              <a:rPr lang="zh-CN" altLang="en-US" sz="2400" b="1">
                <a:solidFill>
                  <a:srgbClr val="CC00CC"/>
                </a:solidFill>
                <a:latin typeface="Times New Roman" panose="02020603050405020304" pitchFamily="18" charset="0"/>
              </a:rPr>
              <a:t>三肽</a:t>
            </a:r>
            <a:r>
              <a:rPr lang="zh-CN" altLang="en-US" sz="2400" b="1">
                <a:latin typeface="Times New Roman" panose="02020603050405020304" pitchFamily="18" charset="0"/>
              </a:rPr>
              <a:t>，其余类推；由多个氨基酸通过肽链相连而成的化合物称为</a:t>
            </a:r>
            <a:r>
              <a:rPr lang="zh-CN" altLang="en-US" sz="2400" b="1">
                <a:solidFill>
                  <a:srgbClr val="CC00CC"/>
                </a:solidFill>
                <a:latin typeface="Times New Roman" panose="02020603050405020304" pitchFamily="18" charset="0"/>
              </a:rPr>
              <a:t>多肽</a:t>
            </a:r>
            <a:r>
              <a:rPr lang="zh-CN" altLang="en-US" sz="2400" b="1">
                <a:latin typeface="Times New Roman" panose="02020603050405020304" pitchFamily="18" charset="0"/>
              </a:rPr>
              <a:t>。因多肽分子呈链状结构，故称为多肽链。</a:t>
            </a:r>
          </a:p>
        </p:txBody>
      </p:sp>
      <p:pic>
        <p:nvPicPr>
          <p:cNvPr id="128003" name="Picture 3" descr="figure-03-02">
            <a:extLst>
              <a:ext uri="{FF2B5EF4-FFF2-40B4-BE49-F238E27FC236}">
                <a16:creationId xmlns:a16="http://schemas.microsoft.com/office/drawing/2014/main" id="{F43577E5-F18D-27EA-1257-3CDF439FAF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6275" y="1516063"/>
            <a:ext cx="5119688" cy="2443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8004" name="Text Box 4">
            <a:extLst>
              <a:ext uri="{FF2B5EF4-FFF2-40B4-BE49-F238E27FC236}">
                <a16:creationId xmlns:a16="http://schemas.microsoft.com/office/drawing/2014/main" id="{5BD2D525-BF82-EE69-59C8-B19325846429}"/>
              </a:ext>
            </a:extLst>
          </p:cNvPr>
          <p:cNvSpPr txBox="1">
            <a:spLocks noChangeArrowheads="1"/>
          </p:cNvSpPr>
          <p:nvPr/>
        </p:nvSpPr>
        <p:spPr bwMode="auto">
          <a:xfrm>
            <a:off x="2117726" y="908050"/>
            <a:ext cx="14208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33CC"/>
              </a:buClr>
              <a:buSzPct val="90000"/>
              <a:buFont typeface="Wingdings" panose="05000000000000000000" pitchFamily="2" charset="2"/>
              <a:buBlip>
                <a:blip r:embed="rId3"/>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lang="zh-CN" altLang="en-US" sz="3200" b="1">
                <a:solidFill>
                  <a:srgbClr val="0000FF"/>
                </a:solidFill>
                <a:latin typeface="宋体" panose="02010600030101010101" pitchFamily="2" charset="-122"/>
              </a:rPr>
              <a:t>2.多肽</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3">
            <a:extLst>
              <a:ext uri="{FF2B5EF4-FFF2-40B4-BE49-F238E27FC236}">
                <a16:creationId xmlns:a16="http://schemas.microsoft.com/office/drawing/2014/main" id="{1B04901F-A968-F7D5-0991-65FDBD37FD7F}"/>
              </a:ext>
            </a:extLst>
          </p:cNvPr>
          <p:cNvSpPr>
            <a:spLocks noRot="1" noChangeArrowheads="1"/>
          </p:cNvSpPr>
          <p:nvPr/>
        </p:nvSpPr>
        <p:spPr bwMode="auto">
          <a:xfrm>
            <a:off x="1981200" y="357188"/>
            <a:ext cx="86868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0033CC"/>
              </a:buClr>
              <a:buSzPct val="90000"/>
              <a:buFont typeface="Wingdings" panose="05000000000000000000" pitchFamily="2" charset="2"/>
              <a:buBlip>
                <a:blip r:embed="rId2"/>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5A84D8"/>
              </a:buClr>
              <a:buSzTx/>
              <a:buNone/>
            </a:pPr>
            <a:endParaRPr lang="zh-CN" altLang="en-US" sz="2400" b="1">
              <a:solidFill>
                <a:srgbClr val="660033"/>
              </a:solidFill>
              <a:latin typeface="Times New Roman" panose="02020603050405020304" pitchFamily="18" charset="0"/>
              <a:ea typeface="楷体_GB2312" pitchFamily="49" charset="-122"/>
            </a:endParaRPr>
          </a:p>
          <a:p>
            <a:pPr fontAlgn="base">
              <a:spcAft>
                <a:spcPct val="0"/>
              </a:spcAft>
              <a:buClr>
                <a:srgbClr val="5A84D8"/>
              </a:buClr>
              <a:buSzTx/>
              <a:buNone/>
            </a:pPr>
            <a:r>
              <a:rPr lang="zh-CN" altLang="en-US">
                <a:solidFill>
                  <a:srgbClr val="0000FF"/>
                </a:solidFill>
                <a:latin typeface="宋体" panose="02010600030101010101" pitchFamily="2" charset="-122"/>
              </a:rPr>
              <a:t>  </a:t>
            </a:r>
            <a:r>
              <a:rPr lang="zh-CN" altLang="en-US" sz="3200" b="1">
                <a:solidFill>
                  <a:srgbClr val="0000FF"/>
                </a:solidFill>
                <a:latin typeface="宋体" panose="02010600030101010101" pitchFamily="2" charset="-122"/>
              </a:rPr>
              <a:t>2.多肽-命名及表达式</a:t>
            </a:r>
          </a:p>
        </p:txBody>
      </p:sp>
      <p:sp>
        <p:nvSpPr>
          <p:cNvPr id="129027" name="Rectangle 5">
            <a:extLst>
              <a:ext uri="{FF2B5EF4-FFF2-40B4-BE49-F238E27FC236}">
                <a16:creationId xmlns:a16="http://schemas.microsoft.com/office/drawing/2014/main" id="{34DA0C37-AA86-6FB1-31DB-8B4C021A66CC}"/>
              </a:ext>
            </a:extLst>
          </p:cNvPr>
          <p:cNvSpPr>
            <a:spLocks noChangeArrowheads="1"/>
          </p:cNvSpPr>
          <p:nvPr/>
        </p:nvSpPr>
        <p:spPr bwMode="auto">
          <a:xfrm>
            <a:off x="2376488" y="5562601"/>
            <a:ext cx="65262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33CC"/>
              </a:buClr>
              <a:buSzPct val="90000"/>
              <a:buFont typeface="Wingdings" panose="05000000000000000000" pitchFamily="2" charset="2"/>
              <a:buBlip>
                <a:blip r:embed="rId2"/>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fontAlgn="base">
              <a:spcAft>
                <a:spcPct val="0"/>
              </a:spcAft>
              <a:buClr>
                <a:srgbClr val="5A84D8"/>
              </a:buClr>
              <a:buSzTx/>
              <a:buNone/>
            </a:pPr>
            <a:r>
              <a:rPr lang="zh-CN" altLang="en-US" sz="2400" b="1" dirty="0">
                <a:solidFill>
                  <a:srgbClr val="000000"/>
                </a:solidFill>
                <a:latin typeface="宋体" panose="02010600030101010101" pitchFamily="2" charset="-122"/>
              </a:rPr>
              <a:t>（3）用氨基酸英文名称的三字符或单字符表示</a:t>
            </a:r>
          </a:p>
        </p:txBody>
      </p:sp>
      <p:sp>
        <p:nvSpPr>
          <p:cNvPr id="129028" name="Rectangle 6">
            <a:extLst>
              <a:ext uri="{FF2B5EF4-FFF2-40B4-BE49-F238E27FC236}">
                <a16:creationId xmlns:a16="http://schemas.microsoft.com/office/drawing/2014/main" id="{023F09B4-EDFE-A685-4B4F-07F53A3939AF}"/>
              </a:ext>
            </a:extLst>
          </p:cNvPr>
          <p:cNvSpPr>
            <a:spLocks noChangeArrowheads="1"/>
          </p:cNvSpPr>
          <p:nvPr/>
        </p:nvSpPr>
        <p:spPr bwMode="auto">
          <a:xfrm>
            <a:off x="3406776" y="6021389"/>
            <a:ext cx="45307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33CC"/>
              </a:buClr>
              <a:buSzPct val="90000"/>
              <a:buFont typeface="Wingdings" panose="05000000000000000000" pitchFamily="2" charset="2"/>
              <a:buBlip>
                <a:blip r:embed="rId2"/>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fontAlgn="base">
              <a:spcAft>
                <a:spcPct val="0"/>
              </a:spcAft>
              <a:buClr>
                <a:srgbClr val="5A84D8"/>
              </a:buClr>
              <a:buSzTx/>
              <a:buNone/>
            </a:pPr>
            <a:r>
              <a:rPr lang="zh-CN" altLang="en-US" b="1">
                <a:solidFill>
                  <a:srgbClr val="000000"/>
                </a:solidFill>
                <a:latin typeface="宋体" panose="02010600030101010101" pitchFamily="2" charset="-122"/>
              </a:rPr>
              <a:t>H.Ser.Gly.Tyr.Gly.Leu.OH</a:t>
            </a:r>
          </a:p>
        </p:txBody>
      </p:sp>
      <p:grpSp>
        <p:nvGrpSpPr>
          <p:cNvPr id="129029" name="Group 7">
            <a:extLst>
              <a:ext uri="{FF2B5EF4-FFF2-40B4-BE49-F238E27FC236}">
                <a16:creationId xmlns:a16="http://schemas.microsoft.com/office/drawing/2014/main" id="{93DEC683-681B-3737-A817-086F16D62880}"/>
              </a:ext>
            </a:extLst>
          </p:cNvPr>
          <p:cNvGrpSpPr>
            <a:grpSpLocks/>
          </p:cNvGrpSpPr>
          <p:nvPr/>
        </p:nvGrpSpPr>
        <p:grpSpPr bwMode="auto">
          <a:xfrm>
            <a:off x="2279650" y="1701800"/>
            <a:ext cx="6629400" cy="2590800"/>
            <a:chOff x="0" y="0"/>
            <a:chExt cx="4176" cy="1632"/>
          </a:xfrm>
        </p:grpSpPr>
        <p:pic>
          <p:nvPicPr>
            <p:cNvPr id="129033" name="Picture 8" descr="dbz12">
              <a:extLst>
                <a:ext uri="{FF2B5EF4-FFF2-40B4-BE49-F238E27FC236}">
                  <a16:creationId xmlns:a16="http://schemas.microsoft.com/office/drawing/2014/main" id="{0AD21EDF-0530-D670-4B15-D005AF1964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0781" t="33655" r="6619" b="27081"/>
            <a:stretch>
              <a:fillRect/>
            </a:stretch>
          </p:blipFill>
          <p:spPr bwMode="auto">
            <a:xfrm>
              <a:off x="864" y="288"/>
              <a:ext cx="3312" cy="1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034" name="Rectangle 9">
              <a:extLst>
                <a:ext uri="{FF2B5EF4-FFF2-40B4-BE49-F238E27FC236}">
                  <a16:creationId xmlns:a16="http://schemas.microsoft.com/office/drawing/2014/main" id="{854DBD8E-5674-9D73-0723-39FE01E343E5}"/>
                </a:ext>
              </a:extLst>
            </p:cNvPr>
            <p:cNvSpPr>
              <a:spLocks noChangeArrowheads="1"/>
            </p:cNvSpPr>
            <p:nvPr/>
          </p:nvSpPr>
          <p:spPr bwMode="auto">
            <a:xfrm>
              <a:off x="0" y="0"/>
              <a:ext cx="196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33CC"/>
                </a:buClr>
                <a:buSzPct val="90000"/>
                <a:buFont typeface="Wingdings" panose="05000000000000000000" pitchFamily="2" charset="2"/>
                <a:buBlip>
                  <a:blip r:embed="rId2"/>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fontAlgn="base">
                <a:spcAft>
                  <a:spcPct val="0"/>
                </a:spcAft>
                <a:buClr>
                  <a:srgbClr val="5A84D8"/>
                </a:buClr>
                <a:buSzTx/>
                <a:buNone/>
              </a:pPr>
              <a:r>
                <a:rPr lang="zh-CN" altLang="en-US" sz="2400" b="1">
                  <a:solidFill>
                    <a:srgbClr val="000000"/>
                  </a:solidFill>
                  <a:latin typeface="宋体" panose="02010600030101010101" pitchFamily="2" charset="-122"/>
                </a:rPr>
                <a:t>（1）用结构式来表示</a:t>
              </a:r>
            </a:p>
          </p:txBody>
        </p:sp>
      </p:grpSp>
      <p:sp>
        <p:nvSpPr>
          <p:cNvPr id="129030" name="Rectangle 11">
            <a:extLst>
              <a:ext uri="{FF2B5EF4-FFF2-40B4-BE49-F238E27FC236}">
                <a16:creationId xmlns:a16="http://schemas.microsoft.com/office/drawing/2014/main" id="{DA6593C5-0D92-69DE-C5BF-A622D00088CF}"/>
              </a:ext>
            </a:extLst>
          </p:cNvPr>
          <p:cNvSpPr>
            <a:spLocks noChangeArrowheads="1"/>
          </p:cNvSpPr>
          <p:nvPr/>
        </p:nvSpPr>
        <p:spPr bwMode="auto">
          <a:xfrm>
            <a:off x="2330451" y="4508500"/>
            <a:ext cx="4976813"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170" tIns="46990" rIns="90170" bIns="46990">
            <a:spAutoFit/>
          </a:bodyPr>
          <a:lstStyle>
            <a:lvl1pPr>
              <a:spcBef>
                <a:spcPct val="20000"/>
              </a:spcBef>
              <a:buClr>
                <a:srgbClr val="0033CC"/>
              </a:buClr>
              <a:buSzPct val="90000"/>
              <a:buFont typeface="Wingdings" panose="05000000000000000000" pitchFamily="2" charset="2"/>
              <a:buBlip>
                <a:blip r:embed="rId2"/>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lang="zh-CN" altLang="en-US" sz="2400" b="1" dirty="0">
                <a:solidFill>
                  <a:srgbClr val="000000"/>
                </a:solidFill>
                <a:latin typeface="宋体" panose="02010600030101010101" pitchFamily="2" charset="-122"/>
              </a:rPr>
              <a:t>（2）用氨基酸中文名称的字头表示</a:t>
            </a:r>
          </a:p>
        </p:txBody>
      </p:sp>
      <p:sp>
        <p:nvSpPr>
          <p:cNvPr id="129031" name="Rectangle 12">
            <a:extLst>
              <a:ext uri="{FF2B5EF4-FFF2-40B4-BE49-F238E27FC236}">
                <a16:creationId xmlns:a16="http://schemas.microsoft.com/office/drawing/2014/main" id="{22CFA24A-1C9A-B812-0EEF-7CEF2481402C}"/>
              </a:ext>
            </a:extLst>
          </p:cNvPr>
          <p:cNvSpPr>
            <a:spLocks noChangeArrowheads="1"/>
          </p:cNvSpPr>
          <p:nvPr/>
        </p:nvSpPr>
        <p:spPr bwMode="auto">
          <a:xfrm>
            <a:off x="3495675" y="4965700"/>
            <a:ext cx="5486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170" tIns="46990" rIns="90170" bIns="46990" anchor="ctr"/>
          <a:lstStyle>
            <a:lvl1pPr>
              <a:spcBef>
                <a:spcPct val="20000"/>
              </a:spcBef>
              <a:buClr>
                <a:srgbClr val="0033CC"/>
              </a:buClr>
              <a:buSzPct val="90000"/>
              <a:buFont typeface="Wingdings" panose="05000000000000000000" pitchFamily="2" charset="2"/>
              <a:buBlip>
                <a:blip r:embed="rId2"/>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400" b="1">
              <a:solidFill>
                <a:srgbClr val="660033"/>
              </a:solidFill>
              <a:latin typeface="Times New Roman" panose="02020603050405020304" pitchFamily="18" charset="0"/>
              <a:ea typeface="楷体_GB2312" pitchFamily="49" charset="-122"/>
            </a:endParaRPr>
          </a:p>
        </p:txBody>
      </p:sp>
      <p:sp>
        <p:nvSpPr>
          <p:cNvPr id="129032" name="Text Box 13">
            <a:extLst>
              <a:ext uri="{FF2B5EF4-FFF2-40B4-BE49-F238E27FC236}">
                <a16:creationId xmlns:a16="http://schemas.microsoft.com/office/drawing/2014/main" id="{26A7CF3A-2FD0-A3F2-159A-545DCE521942}"/>
              </a:ext>
            </a:extLst>
          </p:cNvPr>
          <p:cNvSpPr txBox="1">
            <a:spLocks noChangeArrowheads="1"/>
          </p:cNvSpPr>
          <p:nvPr/>
        </p:nvSpPr>
        <p:spPr bwMode="auto">
          <a:xfrm>
            <a:off x="3287713" y="5013326"/>
            <a:ext cx="662146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170" tIns="46990" rIns="90170" bIns="46990">
            <a:spAutoFit/>
          </a:bodyPr>
          <a:lstStyle>
            <a:lvl1pPr>
              <a:spcBef>
                <a:spcPct val="20000"/>
              </a:spcBef>
              <a:buClr>
                <a:srgbClr val="0033CC"/>
              </a:buClr>
              <a:buSzPct val="90000"/>
              <a:buFont typeface="Wingdings" panose="05000000000000000000" pitchFamily="2" charset="2"/>
              <a:buBlip>
                <a:blip r:embed="rId2"/>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2400" b="1" dirty="0">
                <a:solidFill>
                  <a:srgbClr val="000000"/>
                </a:solidFill>
                <a:latin typeface="宋体" panose="02010600030101010101" pitchFamily="2" charset="-122"/>
              </a:rPr>
              <a:t>丝氨</a:t>
            </a:r>
            <a:r>
              <a:rPr lang="zh-CN" altLang="en-US" sz="2400" b="1" dirty="0">
                <a:solidFill>
                  <a:srgbClr val="C00000"/>
                </a:solidFill>
                <a:latin typeface="宋体" panose="02010600030101010101" pitchFamily="2" charset="-122"/>
              </a:rPr>
              <a:t>酰</a:t>
            </a:r>
            <a:r>
              <a:rPr lang="zh-CN" altLang="en-US" sz="2400" b="1" dirty="0">
                <a:solidFill>
                  <a:srgbClr val="000000"/>
                </a:solidFill>
                <a:latin typeface="宋体" panose="02010600030101010101" pitchFamily="2" charset="-122"/>
              </a:rPr>
              <a:t>-甘氨</a:t>
            </a:r>
            <a:r>
              <a:rPr lang="zh-CN" altLang="en-US" sz="2400" b="1" dirty="0">
                <a:solidFill>
                  <a:srgbClr val="C00000"/>
                </a:solidFill>
                <a:latin typeface="宋体" panose="02010600030101010101" pitchFamily="2" charset="-122"/>
              </a:rPr>
              <a:t>酰</a:t>
            </a:r>
            <a:r>
              <a:rPr lang="zh-CN" altLang="en-US" sz="2400" b="1" dirty="0">
                <a:solidFill>
                  <a:srgbClr val="000000"/>
                </a:solidFill>
                <a:latin typeface="宋体" panose="02010600030101010101" pitchFamily="2" charset="-122"/>
              </a:rPr>
              <a:t>-酪氨</a:t>
            </a:r>
            <a:r>
              <a:rPr lang="zh-CN" altLang="en-US" sz="2400" b="1" dirty="0">
                <a:solidFill>
                  <a:srgbClr val="C00000"/>
                </a:solidFill>
                <a:latin typeface="宋体" panose="02010600030101010101" pitchFamily="2" charset="-122"/>
              </a:rPr>
              <a:t>酰</a:t>
            </a:r>
            <a:r>
              <a:rPr lang="zh-CN" altLang="en-US" sz="2400" b="1" dirty="0">
                <a:solidFill>
                  <a:srgbClr val="000000"/>
                </a:solidFill>
                <a:latin typeface="宋体" panose="02010600030101010101" pitchFamily="2" charset="-122"/>
              </a:rPr>
              <a:t>-甘氨</a:t>
            </a:r>
            <a:r>
              <a:rPr lang="zh-CN" altLang="en-US" sz="2400" b="1" dirty="0">
                <a:solidFill>
                  <a:srgbClr val="C00000"/>
                </a:solidFill>
                <a:latin typeface="宋体" panose="02010600030101010101" pitchFamily="2" charset="-122"/>
              </a:rPr>
              <a:t>酰</a:t>
            </a:r>
            <a:r>
              <a:rPr lang="zh-CN" altLang="en-US" sz="2400" b="1" dirty="0">
                <a:solidFill>
                  <a:srgbClr val="000000"/>
                </a:solidFill>
                <a:latin typeface="宋体" panose="02010600030101010101" pitchFamily="2" charset="-122"/>
              </a:rPr>
              <a:t>-亮氨酸（五肽）</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30051" name="Picture 4">
            <a:extLst>
              <a:ext uri="{FF2B5EF4-FFF2-40B4-BE49-F238E27FC236}">
                <a16:creationId xmlns:a16="http://schemas.microsoft.com/office/drawing/2014/main" id="{C96E3C06-CD60-62BF-F838-9362594C1F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5151" y="3459106"/>
            <a:ext cx="8535987"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14" name="Rectangle 3">
            <a:extLst>
              <a:ext uri="{FF2B5EF4-FFF2-40B4-BE49-F238E27FC236}">
                <a16:creationId xmlns:a16="http://schemas.microsoft.com/office/drawing/2014/main" id="{87AF8C0F-9F97-0A2C-C3E6-1749C5D1E948}"/>
              </a:ext>
            </a:extLst>
          </p:cNvPr>
          <p:cNvSpPr>
            <a:spLocks noGrp="1" noRot="1" noChangeArrowheads="1"/>
          </p:cNvSpPr>
          <p:nvPr>
            <p:ph type="body" idx="4294967295"/>
          </p:nvPr>
        </p:nvSpPr>
        <p:spPr>
          <a:xfrm>
            <a:off x="2136776" y="1341439"/>
            <a:ext cx="8397875" cy="1368425"/>
          </a:xfrm>
        </p:spPr>
        <p:txBody>
          <a:bodyPr/>
          <a:lstStyle/>
          <a:p>
            <a:pPr eaLnBrk="1" hangingPunct="1">
              <a:buFont typeface="Wingdings" panose="05000000000000000000" pitchFamily="2" charset="2"/>
              <a:buNone/>
              <a:defRPr/>
            </a:pPr>
            <a:endParaRPr lang="zh-CN" altLang="en-US" sz="1800" b="1" dirty="0">
              <a:latin typeface="Times New Roman" panose="02020603050405020304" pitchFamily="18" charset="0"/>
              <a:ea typeface="楷体_GB2312" pitchFamily="49" charset="-122"/>
            </a:endParaRPr>
          </a:p>
          <a:p>
            <a:pPr marL="0" indent="0" eaLnBrk="1" hangingPunct="1">
              <a:lnSpc>
                <a:spcPct val="150000"/>
              </a:lnSpc>
              <a:buNone/>
              <a:defRPr/>
            </a:pPr>
            <a:r>
              <a:rPr lang="zh-CN" altLang="en-US" sz="2000" b="1" dirty="0">
                <a:solidFill>
                  <a:srgbClr val="0000FF"/>
                </a:solidFill>
                <a:latin typeface="宋体" panose="02010600030101010101" pitchFamily="2" charset="-122"/>
              </a:rPr>
              <a:t> </a:t>
            </a:r>
            <a:r>
              <a:rPr lang="zh-CN" altLang="en-US" b="1" dirty="0">
                <a:solidFill>
                  <a:srgbClr val="0000FF"/>
                </a:solidFill>
                <a:latin typeface="宋体" panose="02010600030101010101" pitchFamily="2" charset="-122"/>
              </a:rPr>
              <a:t>3.肽单位</a:t>
            </a:r>
            <a:r>
              <a:rPr lang="zh-CN" altLang="en-US" b="1" dirty="0">
                <a:latin typeface="宋体" panose="02010600030101010101" pitchFamily="2" charset="-122"/>
              </a:rPr>
              <a:t>：肽链中从一个</a:t>
            </a:r>
            <a:r>
              <a:rPr lang="zh-CN" altLang="en-US" b="1" dirty="0">
                <a:latin typeface="+mj-lt"/>
              </a:rPr>
              <a:t>α</a:t>
            </a:r>
            <a:r>
              <a:rPr lang="zh-CN" altLang="en-US" b="1" dirty="0">
                <a:latin typeface="宋体" panose="02010600030101010101" pitchFamily="2" charset="-122"/>
              </a:rPr>
              <a:t>-碳原子到相邻</a:t>
            </a:r>
            <a:r>
              <a:rPr lang="zh-CN" altLang="en-US" b="1" dirty="0">
                <a:latin typeface="+mj-lt"/>
              </a:rPr>
              <a:t>α</a:t>
            </a:r>
            <a:r>
              <a:rPr lang="zh-CN" altLang="en-US" b="1" dirty="0">
                <a:latin typeface="宋体" panose="02010600030101010101" pitchFamily="2" charset="-122"/>
              </a:rPr>
              <a:t>-碳原子之间的结构称为肽单位，即肽链主链上的重复结构。</a:t>
            </a:r>
          </a:p>
        </p:txBody>
      </p:sp>
      <p:sp>
        <p:nvSpPr>
          <p:cNvPr id="130052" name="Rectangle 5">
            <a:extLst>
              <a:ext uri="{FF2B5EF4-FFF2-40B4-BE49-F238E27FC236}">
                <a16:creationId xmlns:a16="http://schemas.microsoft.com/office/drawing/2014/main" id="{AFA50D0B-ACED-1B5E-1FC2-A2777E6ECF36}"/>
              </a:ext>
            </a:extLst>
          </p:cNvPr>
          <p:cNvSpPr>
            <a:spLocks noChangeArrowheads="1"/>
          </p:cNvSpPr>
          <p:nvPr/>
        </p:nvSpPr>
        <p:spPr bwMode="auto">
          <a:xfrm>
            <a:off x="3432176" y="3573464"/>
            <a:ext cx="1800225" cy="1944687"/>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33CC"/>
              </a:buClr>
              <a:buSzPct val="90000"/>
              <a:buFont typeface="Wingdings" panose="05000000000000000000" pitchFamily="2" charset="2"/>
              <a:buBlip>
                <a:blip r:embed="rId3"/>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400" b="1">
              <a:solidFill>
                <a:srgbClr val="660033"/>
              </a:solidFill>
              <a:latin typeface="Times New Roman" panose="02020603050405020304" pitchFamily="18" charset="0"/>
              <a:ea typeface="楷体_GB2312" pitchFamily="49" charset="-122"/>
            </a:endParaRPr>
          </a:p>
        </p:txBody>
      </p:sp>
      <p:sp>
        <p:nvSpPr>
          <p:cNvPr id="130053" name="Rectangle 6">
            <a:extLst>
              <a:ext uri="{FF2B5EF4-FFF2-40B4-BE49-F238E27FC236}">
                <a16:creationId xmlns:a16="http://schemas.microsoft.com/office/drawing/2014/main" id="{37DCAC09-A39A-C245-6888-1DD0BEC24506}"/>
              </a:ext>
            </a:extLst>
          </p:cNvPr>
          <p:cNvSpPr>
            <a:spLocks noChangeArrowheads="1"/>
          </p:cNvSpPr>
          <p:nvPr/>
        </p:nvSpPr>
        <p:spPr bwMode="auto">
          <a:xfrm>
            <a:off x="5232401" y="3573464"/>
            <a:ext cx="1800225" cy="1944687"/>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33CC"/>
              </a:buClr>
              <a:buSzPct val="90000"/>
              <a:buFont typeface="Wingdings" panose="05000000000000000000" pitchFamily="2" charset="2"/>
              <a:buBlip>
                <a:blip r:embed="rId3"/>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400" b="1">
              <a:solidFill>
                <a:srgbClr val="660033"/>
              </a:solidFill>
              <a:latin typeface="Times New Roman" panose="02020603050405020304" pitchFamily="18" charset="0"/>
              <a:ea typeface="楷体_GB2312" pitchFamily="49" charset="-122"/>
            </a:endParaRPr>
          </a:p>
        </p:txBody>
      </p:sp>
      <p:sp>
        <p:nvSpPr>
          <p:cNvPr id="130054" name="Rectangle 7">
            <a:extLst>
              <a:ext uri="{FF2B5EF4-FFF2-40B4-BE49-F238E27FC236}">
                <a16:creationId xmlns:a16="http://schemas.microsoft.com/office/drawing/2014/main" id="{A97A4B95-AC1D-AAFD-03DF-98EB7136535E}"/>
              </a:ext>
            </a:extLst>
          </p:cNvPr>
          <p:cNvSpPr>
            <a:spLocks noChangeArrowheads="1"/>
          </p:cNvSpPr>
          <p:nvPr/>
        </p:nvSpPr>
        <p:spPr bwMode="auto">
          <a:xfrm>
            <a:off x="7032626" y="3573464"/>
            <a:ext cx="1800225" cy="1944687"/>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33CC"/>
              </a:buClr>
              <a:buSzPct val="90000"/>
              <a:buFont typeface="Wingdings" panose="05000000000000000000" pitchFamily="2" charset="2"/>
              <a:buBlip>
                <a:blip r:embed="rId3"/>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400" b="1">
              <a:solidFill>
                <a:srgbClr val="660033"/>
              </a:solidFill>
              <a:latin typeface="Times New Roman" panose="02020603050405020304" pitchFamily="18" charset="0"/>
              <a:ea typeface="楷体_GB2312" pitchFamily="49" charset="-122"/>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7278F97C-F462-BCAC-D92A-83245E77C207}"/>
              </a:ext>
            </a:extLst>
          </p:cNvPr>
          <p:cNvSpPr>
            <a:spLocks noGrp="1" noRot="1" noChangeArrowheads="1"/>
          </p:cNvSpPr>
          <p:nvPr>
            <p:ph type="body" idx="4294967295"/>
          </p:nvPr>
        </p:nvSpPr>
        <p:spPr>
          <a:xfrm>
            <a:off x="1847850" y="4005263"/>
            <a:ext cx="8686800" cy="1828800"/>
          </a:xfrm>
        </p:spPr>
        <p:txBody>
          <a:bodyPr/>
          <a:lstStyle/>
          <a:p>
            <a:pPr eaLnBrk="1" hangingPunct="1">
              <a:buFont typeface="Wingdings" panose="05000000000000000000" pitchFamily="2" charset="2"/>
              <a:buNone/>
              <a:defRPr/>
            </a:pPr>
            <a:r>
              <a:rPr lang="zh-CN" altLang="en-US" b="1" dirty="0">
                <a:latin typeface="宋体" pitchFamily="2" charset="-122"/>
              </a:rPr>
              <a:t>（1）肽单位是一个刚性平面结构：由于C-N键具有40%双键性质，不能自由旋转，使肽单位的6个原子处于同一平面上（C</a:t>
            </a:r>
            <a:r>
              <a:rPr lang="zh-CN" altLang="en-US" b="1" dirty="0">
                <a:latin typeface="+mj-lt"/>
                <a:sym typeface="Symbol" pitchFamily="18" charset="2"/>
              </a:rPr>
              <a:t></a:t>
            </a:r>
            <a:r>
              <a:rPr lang="zh-CN" altLang="en-US" b="1" dirty="0">
                <a:latin typeface="宋体" pitchFamily="2" charset="-122"/>
              </a:rPr>
              <a:t> ，C=O，N-H，C</a:t>
            </a:r>
            <a:r>
              <a:rPr lang="zh-CN" altLang="en-US" b="1" dirty="0">
                <a:latin typeface="宋体" pitchFamily="2" charset="-122"/>
                <a:sym typeface="Symbol" pitchFamily="18" charset="2"/>
              </a:rPr>
              <a:t>）；</a:t>
            </a:r>
            <a:endParaRPr lang="zh-CN" altLang="en-US" b="1" dirty="0">
              <a:latin typeface="宋体" pitchFamily="2" charset="-122"/>
            </a:endParaRPr>
          </a:p>
          <a:p>
            <a:pPr eaLnBrk="1" hangingPunct="1">
              <a:buFont typeface="Wingdings" panose="05000000000000000000" pitchFamily="2" charset="2"/>
              <a:buNone/>
              <a:defRPr/>
            </a:pPr>
            <a:r>
              <a:rPr lang="zh-CN" altLang="en-US" b="1" dirty="0">
                <a:latin typeface="宋体" pitchFamily="2" charset="-122"/>
              </a:rPr>
              <a:t>（2）肽平面中羰基的氧与亚氨基的氢可有顺反两种排布，除pro外，绝大多数为反式（稳定）；</a:t>
            </a:r>
          </a:p>
          <a:p>
            <a:pPr eaLnBrk="1" hangingPunct="1">
              <a:buFont typeface="Wingdings" panose="05000000000000000000" pitchFamily="2" charset="2"/>
              <a:buNone/>
              <a:defRPr/>
            </a:pPr>
            <a:r>
              <a:rPr lang="zh-CN" altLang="en-US" b="1" dirty="0">
                <a:latin typeface="宋体" pitchFamily="2" charset="-122"/>
              </a:rPr>
              <a:t>（3）与C</a:t>
            </a:r>
            <a:r>
              <a:rPr lang="zh-CN" altLang="en-US" b="1" dirty="0">
                <a:latin typeface="宋体" pitchFamily="2" charset="-122"/>
                <a:sym typeface="Symbol" pitchFamily="18" charset="2"/>
              </a:rPr>
              <a:t></a:t>
            </a:r>
            <a:r>
              <a:rPr lang="zh-CN" altLang="en-US" b="1" dirty="0">
                <a:latin typeface="宋体" pitchFamily="2" charset="-122"/>
              </a:rPr>
              <a:t>相连的两个键为单键，可旋转一定角度。</a:t>
            </a:r>
          </a:p>
        </p:txBody>
      </p:sp>
      <p:grpSp>
        <p:nvGrpSpPr>
          <p:cNvPr id="131075" name="Group 3">
            <a:extLst>
              <a:ext uri="{FF2B5EF4-FFF2-40B4-BE49-F238E27FC236}">
                <a16:creationId xmlns:a16="http://schemas.microsoft.com/office/drawing/2014/main" id="{C468C38F-E1A2-BB71-D221-CAA0B9EAE434}"/>
              </a:ext>
            </a:extLst>
          </p:cNvPr>
          <p:cNvGrpSpPr>
            <a:grpSpLocks/>
          </p:cNvGrpSpPr>
          <p:nvPr/>
        </p:nvGrpSpPr>
        <p:grpSpPr bwMode="auto">
          <a:xfrm>
            <a:off x="2711450" y="1412875"/>
            <a:ext cx="6553200" cy="2286000"/>
            <a:chOff x="0" y="0"/>
            <a:chExt cx="5280" cy="1440"/>
          </a:xfrm>
        </p:grpSpPr>
        <p:grpSp>
          <p:nvGrpSpPr>
            <p:cNvPr id="131079" name="Group 4">
              <a:extLst>
                <a:ext uri="{FF2B5EF4-FFF2-40B4-BE49-F238E27FC236}">
                  <a16:creationId xmlns:a16="http://schemas.microsoft.com/office/drawing/2014/main" id="{5A46A7C7-135E-F985-50DB-EB16021C4CF8}"/>
                </a:ext>
              </a:extLst>
            </p:cNvPr>
            <p:cNvGrpSpPr>
              <a:grpSpLocks/>
            </p:cNvGrpSpPr>
            <p:nvPr/>
          </p:nvGrpSpPr>
          <p:grpSpPr bwMode="auto">
            <a:xfrm>
              <a:off x="2496" y="0"/>
              <a:ext cx="2784" cy="1440"/>
              <a:chOff x="0" y="0"/>
              <a:chExt cx="2784" cy="1440"/>
            </a:xfrm>
          </p:grpSpPr>
          <p:grpSp>
            <p:nvGrpSpPr>
              <p:cNvPr id="131085" name="Group 5">
                <a:extLst>
                  <a:ext uri="{FF2B5EF4-FFF2-40B4-BE49-F238E27FC236}">
                    <a16:creationId xmlns:a16="http://schemas.microsoft.com/office/drawing/2014/main" id="{6AED0DF6-3E1F-D742-3E43-A688D629D110}"/>
                  </a:ext>
                </a:extLst>
              </p:cNvPr>
              <p:cNvGrpSpPr>
                <a:grpSpLocks/>
              </p:cNvGrpSpPr>
              <p:nvPr/>
            </p:nvGrpSpPr>
            <p:grpSpPr bwMode="auto">
              <a:xfrm>
                <a:off x="0" y="48"/>
                <a:ext cx="2784" cy="1392"/>
                <a:chOff x="0" y="0"/>
                <a:chExt cx="2784" cy="1392"/>
              </a:xfrm>
            </p:grpSpPr>
            <p:graphicFrame>
              <p:nvGraphicFramePr>
                <p:cNvPr id="131087" name="Object 6">
                  <a:extLst>
                    <a:ext uri="{FF2B5EF4-FFF2-40B4-BE49-F238E27FC236}">
                      <a16:creationId xmlns:a16="http://schemas.microsoft.com/office/drawing/2014/main" id="{FCDF8C31-9E5C-6C6E-AE8B-563081906D8F}"/>
                    </a:ext>
                  </a:extLst>
                </p:cNvPr>
                <p:cNvGraphicFramePr>
                  <a:graphicFrameLocks/>
                </p:cNvGraphicFramePr>
                <p:nvPr/>
              </p:nvGraphicFramePr>
              <p:xfrm>
                <a:off x="0" y="0"/>
                <a:ext cx="2784" cy="1392"/>
              </p:xfrm>
              <a:graphic>
                <a:graphicData uri="http://schemas.openxmlformats.org/presentationml/2006/ole">
                  <mc:AlternateContent xmlns:mc="http://schemas.openxmlformats.org/markup-compatibility/2006">
                    <mc:Choice xmlns:v="urn:schemas-microsoft-com:vml" Requires="v">
                      <p:oleObj r:id="rId3" imgW="4572000" imgH="3429000" progId="PowerPoint.Slide.8">
                        <p:embed/>
                      </p:oleObj>
                    </mc:Choice>
                    <mc:Fallback>
                      <p:oleObj r:id="rId3" imgW="4572000" imgH="3429000" progId="PowerPoint.Slide.8">
                        <p:embed/>
                        <p:pic>
                          <p:nvPicPr>
                            <p:cNvPr id="131087" name="Object 6">
                              <a:extLst>
                                <a:ext uri="{FF2B5EF4-FFF2-40B4-BE49-F238E27FC236}">
                                  <a16:creationId xmlns:a16="http://schemas.microsoft.com/office/drawing/2014/main" id="{FCDF8C31-9E5C-6C6E-AE8B-563081906D8F}"/>
                                </a:ext>
                              </a:extLst>
                            </p:cNvPr>
                            <p:cNvPicPr>
                              <a:picLocks noChangeArrowheads="1"/>
                            </p:cNvPicPr>
                            <p:nvPr/>
                          </p:nvPicPr>
                          <p:blipFill>
                            <a:blip r:embed="rId4">
                              <a:extLst>
                                <a:ext uri="{28A0092B-C50C-407E-A947-70E740481C1C}">
                                  <a14:useLocalDpi xmlns:a14="http://schemas.microsoft.com/office/drawing/2010/main" val="0"/>
                                </a:ext>
                              </a:extLst>
                            </a:blip>
                            <a:srcRect l="16092" t="55556" r="17241"/>
                            <a:stretch>
                              <a:fillRect/>
                            </a:stretch>
                          </p:blipFill>
                          <p:spPr bwMode="auto">
                            <a:xfrm>
                              <a:off x="0" y="0"/>
                              <a:ext cx="2784" cy="1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1088" name="Oval 7">
                  <a:extLst>
                    <a:ext uri="{FF2B5EF4-FFF2-40B4-BE49-F238E27FC236}">
                      <a16:creationId xmlns:a16="http://schemas.microsoft.com/office/drawing/2014/main" id="{892E027A-C3C5-A0B0-8AE0-25A7B7E99D4B}"/>
                    </a:ext>
                  </a:extLst>
                </p:cNvPr>
                <p:cNvSpPr>
                  <a:spLocks noChangeArrowheads="1"/>
                </p:cNvSpPr>
                <p:nvPr/>
              </p:nvSpPr>
              <p:spPr bwMode="auto">
                <a:xfrm>
                  <a:off x="1584" y="384"/>
                  <a:ext cx="192" cy="144"/>
                </a:xfrm>
                <a:prstGeom prst="ellipse">
                  <a:avLst/>
                </a:prstGeom>
                <a:solidFill>
                  <a:srgbClr val="9999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rgbClr val="0033CC"/>
                    </a:buClr>
                    <a:buSzPct val="90000"/>
                    <a:buFont typeface="Wingdings" panose="05000000000000000000" pitchFamily="2" charset="2"/>
                    <a:buBlip>
                      <a:blip r:embed="rId5"/>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400" b="1">
                    <a:solidFill>
                      <a:srgbClr val="660033"/>
                    </a:solidFill>
                    <a:latin typeface="Times New Roman" panose="02020603050405020304" pitchFamily="18" charset="0"/>
                    <a:ea typeface="楷体_GB2312" pitchFamily="49" charset="-122"/>
                  </a:endParaRPr>
                </a:p>
              </p:txBody>
            </p:sp>
            <p:sp>
              <p:nvSpPr>
                <p:cNvPr id="131089" name="Text Box 8">
                  <a:extLst>
                    <a:ext uri="{FF2B5EF4-FFF2-40B4-BE49-F238E27FC236}">
                      <a16:creationId xmlns:a16="http://schemas.microsoft.com/office/drawing/2014/main" id="{27784779-C149-E962-8176-DF6444BBC0AC}"/>
                    </a:ext>
                  </a:extLst>
                </p:cNvPr>
                <p:cNvSpPr txBox="1">
                  <a:spLocks noChangeArrowheads="1"/>
                </p:cNvSpPr>
                <p:nvPr/>
              </p:nvSpPr>
              <p:spPr bwMode="auto">
                <a:xfrm>
                  <a:off x="1584" y="345"/>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SzPct val="90000"/>
                    <a:buFont typeface="Wingdings" panose="05000000000000000000" pitchFamily="2" charset="2"/>
                    <a:buBlip>
                      <a:blip r:embed="rId5"/>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1800" b="1">
                      <a:solidFill>
                        <a:srgbClr val="660033"/>
                      </a:solidFill>
                      <a:latin typeface="Times New Roman" panose="02020603050405020304" pitchFamily="18" charset="0"/>
                      <a:ea typeface="楷体_GB2312" pitchFamily="49" charset="-122"/>
                    </a:rPr>
                    <a:t>N</a:t>
                  </a:r>
                </a:p>
              </p:txBody>
            </p:sp>
          </p:grpSp>
          <p:sp>
            <p:nvSpPr>
              <p:cNvPr id="131086" name="Rectangle 9">
                <a:extLst>
                  <a:ext uri="{FF2B5EF4-FFF2-40B4-BE49-F238E27FC236}">
                    <a16:creationId xmlns:a16="http://schemas.microsoft.com/office/drawing/2014/main" id="{FA2D3C4B-61A2-EAE9-BCA0-42AF9E5195F6}"/>
                  </a:ext>
                </a:extLst>
              </p:cNvPr>
              <p:cNvSpPr>
                <a:spLocks noChangeArrowheads="1"/>
              </p:cNvSpPr>
              <p:nvPr/>
            </p:nvSpPr>
            <p:spPr bwMode="auto">
              <a:xfrm>
                <a:off x="0" y="0"/>
                <a:ext cx="336" cy="33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0033CC"/>
                  </a:buClr>
                  <a:buSzPct val="90000"/>
                  <a:buFont typeface="Wingdings" panose="05000000000000000000" pitchFamily="2" charset="2"/>
                  <a:buBlip>
                    <a:blip r:embed="rId5"/>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400" b="1">
                  <a:solidFill>
                    <a:srgbClr val="660033"/>
                  </a:solidFill>
                  <a:latin typeface="Times New Roman" panose="02020603050405020304" pitchFamily="18" charset="0"/>
                  <a:ea typeface="楷体_GB2312" pitchFamily="49" charset="-122"/>
                </a:endParaRPr>
              </a:p>
            </p:txBody>
          </p:sp>
        </p:grpSp>
        <p:grpSp>
          <p:nvGrpSpPr>
            <p:cNvPr id="131080" name="Group 10">
              <a:extLst>
                <a:ext uri="{FF2B5EF4-FFF2-40B4-BE49-F238E27FC236}">
                  <a16:creationId xmlns:a16="http://schemas.microsoft.com/office/drawing/2014/main" id="{A5D20E00-5799-7CE5-6795-D3335F8B9F2E}"/>
                </a:ext>
              </a:extLst>
            </p:cNvPr>
            <p:cNvGrpSpPr>
              <a:grpSpLocks/>
            </p:cNvGrpSpPr>
            <p:nvPr/>
          </p:nvGrpSpPr>
          <p:grpSpPr bwMode="auto">
            <a:xfrm>
              <a:off x="0" y="144"/>
              <a:ext cx="2561" cy="1200"/>
              <a:chOff x="0" y="0"/>
              <a:chExt cx="2561" cy="1200"/>
            </a:xfrm>
          </p:grpSpPr>
          <p:grpSp>
            <p:nvGrpSpPr>
              <p:cNvPr id="131081" name="Group 11">
                <a:extLst>
                  <a:ext uri="{FF2B5EF4-FFF2-40B4-BE49-F238E27FC236}">
                    <a16:creationId xmlns:a16="http://schemas.microsoft.com/office/drawing/2014/main" id="{99FC1C40-C554-FFA2-FF48-8E3A940624C6}"/>
                  </a:ext>
                </a:extLst>
              </p:cNvPr>
              <p:cNvGrpSpPr>
                <a:grpSpLocks/>
              </p:cNvGrpSpPr>
              <p:nvPr/>
            </p:nvGrpSpPr>
            <p:grpSpPr bwMode="auto">
              <a:xfrm>
                <a:off x="0" y="0"/>
                <a:ext cx="2561" cy="1200"/>
                <a:chOff x="0" y="0"/>
                <a:chExt cx="2561" cy="1200"/>
              </a:xfrm>
            </p:grpSpPr>
            <p:pic>
              <p:nvPicPr>
                <p:cNvPr id="131083" name="Picture 12">
                  <a:extLst>
                    <a:ext uri="{FF2B5EF4-FFF2-40B4-BE49-F238E27FC236}">
                      <a16:creationId xmlns:a16="http://schemas.microsoft.com/office/drawing/2014/main" id="{AF1CC2D7-B976-C001-7C72-BA095B16740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2561" cy="1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1084" name="Rectangle 13">
                  <a:extLst>
                    <a:ext uri="{FF2B5EF4-FFF2-40B4-BE49-F238E27FC236}">
                      <a16:creationId xmlns:a16="http://schemas.microsoft.com/office/drawing/2014/main" id="{409BFEB9-7386-5D1B-1BF5-7A8259AD7F29}"/>
                    </a:ext>
                  </a:extLst>
                </p:cNvPr>
                <p:cNvSpPr>
                  <a:spLocks noChangeArrowheads="1"/>
                </p:cNvSpPr>
                <p:nvPr/>
              </p:nvSpPr>
              <p:spPr bwMode="auto">
                <a:xfrm>
                  <a:off x="1824" y="912"/>
                  <a:ext cx="288" cy="2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0033CC"/>
                    </a:buClr>
                    <a:buSzPct val="90000"/>
                    <a:buFont typeface="Wingdings" panose="05000000000000000000" pitchFamily="2" charset="2"/>
                    <a:buBlip>
                      <a:blip r:embed="rId5"/>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400" b="1">
                    <a:solidFill>
                      <a:srgbClr val="660033"/>
                    </a:solidFill>
                    <a:latin typeface="Times New Roman" panose="02020603050405020304" pitchFamily="18" charset="0"/>
                    <a:ea typeface="楷体_GB2312" pitchFamily="49" charset="-122"/>
                  </a:endParaRPr>
                </a:p>
              </p:txBody>
            </p:sp>
          </p:grpSp>
          <p:sp>
            <p:nvSpPr>
              <p:cNvPr id="131082" name="Rectangle 14">
                <a:extLst>
                  <a:ext uri="{FF2B5EF4-FFF2-40B4-BE49-F238E27FC236}">
                    <a16:creationId xmlns:a16="http://schemas.microsoft.com/office/drawing/2014/main" id="{D6DAFF81-8570-ED3C-6582-8948C8940A3D}"/>
                  </a:ext>
                </a:extLst>
              </p:cNvPr>
              <p:cNvSpPr>
                <a:spLocks noChangeArrowheads="1"/>
              </p:cNvSpPr>
              <p:nvPr/>
            </p:nvSpPr>
            <p:spPr bwMode="auto">
              <a:xfrm>
                <a:off x="1872" y="816"/>
                <a:ext cx="192" cy="38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0033CC"/>
                  </a:buClr>
                  <a:buSzPct val="90000"/>
                  <a:buFont typeface="Wingdings" panose="05000000000000000000" pitchFamily="2" charset="2"/>
                  <a:buBlip>
                    <a:blip r:embed="rId5"/>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endParaRPr lang="zh-CN" altLang="en-US" sz="2400" b="1">
                  <a:solidFill>
                    <a:srgbClr val="660033"/>
                  </a:solidFill>
                  <a:latin typeface="Times New Roman" panose="02020603050405020304" pitchFamily="18" charset="0"/>
                  <a:ea typeface="楷体_GB2312" pitchFamily="49" charset="-122"/>
                </a:endParaRPr>
              </a:p>
            </p:txBody>
          </p:sp>
        </p:grpSp>
      </p:grpSp>
      <p:sp>
        <p:nvSpPr>
          <p:cNvPr id="131076" name="Arc 15">
            <a:extLst>
              <a:ext uri="{FF2B5EF4-FFF2-40B4-BE49-F238E27FC236}">
                <a16:creationId xmlns:a16="http://schemas.microsoft.com/office/drawing/2014/main" id="{45D57852-0355-C97F-29D8-6EA3F7487C60}"/>
              </a:ext>
            </a:extLst>
          </p:cNvPr>
          <p:cNvSpPr>
            <a:spLocks noChangeArrowheads="1"/>
          </p:cNvSpPr>
          <p:nvPr/>
        </p:nvSpPr>
        <p:spPr bwMode="auto">
          <a:xfrm rot="16200000">
            <a:off x="3490913" y="2632075"/>
            <a:ext cx="317500" cy="292100"/>
          </a:xfrm>
          <a:custGeom>
            <a:avLst/>
            <a:gdLst>
              <a:gd name="T0" fmla="*/ 2147483646 w 21600"/>
              <a:gd name="T1" fmla="*/ 0 h 39591"/>
              <a:gd name="T2" fmla="*/ 2147483646 w 21600"/>
              <a:gd name="T3" fmla="*/ 2147483646 h 39591"/>
              <a:gd name="T4" fmla="*/ 2147483646 w 21600"/>
              <a:gd name="T5" fmla="*/ 2147483646 h 39591"/>
              <a:gd name="T6" fmla="*/ 2147483646 w 21600"/>
              <a:gd name="T7" fmla="*/ 0 h 39591"/>
              <a:gd name="T8" fmla="*/ 2147483646 w 21600"/>
              <a:gd name="T9" fmla="*/ 2147483646 h 39591"/>
              <a:gd name="T10" fmla="*/ 2147483646 w 21600"/>
              <a:gd name="T11" fmla="*/ 2147483646 h 39591"/>
              <a:gd name="T12" fmla="*/ 0 w 21600"/>
              <a:gd name="T13" fmla="*/ 2147483646 h 39591"/>
              <a:gd name="T14" fmla="*/ 0 60000 65536"/>
              <a:gd name="T15" fmla="*/ 0 60000 65536"/>
              <a:gd name="T16" fmla="*/ 0 60000 65536"/>
              <a:gd name="T17" fmla="*/ 0 60000 65536"/>
              <a:gd name="T18" fmla="*/ 0 60000 65536"/>
              <a:gd name="T19" fmla="*/ 0 60000 65536"/>
              <a:gd name="T20" fmla="*/ 0 60000 65536"/>
              <a:gd name="T21" fmla="*/ 0 w 21600"/>
              <a:gd name="T22" fmla="*/ 0 h 39591"/>
              <a:gd name="T23" fmla="*/ 21600 w 21600"/>
              <a:gd name="T24" fmla="*/ 39591 h 3959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600" h="39591" fill="none">
                <a:moveTo>
                  <a:pt x="5493" y="0"/>
                </a:moveTo>
                <a:cubicBezTo>
                  <a:pt x="14984" y="2496"/>
                  <a:pt x="21600" y="11076"/>
                  <a:pt x="21600" y="20890"/>
                </a:cubicBezTo>
                <a:cubicBezTo>
                  <a:pt x="21600" y="28603"/>
                  <a:pt x="17486" y="35731"/>
                  <a:pt x="10808" y="39591"/>
                </a:cubicBezTo>
              </a:path>
              <a:path w="21600" h="39591" stroke="0">
                <a:moveTo>
                  <a:pt x="5493" y="0"/>
                </a:moveTo>
                <a:cubicBezTo>
                  <a:pt x="14984" y="2496"/>
                  <a:pt x="21600" y="11076"/>
                  <a:pt x="21600" y="20890"/>
                </a:cubicBezTo>
                <a:cubicBezTo>
                  <a:pt x="21600" y="28603"/>
                  <a:pt x="17486" y="35731"/>
                  <a:pt x="10808" y="39591"/>
                </a:cubicBezTo>
                <a:lnTo>
                  <a:pt x="0" y="20890"/>
                </a:lnTo>
                <a:lnTo>
                  <a:pt x="5493" y="0"/>
                </a:lnTo>
                <a:close/>
              </a:path>
            </a:pathLst>
          </a:custGeom>
          <a:noFill/>
          <a:ln w="25400">
            <a:solidFill>
              <a:schemeClr val="tx1"/>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sz="2400" b="1">
              <a:solidFill>
                <a:srgbClr val="660033"/>
              </a:solidFill>
              <a:latin typeface="Times New Roman" panose="02020603050405020304" pitchFamily="18" charset="0"/>
              <a:ea typeface="楷体_GB2312" pitchFamily="49" charset="-122"/>
            </a:endParaRPr>
          </a:p>
        </p:txBody>
      </p:sp>
      <p:sp>
        <p:nvSpPr>
          <p:cNvPr id="131077" name="Arc 16">
            <a:extLst>
              <a:ext uri="{FF2B5EF4-FFF2-40B4-BE49-F238E27FC236}">
                <a16:creationId xmlns:a16="http://schemas.microsoft.com/office/drawing/2014/main" id="{1AFAAD10-C45B-D1F4-0236-F1E6B2B5C214}"/>
              </a:ext>
            </a:extLst>
          </p:cNvPr>
          <p:cNvSpPr>
            <a:spLocks noChangeArrowheads="1"/>
          </p:cNvSpPr>
          <p:nvPr/>
        </p:nvSpPr>
        <p:spPr bwMode="auto">
          <a:xfrm rot="5400000" flipH="1">
            <a:off x="4816476" y="1814513"/>
            <a:ext cx="317500" cy="250825"/>
          </a:xfrm>
          <a:custGeom>
            <a:avLst/>
            <a:gdLst>
              <a:gd name="T0" fmla="*/ 2147483646 w 21600"/>
              <a:gd name="T1" fmla="*/ 0 h 35463"/>
              <a:gd name="T2" fmla="*/ 2147483646 w 21600"/>
              <a:gd name="T3" fmla="*/ 2147483646 h 35463"/>
              <a:gd name="T4" fmla="*/ 2147483646 w 21600"/>
              <a:gd name="T5" fmla="*/ 2147483646 h 35463"/>
              <a:gd name="T6" fmla="*/ 2147483646 w 21600"/>
              <a:gd name="T7" fmla="*/ 0 h 35463"/>
              <a:gd name="T8" fmla="*/ 2147483646 w 21600"/>
              <a:gd name="T9" fmla="*/ 2147483646 h 35463"/>
              <a:gd name="T10" fmla="*/ 2147483646 w 21600"/>
              <a:gd name="T11" fmla="*/ 2147483646 h 35463"/>
              <a:gd name="T12" fmla="*/ 0 w 21600"/>
              <a:gd name="T13" fmla="*/ 2147483646 h 35463"/>
              <a:gd name="T14" fmla="*/ 0 60000 65536"/>
              <a:gd name="T15" fmla="*/ 0 60000 65536"/>
              <a:gd name="T16" fmla="*/ 0 60000 65536"/>
              <a:gd name="T17" fmla="*/ 0 60000 65536"/>
              <a:gd name="T18" fmla="*/ 0 60000 65536"/>
              <a:gd name="T19" fmla="*/ 0 60000 65536"/>
              <a:gd name="T20" fmla="*/ 0 60000 65536"/>
              <a:gd name="T21" fmla="*/ 0 w 21600"/>
              <a:gd name="T22" fmla="*/ 0 h 35463"/>
              <a:gd name="T23" fmla="*/ 21600 w 21600"/>
              <a:gd name="T24" fmla="*/ 35463 h 354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600" h="35463" fill="none">
                <a:moveTo>
                  <a:pt x="16360" y="0"/>
                </a:moveTo>
                <a:cubicBezTo>
                  <a:pt x="19740" y="3921"/>
                  <a:pt x="21600" y="8926"/>
                  <a:pt x="21600" y="14103"/>
                </a:cubicBezTo>
                <a:cubicBezTo>
                  <a:pt x="21600" y="24793"/>
                  <a:pt x="13780" y="33875"/>
                  <a:pt x="3209" y="35463"/>
                </a:cubicBezTo>
              </a:path>
              <a:path w="21600" h="35463" stroke="0">
                <a:moveTo>
                  <a:pt x="16360" y="0"/>
                </a:moveTo>
                <a:cubicBezTo>
                  <a:pt x="19740" y="3921"/>
                  <a:pt x="21600" y="8926"/>
                  <a:pt x="21600" y="14103"/>
                </a:cubicBezTo>
                <a:cubicBezTo>
                  <a:pt x="21600" y="24793"/>
                  <a:pt x="13780" y="33875"/>
                  <a:pt x="3209" y="35463"/>
                </a:cubicBezTo>
                <a:lnTo>
                  <a:pt x="0" y="14103"/>
                </a:lnTo>
                <a:lnTo>
                  <a:pt x="16360" y="0"/>
                </a:lnTo>
                <a:close/>
              </a:path>
            </a:pathLst>
          </a:custGeom>
          <a:noFill/>
          <a:ln w="25400">
            <a:solidFill>
              <a:schemeClr val="tx1"/>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sz="2400" b="1">
              <a:solidFill>
                <a:srgbClr val="660033"/>
              </a:solidFill>
              <a:latin typeface="Times New Roman" panose="02020603050405020304" pitchFamily="18" charset="0"/>
              <a:ea typeface="楷体_GB2312" pitchFamily="49" charset="-122"/>
            </a:endParaRPr>
          </a:p>
        </p:txBody>
      </p:sp>
      <p:sp>
        <p:nvSpPr>
          <p:cNvPr id="131078" name="Rectangle 18">
            <a:extLst>
              <a:ext uri="{FF2B5EF4-FFF2-40B4-BE49-F238E27FC236}">
                <a16:creationId xmlns:a16="http://schemas.microsoft.com/office/drawing/2014/main" id="{65AD02A0-32F0-61F6-89BF-FD5E519B8823}"/>
              </a:ext>
            </a:extLst>
          </p:cNvPr>
          <p:cNvSpPr>
            <a:spLocks noRot="1" noChangeArrowheads="1"/>
          </p:cNvSpPr>
          <p:nvPr/>
        </p:nvSpPr>
        <p:spPr bwMode="auto">
          <a:xfrm>
            <a:off x="2063750" y="188913"/>
            <a:ext cx="86868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0033CC"/>
              </a:buClr>
              <a:buSzPct val="90000"/>
              <a:buFont typeface="Wingdings" panose="05000000000000000000" pitchFamily="2" charset="2"/>
              <a:buBlip>
                <a:blip r:embed="rId5"/>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fontAlgn="base">
              <a:spcAft>
                <a:spcPct val="0"/>
              </a:spcAft>
              <a:buClr>
                <a:srgbClr val="5A84D8"/>
              </a:buClr>
              <a:buSzTx/>
              <a:buNone/>
            </a:pPr>
            <a:endParaRPr lang="zh-CN" altLang="en-US" sz="2400" b="1">
              <a:solidFill>
                <a:srgbClr val="660033"/>
              </a:solidFill>
              <a:latin typeface="Times New Roman" panose="02020603050405020304" pitchFamily="18" charset="0"/>
              <a:ea typeface="楷体_GB2312" pitchFamily="49" charset="-122"/>
            </a:endParaRPr>
          </a:p>
          <a:p>
            <a:pPr fontAlgn="base">
              <a:spcAft>
                <a:spcPct val="0"/>
              </a:spcAft>
              <a:buClr>
                <a:srgbClr val="5A84D8"/>
              </a:buClr>
              <a:buSzTx/>
              <a:buNone/>
            </a:pPr>
            <a:r>
              <a:rPr lang="zh-CN" altLang="en-US" b="1">
                <a:solidFill>
                  <a:srgbClr val="0000FF"/>
                </a:solidFill>
                <a:latin typeface="宋体" panose="02010600030101010101" pitchFamily="2" charset="-122"/>
              </a:rPr>
              <a:t>4.肽单位---特点</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矩形 1">
            <a:extLst>
              <a:ext uri="{FF2B5EF4-FFF2-40B4-BE49-F238E27FC236}">
                <a16:creationId xmlns:a16="http://schemas.microsoft.com/office/drawing/2014/main" id="{196BC47B-BD52-8CC2-10FF-87B7DF6FD463}"/>
              </a:ext>
            </a:extLst>
          </p:cNvPr>
          <p:cNvSpPr>
            <a:spLocks noChangeArrowheads="1"/>
          </p:cNvSpPr>
          <p:nvPr/>
        </p:nvSpPr>
        <p:spPr bwMode="auto">
          <a:xfrm>
            <a:off x="2136775" y="1628775"/>
            <a:ext cx="5399088" cy="461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rgbClr val="0033CC"/>
              </a:buClr>
              <a:buSzPct val="90000"/>
              <a:buFont typeface="Wingdings" panose="05000000000000000000" pitchFamily="2" charset="2"/>
              <a:buBlip>
                <a:blip r:embed="rId3"/>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fontAlgn="base">
              <a:lnSpc>
                <a:spcPct val="150000"/>
              </a:lnSpc>
              <a:spcBef>
                <a:spcPct val="0"/>
              </a:spcBef>
              <a:spcAft>
                <a:spcPct val="0"/>
              </a:spcAft>
              <a:buClr>
                <a:srgbClr val="0000FF"/>
              </a:buClr>
              <a:buSzPct val="100000"/>
              <a:buFont typeface="Wingdings" panose="05000000000000000000" pitchFamily="2" charset="2"/>
              <a:buChar char="u"/>
            </a:pPr>
            <a:r>
              <a:rPr lang="zh-CN" altLang="en-US" b="1" dirty="0">
                <a:solidFill>
                  <a:srgbClr val="000000"/>
                </a:solidFill>
                <a:latin typeface="宋体" panose="02010600030101010101" pitchFamily="2" charset="-122"/>
              </a:rPr>
              <a:t>在一级结构中，氨基酸通过肽键连接成多肽链，在多肽链内和多肽链间的半胱氨酸残基的</a:t>
            </a:r>
            <a:r>
              <a:rPr lang="en-US" altLang="zh-CN" b="1" dirty="0">
                <a:solidFill>
                  <a:srgbClr val="000000"/>
                </a:solidFill>
                <a:latin typeface="宋体" panose="02010600030101010101" pitchFamily="2" charset="-122"/>
              </a:rPr>
              <a:t>-SH</a:t>
            </a:r>
            <a:r>
              <a:rPr lang="zh-CN" altLang="en-US" b="1" dirty="0">
                <a:solidFill>
                  <a:srgbClr val="000000"/>
                </a:solidFill>
                <a:latin typeface="宋体" panose="02010600030101010101" pitchFamily="2" charset="-122"/>
              </a:rPr>
              <a:t>基氧化可形成二硫键）。</a:t>
            </a:r>
            <a:endParaRPr lang="en-US" altLang="zh-CN" b="1" dirty="0">
              <a:solidFill>
                <a:srgbClr val="000000"/>
              </a:solidFill>
              <a:latin typeface="宋体" panose="02010600030101010101" pitchFamily="2" charset="-122"/>
            </a:endParaRPr>
          </a:p>
          <a:p>
            <a:pPr fontAlgn="base">
              <a:lnSpc>
                <a:spcPct val="150000"/>
              </a:lnSpc>
              <a:spcBef>
                <a:spcPct val="0"/>
              </a:spcBef>
              <a:spcAft>
                <a:spcPct val="0"/>
              </a:spcAft>
              <a:buClr>
                <a:srgbClr val="0000FF"/>
              </a:buClr>
              <a:buSzPct val="100000"/>
              <a:buFont typeface="Wingdings" panose="05000000000000000000" pitchFamily="2" charset="2"/>
              <a:buChar char="u"/>
            </a:pPr>
            <a:r>
              <a:rPr lang="zh-CN" altLang="en-US" b="1" dirty="0">
                <a:solidFill>
                  <a:srgbClr val="000000"/>
                </a:solidFill>
                <a:latin typeface="宋体" panose="02010600030101010101" pitchFamily="2" charset="-122"/>
              </a:rPr>
              <a:t>二硫键在蛋白质分子中起着稳定肽链空间结构的作用，这往往与生物活性有关。</a:t>
            </a:r>
          </a:p>
        </p:txBody>
      </p:sp>
      <p:pic>
        <p:nvPicPr>
          <p:cNvPr id="133123" name="Picture 2">
            <a:extLst>
              <a:ext uri="{FF2B5EF4-FFF2-40B4-BE49-F238E27FC236}">
                <a16:creationId xmlns:a16="http://schemas.microsoft.com/office/drawing/2014/main" id="{5AF8D59B-704B-A9E3-935E-2AF70298C4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37451" y="1989139"/>
            <a:ext cx="3038475" cy="406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24" name="Text Box 4">
            <a:extLst>
              <a:ext uri="{FF2B5EF4-FFF2-40B4-BE49-F238E27FC236}">
                <a16:creationId xmlns:a16="http://schemas.microsoft.com/office/drawing/2014/main" id="{ACAF2B7C-4FD8-E02E-6D51-F764895C9BDD}"/>
              </a:ext>
            </a:extLst>
          </p:cNvPr>
          <p:cNvSpPr txBox="1">
            <a:spLocks noChangeArrowheads="1"/>
          </p:cNvSpPr>
          <p:nvPr/>
        </p:nvSpPr>
        <p:spPr bwMode="auto">
          <a:xfrm>
            <a:off x="1885273" y="836614"/>
            <a:ext cx="2733442"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33CC"/>
              </a:buClr>
              <a:buSzPct val="90000"/>
              <a:buFont typeface="Wingdings" panose="05000000000000000000" pitchFamily="2" charset="2"/>
              <a:buBlip>
                <a:blip r:embed="rId3"/>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lang="zh-CN" altLang="en-US" sz="3200" b="1">
                <a:solidFill>
                  <a:srgbClr val="000000"/>
                </a:solidFill>
                <a:latin typeface="Times New Roman" panose="02020603050405020304" pitchFamily="18" charset="0"/>
                <a:ea typeface="楷体" panose="02010609060101010101" pitchFamily="49" charset="-122"/>
              </a:rPr>
              <a:t>（二）二硫键</a:t>
            </a:r>
            <a:r>
              <a:rPr lang="zh-CN" altLang="en-US" sz="2400" b="1">
                <a:solidFill>
                  <a:srgbClr val="660033"/>
                </a:solidFill>
                <a:latin typeface="Times New Roman" panose="02020603050405020304" pitchFamily="18" charset="0"/>
                <a:ea typeface="楷体_GB2312" pitchFamily="49" charset="-122"/>
              </a:rPr>
              <a:t> </a:t>
            </a:r>
            <a:endParaRPr lang="en-US" altLang="zh-CN" sz="2400" b="1">
              <a:solidFill>
                <a:srgbClr val="660033"/>
              </a:solidFill>
              <a:latin typeface="Times New Roman" panose="02020603050405020304" pitchFamily="18" charset="0"/>
              <a:ea typeface="楷体_GB2312" pitchFamily="49" charset="-122"/>
            </a:endParaRPr>
          </a:p>
          <a:p>
            <a:pPr algn="ctr" fontAlgn="base">
              <a:spcBef>
                <a:spcPct val="0"/>
              </a:spcBef>
              <a:spcAft>
                <a:spcPct val="0"/>
              </a:spcAft>
              <a:buClrTx/>
              <a:buSzTx/>
              <a:buNone/>
            </a:pPr>
            <a:endParaRPr lang="zh-CN" altLang="en-US" sz="2400" b="1">
              <a:solidFill>
                <a:srgbClr val="660033"/>
              </a:solidFill>
              <a:latin typeface="Times New Roman" panose="02020603050405020304" pitchFamily="18" charset="0"/>
              <a:ea typeface="楷体_GB2312" pitchFamily="49" charset="-122"/>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矩形 3">
            <a:extLst>
              <a:ext uri="{FF2B5EF4-FFF2-40B4-BE49-F238E27FC236}">
                <a16:creationId xmlns:a16="http://schemas.microsoft.com/office/drawing/2014/main" id="{57EDE2C0-8268-80C4-F367-654442076FCC}"/>
              </a:ext>
            </a:extLst>
          </p:cNvPr>
          <p:cNvSpPr>
            <a:spLocks noChangeArrowheads="1"/>
          </p:cNvSpPr>
          <p:nvPr/>
        </p:nvSpPr>
        <p:spPr bwMode="auto">
          <a:xfrm>
            <a:off x="2166938" y="1571625"/>
            <a:ext cx="8501062" cy="393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SzPct val="90000"/>
              <a:buFont typeface="Wingdings" panose="05000000000000000000" pitchFamily="2" charset="2"/>
              <a:buBlip>
                <a:blip r:embed="rId2"/>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fontAlgn="base">
              <a:lnSpc>
                <a:spcPct val="150000"/>
              </a:lnSpc>
              <a:spcBef>
                <a:spcPct val="0"/>
              </a:spcBef>
              <a:spcAft>
                <a:spcPct val="0"/>
              </a:spcAft>
              <a:buClrTx/>
              <a:buSzTx/>
              <a:buNone/>
            </a:pPr>
            <a:r>
              <a:rPr lang="zh-CN" altLang="en-US" b="1" dirty="0">
                <a:solidFill>
                  <a:srgbClr val="0000FF"/>
                </a:solidFill>
                <a:latin typeface="宋体" panose="02010600030101010101" pitchFamily="2" charset="-122"/>
              </a:rPr>
              <a:t>可概括为以下几个步骤</a:t>
            </a:r>
            <a:r>
              <a:rPr lang="zh-CN" altLang="en-US" b="1" dirty="0">
                <a:solidFill>
                  <a:srgbClr val="000000"/>
                </a:solidFill>
                <a:latin typeface="宋体" panose="02010600030101010101" pitchFamily="2" charset="-122"/>
              </a:rPr>
              <a:t>： </a:t>
            </a:r>
            <a:endParaRPr lang="en-US" altLang="zh-CN" b="1" dirty="0">
              <a:solidFill>
                <a:srgbClr val="000000"/>
              </a:solidFill>
              <a:latin typeface="宋体" panose="02010600030101010101" pitchFamily="2" charset="-122"/>
            </a:endParaRPr>
          </a:p>
          <a:p>
            <a:pPr fontAlgn="base">
              <a:lnSpc>
                <a:spcPct val="150000"/>
              </a:lnSpc>
              <a:spcBef>
                <a:spcPct val="0"/>
              </a:spcBef>
              <a:spcAft>
                <a:spcPct val="0"/>
              </a:spcAft>
              <a:buClrTx/>
              <a:buSzTx/>
              <a:buNone/>
            </a:pPr>
            <a:r>
              <a:rPr lang="en-US" altLang="zh-CN" b="1" dirty="0">
                <a:solidFill>
                  <a:srgbClr val="000000"/>
                </a:solidFill>
                <a:latin typeface="宋体" panose="02010600030101010101" pitchFamily="2" charset="-122"/>
              </a:rPr>
              <a:t>1.</a:t>
            </a:r>
            <a:r>
              <a:rPr lang="zh-CN" altLang="en-US" b="1" dirty="0">
                <a:solidFill>
                  <a:srgbClr val="000000"/>
                </a:solidFill>
                <a:latin typeface="宋体" panose="02010600030101010101" pitchFamily="2" charset="-122"/>
              </a:rPr>
              <a:t>测定蛋白质分子中多肽链的数目</a:t>
            </a:r>
            <a:endParaRPr lang="en-US" altLang="zh-CN" b="1" dirty="0">
              <a:solidFill>
                <a:srgbClr val="000000"/>
              </a:solidFill>
              <a:latin typeface="宋体" panose="02010600030101010101" pitchFamily="2" charset="-122"/>
            </a:endParaRPr>
          </a:p>
          <a:p>
            <a:pPr fontAlgn="base">
              <a:lnSpc>
                <a:spcPct val="150000"/>
              </a:lnSpc>
              <a:spcBef>
                <a:spcPct val="0"/>
              </a:spcBef>
              <a:spcAft>
                <a:spcPct val="0"/>
              </a:spcAft>
              <a:buClrTx/>
              <a:buSzTx/>
              <a:buNone/>
            </a:pPr>
            <a:r>
              <a:rPr lang="en-US" altLang="zh-CN" b="1" dirty="0">
                <a:solidFill>
                  <a:srgbClr val="000000"/>
                </a:solidFill>
                <a:latin typeface="宋体" panose="02010600030101010101" pitchFamily="2" charset="-122"/>
              </a:rPr>
              <a:t>2.</a:t>
            </a:r>
            <a:r>
              <a:rPr lang="zh-CN" altLang="en-US" b="1" dirty="0">
                <a:solidFill>
                  <a:srgbClr val="000000"/>
                </a:solidFill>
                <a:latin typeface="宋体" panose="02010600030101010101" pitchFamily="2" charset="-122"/>
              </a:rPr>
              <a:t>拆分蛋白质分子的多肽链和二硫键</a:t>
            </a:r>
            <a:endParaRPr lang="en-US" altLang="zh-CN" b="1" dirty="0">
              <a:solidFill>
                <a:srgbClr val="000000"/>
              </a:solidFill>
              <a:latin typeface="宋体" panose="02010600030101010101" pitchFamily="2" charset="-122"/>
            </a:endParaRPr>
          </a:p>
          <a:p>
            <a:pPr fontAlgn="base">
              <a:lnSpc>
                <a:spcPct val="150000"/>
              </a:lnSpc>
              <a:spcBef>
                <a:spcPct val="0"/>
              </a:spcBef>
              <a:spcAft>
                <a:spcPct val="0"/>
              </a:spcAft>
              <a:buClrTx/>
              <a:buSzTx/>
              <a:buNone/>
            </a:pPr>
            <a:r>
              <a:rPr lang="en-US" altLang="zh-CN" b="1" dirty="0">
                <a:solidFill>
                  <a:srgbClr val="000000"/>
                </a:solidFill>
                <a:latin typeface="宋体" panose="02010600030101010101" pitchFamily="2" charset="-122"/>
              </a:rPr>
              <a:t>3.</a:t>
            </a:r>
            <a:r>
              <a:rPr lang="zh-CN" altLang="en-US" b="1" dirty="0">
                <a:solidFill>
                  <a:srgbClr val="000000"/>
                </a:solidFill>
                <a:latin typeface="宋体" panose="02010600030101010101" pitchFamily="2" charset="-122"/>
              </a:rPr>
              <a:t>分析每一条多肽链的氨基酸组成</a:t>
            </a:r>
            <a:endParaRPr lang="en-US" altLang="zh-CN" b="1" dirty="0">
              <a:solidFill>
                <a:srgbClr val="000000"/>
              </a:solidFill>
              <a:latin typeface="宋体" panose="02010600030101010101" pitchFamily="2" charset="-122"/>
            </a:endParaRPr>
          </a:p>
          <a:p>
            <a:pPr fontAlgn="base">
              <a:lnSpc>
                <a:spcPct val="150000"/>
              </a:lnSpc>
              <a:spcBef>
                <a:spcPct val="0"/>
              </a:spcBef>
              <a:spcAft>
                <a:spcPct val="0"/>
              </a:spcAft>
              <a:buClrTx/>
              <a:buSzTx/>
              <a:buNone/>
            </a:pPr>
            <a:r>
              <a:rPr lang="en-US" altLang="zh-CN" b="1" dirty="0">
                <a:solidFill>
                  <a:srgbClr val="000000"/>
                </a:solidFill>
                <a:latin typeface="宋体" panose="02010600030101010101" pitchFamily="2" charset="-122"/>
              </a:rPr>
              <a:t>4.</a:t>
            </a:r>
            <a:r>
              <a:rPr lang="zh-CN" altLang="en-US" b="1" dirty="0">
                <a:solidFill>
                  <a:srgbClr val="000000"/>
                </a:solidFill>
                <a:latin typeface="宋体" panose="02010600030101010101" pitchFamily="2" charset="-122"/>
              </a:rPr>
              <a:t>测定并确定多肽链的氨基酸序列</a:t>
            </a:r>
            <a:endParaRPr lang="en-US" altLang="zh-CN" b="1" dirty="0">
              <a:solidFill>
                <a:srgbClr val="000000"/>
              </a:solidFill>
              <a:latin typeface="宋体" panose="02010600030101010101" pitchFamily="2" charset="-122"/>
            </a:endParaRPr>
          </a:p>
          <a:p>
            <a:pPr fontAlgn="base">
              <a:lnSpc>
                <a:spcPct val="150000"/>
              </a:lnSpc>
              <a:spcBef>
                <a:spcPct val="0"/>
              </a:spcBef>
              <a:spcAft>
                <a:spcPct val="0"/>
              </a:spcAft>
              <a:buClrTx/>
              <a:buSzTx/>
              <a:buNone/>
            </a:pPr>
            <a:r>
              <a:rPr lang="en-US" altLang="zh-CN" b="1" dirty="0">
                <a:solidFill>
                  <a:srgbClr val="000000"/>
                </a:solidFill>
                <a:latin typeface="宋体" panose="02010600030101010101" pitchFamily="2" charset="-122"/>
              </a:rPr>
              <a:t>5.</a:t>
            </a:r>
            <a:r>
              <a:rPr lang="zh-CN" altLang="en-US" b="1" dirty="0">
                <a:solidFill>
                  <a:srgbClr val="000000"/>
                </a:solidFill>
                <a:latin typeface="宋体" panose="02010600030101010101" pitchFamily="2" charset="-122"/>
              </a:rPr>
              <a:t>确定原多肽链中二硫键的位置</a:t>
            </a:r>
          </a:p>
        </p:txBody>
      </p:sp>
      <p:sp>
        <p:nvSpPr>
          <p:cNvPr id="135171" name="Text Box 3">
            <a:extLst>
              <a:ext uri="{FF2B5EF4-FFF2-40B4-BE49-F238E27FC236}">
                <a16:creationId xmlns:a16="http://schemas.microsoft.com/office/drawing/2014/main" id="{71A3823F-8FCB-3A8C-1190-F6C94CC36FD7}"/>
              </a:ext>
            </a:extLst>
          </p:cNvPr>
          <p:cNvSpPr txBox="1">
            <a:spLocks noChangeArrowheads="1"/>
          </p:cNvSpPr>
          <p:nvPr/>
        </p:nvSpPr>
        <p:spPr bwMode="auto">
          <a:xfrm>
            <a:off x="1955046" y="908050"/>
            <a:ext cx="5540299"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33CC"/>
              </a:buClr>
              <a:buSzPct val="90000"/>
              <a:buFont typeface="Wingdings" panose="05000000000000000000" pitchFamily="2" charset="2"/>
              <a:buBlip>
                <a:blip r:embed="rId2"/>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lang="zh-CN" altLang="en-US" sz="3200" b="1">
                <a:solidFill>
                  <a:srgbClr val="000000"/>
                </a:solidFill>
                <a:latin typeface="Times New Roman" panose="02020603050405020304" pitchFamily="18" charset="0"/>
                <a:ea typeface="楷体" panose="02010609060101010101" pitchFamily="49" charset="-122"/>
              </a:rPr>
              <a:t>（三）蛋白质一级结构的测定</a:t>
            </a:r>
          </a:p>
          <a:p>
            <a:pPr algn="ctr" fontAlgn="base">
              <a:spcBef>
                <a:spcPct val="0"/>
              </a:spcBef>
              <a:spcAft>
                <a:spcPct val="0"/>
              </a:spcAft>
              <a:buClrTx/>
              <a:buSzTx/>
              <a:buNone/>
            </a:pPr>
            <a:endParaRPr lang="zh-CN" altLang="en-US" sz="3200" b="1">
              <a:solidFill>
                <a:srgbClr val="660033"/>
              </a:solidFill>
              <a:latin typeface="Times New Roman" panose="02020603050405020304" pitchFamily="18" charset="0"/>
              <a:ea typeface="楷体" panose="02010609060101010101" pitchFamily="49" charset="-122"/>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矩形 1">
            <a:extLst>
              <a:ext uri="{FF2B5EF4-FFF2-40B4-BE49-F238E27FC236}">
                <a16:creationId xmlns:a16="http://schemas.microsoft.com/office/drawing/2014/main" id="{13086A10-AE04-3D0A-B1DA-CECC21F869AA}"/>
              </a:ext>
            </a:extLst>
          </p:cNvPr>
          <p:cNvSpPr>
            <a:spLocks noChangeArrowheads="1"/>
          </p:cNvSpPr>
          <p:nvPr/>
        </p:nvSpPr>
        <p:spPr bwMode="auto">
          <a:xfrm>
            <a:off x="3417777" y="571500"/>
            <a:ext cx="540724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33CC"/>
              </a:buClr>
              <a:buSzPct val="90000"/>
              <a:buFont typeface="Wingdings" panose="05000000000000000000" pitchFamily="2" charset="2"/>
              <a:buBlip>
                <a:blip r:embed="rId3"/>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lang="zh-CN" altLang="en-US" sz="4000" b="1">
                <a:solidFill>
                  <a:srgbClr val="000000"/>
                </a:solidFill>
                <a:latin typeface="Times New Roman" panose="02020603050405020304" pitchFamily="18" charset="0"/>
                <a:ea typeface="黑体" panose="02010609060101010101" pitchFamily="49" charset="-122"/>
              </a:rPr>
              <a:t>二、蛋白质的空间结构</a:t>
            </a:r>
            <a:r>
              <a:rPr lang="zh-CN" altLang="en-US" sz="2400" b="1">
                <a:solidFill>
                  <a:srgbClr val="000000"/>
                </a:solidFill>
                <a:latin typeface="Times New Roman" panose="02020603050405020304" pitchFamily="18" charset="0"/>
                <a:ea typeface="楷体_GB2312" pitchFamily="49" charset="-122"/>
              </a:rPr>
              <a:t> </a:t>
            </a:r>
          </a:p>
        </p:txBody>
      </p:sp>
      <p:sp>
        <p:nvSpPr>
          <p:cNvPr id="136195" name="矩形 2">
            <a:extLst>
              <a:ext uri="{FF2B5EF4-FFF2-40B4-BE49-F238E27FC236}">
                <a16:creationId xmlns:a16="http://schemas.microsoft.com/office/drawing/2014/main" id="{96E9D1E7-9E81-22D0-C729-4E9C626C2A2F}"/>
              </a:ext>
            </a:extLst>
          </p:cNvPr>
          <p:cNvSpPr>
            <a:spLocks noChangeArrowheads="1"/>
          </p:cNvSpPr>
          <p:nvPr/>
        </p:nvSpPr>
        <p:spPr bwMode="auto">
          <a:xfrm>
            <a:off x="1720423" y="1828435"/>
            <a:ext cx="8751153" cy="3869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lr>
                <a:srgbClr val="0033CC"/>
              </a:buClr>
              <a:buSzPct val="90000"/>
              <a:buFont typeface="Wingdings" panose="05000000000000000000" pitchFamily="2" charset="2"/>
              <a:buBlip>
                <a:blip r:embed="rId3"/>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fontAlgn="base">
              <a:lnSpc>
                <a:spcPct val="150000"/>
              </a:lnSpc>
              <a:spcBef>
                <a:spcPct val="0"/>
              </a:spcBef>
              <a:spcAft>
                <a:spcPct val="0"/>
              </a:spcAft>
              <a:buClr>
                <a:srgbClr val="0000FF"/>
              </a:buClr>
              <a:buSzPct val="100000"/>
              <a:buFont typeface="Wingdings" panose="05000000000000000000" pitchFamily="2" charset="2"/>
              <a:buChar char="u"/>
            </a:pPr>
            <a:r>
              <a:rPr lang="zh-CN" altLang="en-US" b="1" dirty="0">
                <a:solidFill>
                  <a:srgbClr val="000000"/>
                </a:solidFill>
                <a:latin typeface="宋体" panose="02010600030101010101" pitchFamily="2" charset="-122"/>
              </a:rPr>
              <a:t>蛋白质的二、三、四级结构的空间排列方式称三维结构（或空间结构、高级结构），亦可用 “构象”（</a:t>
            </a:r>
            <a:r>
              <a:rPr lang="en-US" altLang="zh-CN" b="1" dirty="0">
                <a:solidFill>
                  <a:srgbClr val="000000"/>
                </a:solidFill>
                <a:latin typeface="Times New Roman" panose="02020603050405020304" pitchFamily="18" charset="0"/>
              </a:rPr>
              <a:t>conformation</a:t>
            </a:r>
            <a:r>
              <a:rPr lang="zh-CN" altLang="en-US" b="1" dirty="0">
                <a:solidFill>
                  <a:srgbClr val="000000"/>
                </a:solidFill>
                <a:latin typeface="宋体" panose="02010600030101010101" pitchFamily="2" charset="-122"/>
              </a:rPr>
              <a:t>）一词来表示。</a:t>
            </a:r>
            <a:endParaRPr lang="en-US" altLang="zh-CN" b="1" dirty="0">
              <a:solidFill>
                <a:srgbClr val="000000"/>
              </a:solidFill>
              <a:latin typeface="宋体" panose="02010600030101010101" pitchFamily="2" charset="-122"/>
            </a:endParaRPr>
          </a:p>
          <a:p>
            <a:pPr fontAlgn="base">
              <a:lnSpc>
                <a:spcPct val="150000"/>
              </a:lnSpc>
              <a:spcBef>
                <a:spcPct val="0"/>
              </a:spcBef>
              <a:spcAft>
                <a:spcPct val="0"/>
              </a:spcAft>
              <a:buClr>
                <a:srgbClr val="0000FF"/>
              </a:buClr>
              <a:buSzPct val="100000"/>
              <a:buFont typeface="Wingdings" panose="05000000000000000000" pitchFamily="2" charset="2"/>
              <a:buChar char="u"/>
            </a:pPr>
            <a:r>
              <a:rPr lang="zh-CN" altLang="en-US" b="1" dirty="0">
                <a:solidFill>
                  <a:srgbClr val="000000"/>
                </a:solidFill>
                <a:latin typeface="宋体" panose="02010600030101010101" pitchFamily="2" charset="-122"/>
              </a:rPr>
              <a:t>研究蛋白质高级结构的方法主要是以</a:t>
            </a:r>
            <a:r>
              <a:rPr lang="en-US" altLang="zh-CN" b="1" dirty="0">
                <a:solidFill>
                  <a:srgbClr val="000000"/>
                </a:solidFill>
                <a:latin typeface="宋体" panose="02010600030101010101" pitchFamily="2" charset="-122"/>
              </a:rPr>
              <a:t>X</a:t>
            </a:r>
            <a:r>
              <a:rPr lang="zh-CN" altLang="en-US" b="1" dirty="0">
                <a:solidFill>
                  <a:srgbClr val="000000"/>
                </a:solidFill>
                <a:latin typeface="宋体" panose="02010600030101010101" pitchFamily="2" charset="-122"/>
              </a:rPr>
              <a:t>射线衍射法（</a:t>
            </a:r>
            <a:r>
              <a:rPr lang="en-US" altLang="zh-CN" b="1" dirty="0">
                <a:solidFill>
                  <a:srgbClr val="000000"/>
                </a:solidFill>
                <a:latin typeface="Times New Roman" panose="02020603050405020304" pitchFamily="18" charset="0"/>
              </a:rPr>
              <a:t>X-ray diffraction method</a:t>
            </a:r>
            <a:r>
              <a:rPr lang="zh-CN" altLang="en-US" b="1" dirty="0">
                <a:solidFill>
                  <a:srgbClr val="000000"/>
                </a:solidFill>
                <a:latin typeface="宋体" panose="02010600030101010101" pitchFamily="2" charset="-122"/>
              </a:rPr>
              <a:t>）</a:t>
            </a:r>
            <a:r>
              <a:rPr lang="en-US" altLang="zh-CN" b="1" dirty="0">
                <a:solidFill>
                  <a:srgbClr val="000000"/>
                </a:solidFill>
                <a:latin typeface="宋体" panose="02010600030101010101" pitchFamily="2" charset="-122"/>
              </a:rPr>
              <a:t>,</a:t>
            </a:r>
            <a:r>
              <a:rPr lang="zh-CN" altLang="en-US" b="1" dirty="0">
                <a:solidFill>
                  <a:srgbClr val="000000"/>
                </a:solidFill>
                <a:latin typeface="宋体" panose="02010600030101010101" pitchFamily="2" charset="-122"/>
              </a:rPr>
              <a:t>冷冻电镜（</a:t>
            </a:r>
            <a:r>
              <a:rPr lang="en-US" altLang="zh-CN" b="1" dirty="0">
                <a:solidFill>
                  <a:srgbClr val="000000"/>
                </a:solidFill>
                <a:latin typeface="Times New Roman" panose="02020603050405020304" pitchFamily="18" charset="0"/>
              </a:rPr>
              <a:t>Cryo-EM</a:t>
            </a:r>
            <a:r>
              <a:rPr lang="zh-CN" altLang="en-US" b="1" dirty="0">
                <a:solidFill>
                  <a:srgbClr val="000000"/>
                </a:solidFill>
                <a:latin typeface="宋体" panose="02010600030101010101" pitchFamily="2" charset="-122"/>
              </a:rPr>
              <a:t>）为主。</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矩形 1">
            <a:extLst>
              <a:ext uri="{FF2B5EF4-FFF2-40B4-BE49-F238E27FC236}">
                <a16:creationId xmlns:a16="http://schemas.microsoft.com/office/drawing/2014/main" id="{0BFE36A0-B47F-C62B-6853-240ED0153262}"/>
              </a:ext>
            </a:extLst>
          </p:cNvPr>
          <p:cNvSpPr>
            <a:spLocks noChangeArrowheads="1"/>
          </p:cNvSpPr>
          <p:nvPr/>
        </p:nvSpPr>
        <p:spPr bwMode="auto">
          <a:xfrm>
            <a:off x="2063750" y="1557338"/>
            <a:ext cx="8358188" cy="166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SzPct val="90000"/>
              <a:buFont typeface="Wingdings" panose="05000000000000000000" pitchFamily="2" charset="2"/>
              <a:buBlip>
                <a:blip r:embed="rId2"/>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fontAlgn="base">
              <a:lnSpc>
                <a:spcPct val="150000"/>
              </a:lnSpc>
              <a:spcBef>
                <a:spcPct val="0"/>
              </a:spcBef>
              <a:spcAft>
                <a:spcPct val="0"/>
              </a:spcAft>
              <a:buClrTx/>
              <a:buSzTx/>
              <a:buNone/>
            </a:pPr>
            <a:r>
              <a:rPr lang="zh-CN" altLang="en-US" sz="2400" b="1">
                <a:solidFill>
                  <a:srgbClr val="660033"/>
                </a:solidFill>
                <a:latin typeface="宋体" panose="02010600030101010101" pitchFamily="2" charset="-122"/>
              </a:rPr>
              <a:t> </a:t>
            </a:r>
            <a:r>
              <a:rPr lang="zh-CN" altLang="en-US" sz="2400" b="1">
                <a:solidFill>
                  <a:srgbClr val="000000"/>
                </a:solidFill>
                <a:latin typeface="宋体" panose="02010600030101010101" pitchFamily="2" charset="-122"/>
              </a:rPr>
              <a:t>维持蛋白质构象的化学键主要是一些非共价键或次级键。主要的次级键有氢键、疏水键、盐键和范德华力等。此外，二硫键在维持蛋白质构象方面也起着重要的作用。 </a:t>
            </a:r>
          </a:p>
        </p:txBody>
      </p:sp>
      <p:pic>
        <p:nvPicPr>
          <p:cNvPr id="138243" name="Picture 2" descr="dbz19">
            <a:extLst>
              <a:ext uri="{FF2B5EF4-FFF2-40B4-BE49-F238E27FC236}">
                <a16:creationId xmlns:a16="http://schemas.microsoft.com/office/drawing/2014/main" id="{ACD26709-553F-6EB2-AB6C-DA8584183F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1027" t="23712" r="4852" b="3233"/>
          <a:stretch>
            <a:fillRect/>
          </a:stretch>
        </p:blipFill>
        <p:spPr bwMode="auto">
          <a:xfrm>
            <a:off x="3994150" y="3225801"/>
            <a:ext cx="4718050" cy="348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8244" name="Text Box 4">
            <a:extLst>
              <a:ext uri="{FF2B5EF4-FFF2-40B4-BE49-F238E27FC236}">
                <a16:creationId xmlns:a16="http://schemas.microsoft.com/office/drawing/2014/main" id="{16A903CF-4381-9253-5789-7DC4B49302B1}"/>
              </a:ext>
            </a:extLst>
          </p:cNvPr>
          <p:cNvSpPr txBox="1">
            <a:spLocks noChangeArrowheads="1"/>
          </p:cNvSpPr>
          <p:nvPr/>
        </p:nvSpPr>
        <p:spPr bwMode="auto">
          <a:xfrm>
            <a:off x="1802225" y="836614"/>
            <a:ext cx="67762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33CC"/>
              </a:buClr>
              <a:buSzPct val="90000"/>
              <a:buFont typeface="Wingdings" panose="05000000000000000000" pitchFamily="2" charset="2"/>
              <a:buBlip>
                <a:blip r:embed="rId2"/>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lang="zh-CN" altLang="en-US" sz="3200" b="1">
                <a:solidFill>
                  <a:srgbClr val="000000"/>
                </a:solidFill>
                <a:latin typeface="Times New Roman" panose="02020603050405020304" pitchFamily="18" charset="0"/>
                <a:ea typeface="楷体" panose="02010609060101010101" pitchFamily="49" charset="-122"/>
              </a:rPr>
              <a:t>（一）维系蛋白质空间结构的化学键</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矩形 1">
            <a:extLst>
              <a:ext uri="{FF2B5EF4-FFF2-40B4-BE49-F238E27FC236}">
                <a16:creationId xmlns:a16="http://schemas.microsoft.com/office/drawing/2014/main" id="{B3025241-1C16-F961-A56C-6280A203F5B2}"/>
              </a:ext>
            </a:extLst>
          </p:cNvPr>
          <p:cNvSpPr>
            <a:spLocks noChangeArrowheads="1"/>
          </p:cNvSpPr>
          <p:nvPr/>
        </p:nvSpPr>
        <p:spPr bwMode="auto">
          <a:xfrm>
            <a:off x="2495550" y="1844675"/>
            <a:ext cx="7500938"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SzPct val="90000"/>
              <a:buFont typeface="Wingdings" panose="05000000000000000000" pitchFamily="2" charset="2"/>
              <a:buBlip>
                <a:blip r:embed="rId3"/>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fontAlgn="base">
              <a:lnSpc>
                <a:spcPct val="150000"/>
              </a:lnSpc>
              <a:spcBef>
                <a:spcPct val="0"/>
              </a:spcBef>
              <a:spcAft>
                <a:spcPct val="0"/>
              </a:spcAft>
              <a:buClrTx/>
              <a:buSzTx/>
              <a:buNone/>
            </a:pPr>
            <a:r>
              <a:rPr lang="zh-CN" altLang="en-US" b="1" dirty="0">
                <a:solidFill>
                  <a:srgbClr val="000000"/>
                </a:solidFill>
                <a:latin typeface="宋体" panose="02010600030101010101" pitchFamily="2" charset="-122"/>
              </a:rPr>
              <a:t>蛋白质的二级结构主要是指多肽链借助氢键形成沿一个方向具有规则重复的构象。</a:t>
            </a:r>
          </a:p>
          <a:p>
            <a:pPr fontAlgn="base">
              <a:lnSpc>
                <a:spcPct val="150000"/>
              </a:lnSpc>
              <a:spcBef>
                <a:spcPct val="0"/>
              </a:spcBef>
              <a:spcAft>
                <a:spcPct val="0"/>
              </a:spcAft>
              <a:buClrTx/>
              <a:buSzTx/>
              <a:buNone/>
            </a:pPr>
            <a:r>
              <a:rPr lang="zh-CN" altLang="en-US" b="1" dirty="0">
                <a:solidFill>
                  <a:srgbClr val="000000"/>
                </a:solidFill>
                <a:latin typeface="宋体" panose="02010600030101010101" pitchFamily="2" charset="-122"/>
              </a:rPr>
              <a:t>二级结构的主要类型有：</a:t>
            </a:r>
          </a:p>
          <a:p>
            <a:pPr fontAlgn="base">
              <a:lnSpc>
                <a:spcPct val="150000"/>
              </a:lnSpc>
              <a:spcBef>
                <a:spcPct val="0"/>
              </a:spcBef>
              <a:spcAft>
                <a:spcPct val="0"/>
              </a:spcAft>
              <a:buClrTx/>
              <a:buSzTx/>
              <a:buNone/>
            </a:pPr>
            <a:r>
              <a:rPr lang="zh-CN" altLang="en-US" b="1" dirty="0">
                <a:solidFill>
                  <a:srgbClr val="000000"/>
                </a:solidFill>
                <a:latin typeface="宋体" panose="02010600030101010101" pitchFamily="2" charset="-122"/>
                <a:sym typeface="Symbol" panose="05050102010706020507" pitchFamily="18" charset="2"/>
              </a:rPr>
              <a:t>（1）-螺旋结构</a:t>
            </a:r>
          </a:p>
          <a:p>
            <a:pPr fontAlgn="base">
              <a:lnSpc>
                <a:spcPct val="150000"/>
              </a:lnSpc>
              <a:spcBef>
                <a:spcPct val="0"/>
              </a:spcBef>
              <a:spcAft>
                <a:spcPct val="0"/>
              </a:spcAft>
              <a:buClrTx/>
              <a:buSzTx/>
              <a:buNone/>
            </a:pPr>
            <a:r>
              <a:rPr lang="zh-CN" altLang="en-US" b="1" dirty="0">
                <a:solidFill>
                  <a:srgbClr val="000000"/>
                </a:solidFill>
                <a:latin typeface="宋体" panose="02010600030101010101" pitchFamily="2" charset="-122"/>
                <a:sym typeface="Symbol" panose="05050102010706020507" pitchFamily="18" charset="2"/>
              </a:rPr>
              <a:t>（2）-折叠结构</a:t>
            </a:r>
          </a:p>
          <a:p>
            <a:pPr fontAlgn="base">
              <a:lnSpc>
                <a:spcPct val="150000"/>
              </a:lnSpc>
              <a:spcBef>
                <a:spcPct val="0"/>
              </a:spcBef>
              <a:spcAft>
                <a:spcPct val="0"/>
              </a:spcAft>
              <a:buClrTx/>
              <a:buSzTx/>
              <a:buNone/>
            </a:pPr>
            <a:r>
              <a:rPr lang="zh-CN" altLang="en-US" b="1" dirty="0">
                <a:solidFill>
                  <a:srgbClr val="000000"/>
                </a:solidFill>
                <a:latin typeface="宋体" panose="02010600030101010101" pitchFamily="2" charset="-122"/>
                <a:sym typeface="Symbol" panose="05050102010706020507" pitchFamily="18" charset="2"/>
              </a:rPr>
              <a:t>（3）-转角结构</a:t>
            </a:r>
          </a:p>
          <a:p>
            <a:pPr fontAlgn="base">
              <a:lnSpc>
                <a:spcPct val="150000"/>
              </a:lnSpc>
              <a:spcBef>
                <a:spcPct val="0"/>
              </a:spcBef>
              <a:spcAft>
                <a:spcPct val="0"/>
              </a:spcAft>
              <a:buClrTx/>
              <a:buSzTx/>
              <a:buNone/>
            </a:pPr>
            <a:r>
              <a:rPr lang="zh-CN" altLang="en-US" b="1" dirty="0">
                <a:solidFill>
                  <a:srgbClr val="000000"/>
                </a:solidFill>
                <a:latin typeface="宋体" panose="02010600030101010101" pitchFamily="2" charset="-122"/>
                <a:sym typeface="Symbol" panose="05050102010706020507" pitchFamily="18" charset="2"/>
              </a:rPr>
              <a:t>（4）无规卷曲</a:t>
            </a:r>
          </a:p>
        </p:txBody>
      </p:sp>
      <p:sp>
        <p:nvSpPr>
          <p:cNvPr id="139267" name="Text Box 3">
            <a:extLst>
              <a:ext uri="{FF2B5EF4-FFF2-40B4-BE49-F238E27FC236}">
                <a16:creationId xmlns:a16="http://schemas.microsoft.com/office/drawing/2014/main" id="{74AF250D-3A03-6088-55B3-E33C74FE33F0}"/>
              </a:ext>
            </a:extLst>
          </p:cNvPr>
          <p:cNvSpPr txBox="1">
            <a:spLocks noChangeArrowheads="1"/>
          </p:cNvSpPr>
          <p:nvPr/>
        </p:nvSpPr>
        <p:spPr bwMode="auto">
          <a:xfrm>
            <a:off x="2032054" y="908051"/>
            <a:ext cx="471635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33CC"/>
              </a:buClr>
              <a:buSzPct val="90000"/>
              <a:buFont typeface="Wingdings" panose="05000000000000000000" pitchFamily="2" charset="2"/>
              <a:buBlip>
                <a:blip r:embed="rId3"/>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lang="zh-CN" altLang="en-US" sz="3200" b="1">
                <a:solidFill>
                  <a:srgbClr val="000000"/>
                </a:solidFill>
                <a:latin typeface="Times New Roman" panose="02020603050405020304" pitchFamily="18" charset="0"/>
                <a:ea typeface="楷体" panose="02010609060101010101" pitchFamily="49" charset="-122"/>
              </a:rPr>
              <a:t>（二）蛋白质的二级结构</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1314" name="Picture 2" descr="dbz24">
            <a:extLst>
              <a:ext uri="{FF2B5EF4-FFF2-40B4-BE49-F238E27FC236}">
                <a16:creationId xmlns:a16="http://schemas.microsoft.com/office/drawing/2014/main" id="{8BB4044C-774B-7807-D84E-8DAB17DF58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63338" t="16951" r="6467" b="3992"/>
          <a:stretch>
            <a:fillRect/>
          </a:stretch>
        </p:blipFill>
        <p:spPr bwMode="auto">
          <a:xfrm>
            <a:off x="7772400" y="381000"/>
            <a:ext cx="2895600" cy="617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5235" name="Rectangle 3">
            <a:extLst>
              <a:ext uri="{FF2B5EF4-FFF2-40B4-BE49-F238E27FC236}">
                <a16:creationId xmlns:a16="http://schemas.microsoft.com/office/drawing/2014/main" id="{8FD443A9-B312-64B3-585F-B7D10C7DA9F0}"/>
              </a:ext>
            </a:extLst>
          </p:cNvPr>
          <p:cNvSpPr>
            <a:spLocks noRot="1" noChangeArrowheads="1"/>
          </p:cNvSpPr>
          <p:nvPr/>
        </p:nvSpPr>
        <p:spPr bwMode="auto">
          <a:xfrm>
            <a:off x="2063750" y="908050"/>
            <a:ext cx="4953000" cy="533400"/>
          </a:xfrm>
          <a:prstGeom prst="rect">
            <a:avLst/>
          </a:prstGeom>
          <a:noFill/>
          <a:ln w="9525">
            <a:noFill/>
            <a:miter lim="800000"/>
          </a:ln>
        </p:spPr>
        <p:txBody>
          <a:bodyPr/>
          <a:lstStyle/>
          <a:p>
            <a:pPr marL="342900" indent="-342900" fontAlgn="base">
              <a:spcBef>
                <a:spcPct val="20000"/>
              </a:spcBef>
              <a:spcAft>
                <a:spcPct val="0"/>
              </a:spcAft>
              <a:buClr>
                <a:srgbClr val="5A84D8"/>
              </a:buClr>
              <a:defRPr/>
            </a:pPr>
            <a:r>
              <a:rPr lang="zh-CN" altLang="en-US" sz="3200" b="1" dirty="0">
                <a:solidFill>
                  <a:srgbClr val="000000"/>
                </a:solidFill>
                <a:latin typeface="Times New Roman"/>
                <a:ea typeface="宋体"/>
              </a:rPr>
              <a:t>1</a:t>
            </a:r>
            <a:r>
              <a:rPr lang="en-US" sz="3200" b="1" dirty="0">
                <a:solidFill>
                  <a:srgbClr val="000000"/>
                </a:solidFill>
                <a:latin typeface="Times New Roman"/>
                <a:ea typeface="宋体"/>
              </a:rPr>
              <a:t>.</a:t>
            </a:r>
            <a:r>
              <a:rPr lang="zh-CN" altLang="en-US" sz="3200" b="1" dirty="0">
                <a:solidFill>
                  <a:srgbClr val="000000"/>
                </a:solidFill>
                <a:latin typeface="Times New Roman"/>
                <a:ea typeface="宋体"/>
                <a:sym typeface="Symbol" panose="05050102010706020507" pitchFamily="18" charset="2"/>
              </a:rPr>
              <a:t>-</a:t>
            </a:r>
            <a:r>
              <a:rPr lang="zh-CN" altLang="en-US" sz="3200" b="1" dirty="0">
                <a:solidFill>
                  <a:srgbClr val="000000"/>
                </a:solidFill>
                <a:latin typeface="Times New Roman"/>
                <a:ea typeface="宋体"/>
              </a:rPr>
              <a:t>螺旋结构</a:t>
            </a:r>
          </a:p>
        </p:txBody>
      </p:sp>
      <p:sp>
        <p:nvSpPr>
          <p:cNvPr id="95236" name="Text Box 4">
            <a:extLst>
              <a:ext uri="{FF2B5EF4-FFF2-40B4-BE49-F238E27FC236}">
                <a16:creationId xmlns:a16="http://schemas.microsoft.com/office/drawing/2014/main" id="{273563BB-4BCB-9682-C043-F2DB5864E71A}"/>
              </a:ext>
            </a:extLst>
          </p:cNvPr>
          <p:cNvSpPr txBox="1">
            <a:spLocks noChangeArrowheads="1"/>
          </p:cNvSpPr>
          <p:nvPr/>
        </p:nvSpPr>
        <p:spPr bwMode="auto">
          <a:xfrm>
            <a:off x="2065338" y="1557338"/>
            <a:ext cx="5688012" cy="4343400"/>
          </a:xfrm>
          <a:prstGeom prst="rect">
            <a:avLst/>
          </a:prstGeom>
          <a:noFill/>
          <a:ln w="9525">
            <a:noFill/>
            <a:miter lim="800000"/>
          </a:ln>
        </p:spPr>
        <p:txBody>
          <a:bodyPr lIns="92075" tIns="46038" rIns="92075" bIns="46038"/>
          <a:lstStyle/>
          <a:p>
            <a:pPr marL="342900" indent="-342900" fontAlgn="base">
              <a:lnSpc>
                <a:spcPts val="4000"/>
              </a:lnSpc>
              <a:spcBef>
                <a:spcPct val="20000"/>
              </a:spcBef>
              <a:spcAft>
                <a:spcPct val="0"/>
              </a:spcAft>
              <a:buClr>
                <a:srgbClr val="5A84D8"/>
              </a:buClr>
              <a:defRPr/>
            </a:pPr>
            <a:r>
              <a:rPr lang="zh-CN" altLang="en-US" sz="2800" b="1" dirty="0">
                <a:solidFill>
                  <a:srgbClr val="0000FF"/>
                </a:solidFill>
                <a:latin typeface="Times New Roman"/>
                <a:ea typeface="宋体" panose="02010600030101010101" pitchFamily="2" charset="-122"/>
              </a:rPr>
              <a:t>结构特点：</a:t>
            </a:r>
          </a:p>
          <a:p>
            <a:pPr marL="514350" indent="-514350" fontAlgn="base">
              <a:lnSpc>
                <a:spcPts val="4000"/>
              </a:lnSpc>
              <a:spcBef>
                <a:spcPct val="20000"/>
              </a:spcBef>
              <a:spcAft>
                <a:spcPct val="0"/>
              </a:spcAft>
              <a:buClr>
                <a:srgbClr val="0000FF"/>
              </a:buClr>
              <a:buFont typeface="Wingdings" panose="05000000000000000000" pitchFamily="2" charset="2"/>
              <a:buAutoNum type="circleNumDbPlain"/>
              <a:defRPr/>
            </a:pPr>
            <a:r>
              <a:rPr lang="zh-CN" altLang="en-US" sz="2800" b="1" dirty="0">
                <a:solidFill>
                  <a:srgbClr val="000000"/>
                </a:solidFill>
                <a:latin typeface="Times New Roman"/>
                <a:ea typeface="宋体" panose="02010600030101010101" pitchFamily="2" charset="-122"/>
              </a:rPr>
              <a:t>主链中心轴按</a:t>
            </a:r>
            <a:r>
              <a:rPr lang="zh-CN" altLang="en-US" sz="2800" b="1" dirty="0">
                <a:solidFill>
                  <a:srgbClr val="C00000"/>
                </a:solidFill>
                <a:latin typeface="Times New Roman"/>
                <a:ea typeface="宋体" panose="02010600030101010101" pitchFamily="2" charset="-122"/>
              </a:rPr>
              <a:t>右</a:t>
            </a:r>
            <a:r>
              <a:rPr lang="zh-CN" altLang="en-US" sz="2800" b="1" dirty="0">
                <a:solidFill>
                  <a:srgbClr val="000000"/>
                </a:solidFill>
                <a:latin typeface="Times New Roman"/>
                <a:ea typeface="宋体" panose="02010600030101010101" pitchFamily="2" charset="-122"/>
              </a:rPr>
              <a:t>手方向盘绕；</a:t>
            </a:r>
          </a:p>
          <a:p>
            <a:pPr marL="514350" indent="-514350" fontAlgn="base">
              <a:lnSpc>
                <a:spcPts val="4000"/>
              </a:lnSpc>
              <a:spcBef>
                <a:spcPct val="20000"/>
              </a:spcBef>
              <a:spcAft>
                <a:spcPct val="0"/>
              </a:spcAft>
              <a:buClr>
                <a:srgbClr val="0000FF"/>
              </a:buClr>
              <a:buFont typeface="Wingdings" panose="05000000000000000000" pitchFamily="2" charset="2"/>
              <a:buAutoNum type="circleNumDbPlain"/>
              <a:defRPr/>
            </a:pPr>
            <a:r>
              <a:rPr lang="zh-CN" altLang="en-US" sz="2800" b="1" dirty="0">
                <a:solidFill>
                  <a:srgbClr val="000000"/>
                </a:solidFill>
                <a:latin typeface="Times New Roman"/>
                <a:ea typeface="宋体" panose="02010600030101010101" pitchFamily="2" charset="-122"/>
                <a:sym typeface="Symbol" panose="05050102010706020507" pitchFamily="18" charset="2"/>
              </a:rPr>
              <a:t></a:t>
            </a:r>
            <a:r>
              <a:rPr lang="zh-CN" altLang="en-US" sz="2800" b="1" dirty="0">
                <a:solidFill>
                  <a:srgbClr val="660033"/>
                </a:solidFill>
                <a:latin typeface="Times New Roman"/>
                <a:ea typeface="宋体" panose="02010600030101010101" pitchFamily="2" charset="-122"/>
              </a:rPr>
              <a:t>-</a:t>
            </a:r>
            <a:r>
              <a:rPr lang="zh-CN" altLang="en-US" sz="2800" b="1" dirty="0">
                <a:solidFill>
                  <a:srgbClr val="000000"/>
                </a:solidFill>
                <a:latin typeface="Times New Roman"/>
                <a:ea typeface="宋体" panose="02010600030101010101" pitchFamily="2" charset="-122"/>
              </a:rPr>
              <a:t>螺旋的稳定性靠大量氢键来维持；</a:t>
            </a:r>
          </a:p>
          <a:p>
            <a:pPr marL="514350" indent="-514350" fontAlgn="base">
              <a:lnSpc>
                <a:spcPts val="4000"/>
              </a:lnSpc>
              <a:spcBef>
                <a:spcPct val="20000"/>
              </a:spcBef>
              <a:spcAft>
                <a:spcPct val="0"/>
              </a:spcAft>
              <a:buClr>
                <a:srgbClr val="0000FF"/>
              </a:buClr>
              <a:buFont typeface="Wingdings" panose="05000000000000000000" pitchFamily="2" charset="2"/>
              <a:buAutoNum type="circleNumDbPlain"/>
              <a:defRPr/>
            </a:pPr>
            <a:r>
              <a:rPr lang="zh-CN" altLang="en-US" sz="2800" b="1" dirty="0">
                <a:solidFill>
                  <a:srgbClr val="000000"/>
                </a:solidFill>
                <a:latin typeface="Times New Roman"/>
                <a:ea typeface="宋体" panose="02010600030101010101" pitchFamily="2" charset="-122"/>
              </a:rPr>
              <a:t>氢键的形成将肽链局部封闭成环状，环内包括13个原子；</a:t>
            </a:r>
          </a:p>
          <a:p>
            <a:pPr marL="514350" indent="-514350" fontAlgn="base">
              <a:lnSpc>
                <a:spcPts val="4000"/>
              </a:lnSpc>
              <a:spcBef>
                <a:spcPct val="20000"/>
              </a:spcBef>
              <a:spcAft>
                <a:spcPct val="0"/>
              </a:spcAft>
              <a:buClr>
                <a:srgbClr val="0000FF"/>
              </a:buClr>
              <a:buFont typeface="Wingdings" panose="05000000000000000000" pitchFamily="2" charset="2"/>
              <a:buAutoNum type="circleNumDbPlain"/>
              <a:defRPr/>
            </a:pPr>
            <a:r>
              <a:rPr lang="zh-CN" altLang="en-US" sz="2800" b="1" dirty="0">
                <a:solidFill>
                  <a:srgbClr val="000000"/>
                </a:solidFill>
                <a:latin typeface="Times New Roman"/>
                <a:ea typeface="宋体" panose="02010600030101010101" pitchFamily="2" charset="-122"/>
              </a:rPr>
              <a:t>每上升一圈包括3.6个氨基酸残基，螺距为0.54nm，平均每个残基旋转100度，上升0.15nm；</a:t>
            </a:r>
          </a:p>
          <a:p>
            <a:pPr marL="342900" indent="-342900" fontAlgn="base">
              <a:spcBef>
                <a:spcPct val="20000"/>
              </a:spcBef>
              <a:spcAft>
                <a:spcPct val="0"/>
              </a:spcAft>
              <a:buClr>
                <a:srgbClr val="0000FF"/>
              </a:buClr>
              <a:defRPr/>
            </a:pPr>
            <a:endParaRPr lang="zh-CN" altLang="en-US" sz="2800" b="1" dirty="0">
              <a:solidFill>
                <a:srgbClr val="000000"/>
              </a:solidFill>
              <a:latin typeface="Times New Roman"/>
              <a:ea typeface="宋体" panose="02010600030101010101" pitchFamily="2" charset="-122"/>
            </a:endParaRPr>
          </a:p>
          <a:p>
            <a:pPr marL="514350" indent="-514350" fontAlgn="base">
              <a:spcBef>
                <a:spcPct val="20000"/>
              </a:spcBef>
              <a:spcAft>
                <a:spcPct val="0"/>
              </a:spcAft>
              <a:buClr>
                <a:srgbClr val="0000FF"/>
              </a:buClr>
              <a:buFont typeface="Wingdings" panose="05000000000000000000" pitchFamily="2" charset="2"/>
              <a:buAutoNum type="circleNumDbPlain"/>
              <a:defRPr/>
            </a:pPr>
            <a:endParaRPr lang="zh-CN" altLang="en-US" sz="2800" b="1" dirty="0">
              <a:solidFill>
                <a:srgbClr val="000000"/>
              </a:solidFill>
              <a:latin typeface="Times New Roman"/>
              <a:ea typeface="宋体" panose="02010600030101010101" pitchFamily="2" charset="-122"/>
            </a:endParaRPr>
          </a:p>
          <a:p>
            <a:pPr marL="342900" indent="-342900" fontAlgn="base">
              <a:lnSpc>
                <a:spcPct val="80000"/>
              </a:lnSpc>
              <a:spcBef>
                <a:spcPct val="20000"/>
              </a:spcBef>
              <a:spcAft>
                <a:spcPct val="0"/>
              </a:spcAft>
              <a:buClr>
                <a:srgbClr val="0000FF"/>
              </a:buClr>
              <a:buFont typeface="Wingdings" panose="05000000000000000000" pitchFamily="2" charset="2"/>
              <a:buChar char="u"/>
              <a:defRPr/>
            </a:pPr>
            <a:endParaRPr lang="zh-CN" altLang="en-US" sz="2800" b="1" baseline="-25000" dirty="0">
              <a:solidFill>
                <a:srgbClr val="660033"/>
              </a:solidFill>
              <a:latin typeface="Times New Roman"/>
              <a:ea typeface="宋体" panose="02010600030101010101" pitchFamily="2" charset="-122"/>
            </a:endParaRPr>
          </a:p>
          <a:p>
            <a:pPr marL="342900" indent="-342900" fontAlgn="base">
              <a:lnSpc>
                <a:spcPct val="80000"/>
              </a:lnSpc>
              <a:spcBef>
                <a:spcPct val="20000"/>
              </a:spcBef>
              <a:spcAft>
                <a:spcPct val="0"/>
              </a:spcAft>
              <a:buClr>
                <a:srgbClr val="5A84D8"/>
              </a:buClr>
              <a:defRPr/>
            </a:pPr>
            <a:endParaRPr lang="zh-CN" altLang="en-US" sz="2800" b="1" dirty="0">
              <a:solidFill>
                <a:srgbClr val="660033"/>
              </a:solidFill>
              <a:latin typeface="Times New Roman"/>
              <a:ea typeface="宋体" panose="02010600030101010101" pitchFamily="2" charset="-122"/>
            </a:endParaRPr>
          </a:p>
        </p:txBody>
      </p:sp>
      <p:sp>
        <p:nvSpPr>
          <p:cNvPr id="141317" name="Line 6">
            <a:extLst>
              <a:ext uri="{FF2B5EF4-FFF2-40B4-BE49-F238E27FC236}">
                <a16:creationId xmlns:a16="http://schemas.microsoft.com/office/drawing/2014/main" id="{6C9A9A8D-5715-49EB-0222-3E661AFEF0E3}"/>
              </a:ext>
            </a:extLst>
          </p:cNvPr>
          <p:cNvSpPr>
            <a:spLocks noChangeShapeType="1"/>
          </p:cNvSpPr>
          <p:nvPr/>
        </p:nvSpPr>
        <p:spPr bwMode="auto">
          <a:xfrm>
            <a:off x="7772400" y="0"/>
            <a:ext cx="0" cy="6858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2400" b="1">
              <a:solidFill>
                <a:srgbClr val="660033"/>
              </a:solidFill>
              <a:latin typeface="Times New Roman" panose="02020603050405020304" pitchFamily="18" charset="0"/>
              <a:ea typeface="楷体_GB2312" pitchFamily="49" charset="-122"/>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B0AB6986-46F3-22E2-E657-7380FDE65D30}"/>
              </a:ext>
            </a:extLst>
          </p:cNvPr>
          <p:cNvSpPr>
            <a:spLocks noGrp="1" noRot="1" noChangeArrowheads="1"/>
          </p:cNvSpPr>
          <p:nvPr>
            <p:ph type="body" idx="4294967295"/>
          </p:nvPr>
        </p:nvSpPr>
        <p:spPr>
          <a:xfrm>
            <a:off x="941021" y="63989"/>
            <a:ext cx="4953000" cy="533400"/>
          </a:xfrm>
        </p:spPr>
        <p:txBody>
          <a:bodyPr/>
          <a:lstStyle/>
          <a:p>
            <a:pPr eaLnBrk="1" hangingPunct="1">
              <a:buFont typeface="Wingdings" panose="05000000000000000000" pitchFamily="2" charset="2"/>
              <a:buNone/>
              <a:defRPr/>
            </a:pPr>
            <a:r>
              <a:rPr lang="zh-CN" altLang="en-US" sz="3200" b="1" dirty="0">
                <a:latin typeface="+mj-lt"/>
                <a:sym typeface="Symbol" panose="05050102010706020507" pitchFamily="18" charset="2"/>
              </a:rPr>
              <a:t>1</a:t>
            </a:r>
            <a:r>
              <a:rPr lang="en-US" sz="3200" b="1" dirty="0">
                <a:latin typeface="+mj-lt"/>
                <a:sym typeface="Symbol" panose="05050102010706020507" pitchFamily="18" charset="2"/>
              </a:rPr>
              <a:t>.</a:t>
            </a:r>
            <a:r>
              <a:rPr lang="zh-CN" altLang="en-US" sz="3200" b="1" dirty="0">
                <a:latin typeface="+mj-lt"/>
                <a:sym typeface="Symbol" panose="05050102010706020507" pitchFamily="18" charset="2"/>
              </a:rPr>
              <a:t>-螺旋结构</a:t>
            </a:r>
          </a:p>
        </p:txBody>
      </p:sp>
      <p:pic>
        <p:nvPicPr>
          <p:cNvPr id="142339" name="Picture 4" descr="figure-04-04ab">
            <a:extLst>
              <a:ext uri="{FF2B5EF4-FFF2-40B4-BE49-F238E27FC236}">
                <a16:creationId xmlns:a16="http://schemas.microsoft.com/office/drawing/2014/main" id="{F3CEE013-6522-496F-69EC-46BDD36D95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0643" y="467825"/>
            <a:ext cx="4430713" cy="430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42340" name="Object 5">
            <a:extLst>
              <a:ext uri="{FF2B5EF4-FFF2-40B4-BE49-F238E27FC236}">
                <a16:creationId xmlns:a16="http://schemas.microsoft.com/office/drawing/2014/main" id="{B062EF76-C8DF-D297-4C01-31D65C3C33F5}"/>
              </a:ext>
            </a:extLst>
          </p:cNvPr>
          <p:cNvGraphicFramePr>
            <a:graphicFrameLocks/>
          </p:cNvGraphicFramePr>
          <p:nvPr>
            <p:extLst>
              <p:ext uri="{D42A27DB-BD31-4B8C-83A1-F6EECF244321}">
                <p14:modId xmlns:p14="http://schemas.microsoft.com/office/powerpoint/2010/main" val="1911158985"/>
              </p:ext>
            </p:extLst>
          </p:nvPr>
        </p:nvGraphicFramePr>
        <p:xfrm>
          <a:off x="1166813" y="841375"/>
          <a:ext cx="1773238" cy="2819400"/>
        </p:xfrm>
        <a:graphic>
          <a:graphicData uri="http://schemas.openxmlformats.org/presentationml/2006/ole">
            <mc:AlternateContent xmlns:mc="http://schemas.openxmlformats.org/markup-compatibility/2006">
              <mc:Choice xmlns:v="urn:schemas-microsoft-com:vml" Requires="v">
                <p:oleObj r:id="rId4" imgW="2450794" imgH="3898413" progId="">
                  <p:embed/>
                </p:oleObj>
              </mc:Choice>
              <mc:Fallback>
                <p:oleObj r:id="rId4" imgW="2450794" imgH="3898413" progId="">
                  <p:embed/>
                  <p:pic>
                    <p:nvPicPr>
                      <p:cNvPr id="142340" name="Object 5">
                        <a:extLst>
                          <a:ext uri="{FF2B5EF4-FFF2-40B4-BE49-F238E27FC236}">
                            <a16:creationId xmlns:a16="http://schemas.microsoft.com/office/drawing/2014/main" id="{B062EF76-C8DF-D297-4C01-31D65C3C33F5}"/>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66813" y="841375"/>
                        <a:ext cx="1773238"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142341" name="Picture 6" descr="figure-03-03">
            <a:extLst>
              <a:ext uri="{FF2B5EF4-FFF2-40B4-BE49-F238E27FC236}">
                <a16:creationId xmlns:a16="http://schemas.microsoft.com/office/drawing/2014/main" id="{3400A479-2611-A1B3-07E6-382B270A416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r="16013"/>
          <a:stretch>
            <a:fillRect/>
          </a:stretch>
        </p:blipFill>
        <p:spPr bwMode="auto">
          <a:xfrm>
            <a:off x="9659936" y="558313"/>
            <a:ext cx="2232025" cy="412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2342" name="Text Box 7">
            <a:extLst>
              <a:ext uri="{FF2B5EF4-FFF2-40B4-BE49-F238E27FC236}">
                <a16:creationId xmlns:a16="http://schemas.microsoft.com/office/drawing/2014/main" id="{0D769EBD-F305-C9AD-7D33-6FABEECA4059}"/>
              </a:ext>
            </a:extLst>
          </p:cNvPr>
          <p:cNvSpPr txBox="1">
            <a:spLocks noChangeArrowheads="1"/>
          </p:cNvSpPr>
          <p:nvPr/>
        </p:nvSpPr>
        <p:spPr bwMode="auto">
          <a:xfrm>
            <a:off x="1828800" y="1752600"/>
            <a:ext cx="8839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lr>
                <a:srgbClr val="0033CC"/>
              </a:buClr>
              <a:buSzPct val="90000"/>
              <a:buFont typeface="Wingdings" panose="05000000000000000000" pitchFamily="2" charset="2"/>
              <a:buBlip>
                <a:blip r:embed="rId7"/>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fontAlgn="base">
              <a:lnSpc>
                <a:spcPct val="80000"/>
              </a:lnSpc>
              <a:spcAft>
                <a:spcPct val="0"/>
              </a:spcAft>
              <a:buClr>
                <a:srgbClr val="5A84D8"/>
              </a:buClr>
              <a:buSzTx/>
              <a:buFont typeface="Wingdings" panose="05000000000000000000" pitchFamily="2" charset="2"/>
              <a:buChar char="§"/>
            </a:pPr>
            <a:endParaRPr lang="zh-CN" altLang="zh-CN" sz="2400" b="1">
              <a:solidFill>
                <a:srgbClr val="660033"/>
              </a:solidFill>
              <a:latin typeface="Times New Roman" panose="02020603050405020304" pitchFamily="18" charset="0"/>
              <a:ea typeface="楷体_GB2312" pitchFamily="49" charset="-122"/>
            </a:endParaRPr>
          </a:p>
        </p:txBody>
      </p:sp>
      <p:sp>
        <p:nvSpPr>
          <p:cNvPr id="3" name="文本框 2">
            <a:extLst>
              <a:ext uri="{FF2B5EF4-FFF2-40B4-BE49-F238E27FC236}">
                <a16:creationId xmlns:a16="http://schemas.microsoft.com/office/drawing/2014/main" id="{1FBAC5DE-5E11-E5C1-44C6-7D3EFA1D33CE}"/>
              </a:ext>
            </a:extLst>
          </p:cNvPr>
          <p:cNvSpPr txBox="1"/>
          <p:nvPr/>
        </p:nvSpPr>
        <p:spPr>
          <a:xfrm>
            <a:off x="148493" y="4855062"/>
            <a:ext cx="11743468" cy="1866858"/>
          </a:xfrm>
          <a:prstGeom prst="rect">
            <a:avLst/>
          </a:prstGeom>
          <a:noFill/>
        </p:spPr>
        <p:txBody>
          <a:bodyPr wrap="square">
            <a:spAutoFit/>
          </a:bodyPr>
          <a:lstStyle/>
          <a:p>
            <a:pPr>
              <a:lnSpc>
                <a:spcPct val="150000"/>
              </a:lnSpc>
            </a:pPr>
            <a:r>
              <a:rPr lang="zh-CN" altLang="en-US" sz="2000" b="1" dirty="0">
                <a:solidFill>
                  <a:srgbClr val="FF0000"/>
                </a:solidFill>
                <a:latin typeface="黑体" panose="02010609060101010101" pitchFamily="49" charset="-122"/>
                <a:ea typeface="黑体" panose="02010609060101010101" pitchFamily="49" charset="-122"/>
              </a:rPr>
              <a:t>右旋</a:t>
            </a:r>
            <a:r>
              <a:rPr lang="zh-CN" altLang="en-US" sz="2000" b="1" dirty="0">
                <a:latin typeface="黑体" panose="02010609060101010101" pitchFamily="49" charset="-122"/>
                <a:ea typeface="黑体" panose="02010609060101010101" pitchFamily="49" charset="-122"/>
              </a:rPr>
              <a:t>比左旋更稳定，更为常见。如果肽链中含有</a:t>
            </a:r>
            <a:r>
              <a:rPr lang="zh-CN" altLang="en-US" sz="2000" b="1" dirty="0">
                <a:solidFill>
                  <a:srgbClr val="FF0000"/>
                </a:solidFill>
                <a:latin typeface="黑体" panose="02010609060101010101" pitchFamily="49" charset="-122"/>
                <a:ea typeface="黑体" panose="02010609060101010101" pitchFamily="49" charset="-122"/>
              </a:rPr>
              <a:t>脯氨酸</a:t>
            </a:r>
            <a:r>
              <a:rPr lang="zh-CN" altLang="en-US" sz="2000" b="1" dirty="0">
                <a:latin typeface="黑体" panose="02010609060101010101" pitchFamily="49" charset="-122"/>
                <a:ea typeface="黑体" panose="02010609060101010101" pitchFamily="49" charset="-122"/>
              </a:rPr>
              <a:t>（亚氨基酸），氢原子参与肽键的形成后，再没有多余氢原子形成氢键，肽链就拐弯不再形成螺旋。</a:t>
            </a:r>
            <a:r>
              <a:rPr lang="zh-CN" altLang="en-US" sz="2000" b="1" dirty="0">
                <a:solidFill>
                  <a:srgbClr val="FF0000"/>
                </a:solidFill>
                <a:latin typeface="黑体" panose="02010609060101010101" pitchFamily="49" charset="-122"/>
                <a:ea typeface="黑体" panose="02010609060101010101" pitchFamily="49" charset="-122"/>
              </a:rPr>
              <a:t>甘氨酸</a:t>
            </a:r>
            <a:r>
              <a:rPr lang="zh-CN" altLang="en-US" sz="2000" b="1" dirty="0">
                <a:latin typeface="黑体" panose="02010609060101010101" pitchFamily="49" charset="-122"/>
                <a:ea typeface="黑体" panose="02010609060101010101" pitchFamily="49" charset="-122"/>
              </a:rPr>
              <a:t>侧链没有束缚，但肽平面上的角度可以任意值，难以形成</a:t>
            </a:r>
            <a:r>
              <a:rPr lang="en-US" altLang="zh-CN" sz="2000" b="1" dirty="0">
                <a:latin typeface="黑体" panose="02010609060101010101" pitchFamily="49" charset="-122"/>
                <a:ea typeface="黑体" panose="02010609060101010101" pitchFamily="49" charset="-122"/>
              </a:rPr>
              <a:t>α-</a:t>
            </a:r>
            <a:r>
              <a:rPr lang="zh-CN" altLang="en-US" sz="2000" b="1" dirty="0">
                <a:latin typeface="黑体" panose="02010609060101010101" pitchFamily="49" charset="-122"/>
                <a:ea typeface="黑体" panose="02010609060101010101" pitchFamily="49" charset="-122"/>
              </a:rPr>
              <a:t>螺旋所需的二面角。另外，如果肽链中连续存在带相同电荷的氨基酸残基，由于</a:t>
            </a:r>
            <a:r>
              <a:rPr lang="zh-CN" altLang="en-US" sz="2000" b="1" dirty="0">
                <a:solidFill>
                  <a:srgbClr val="FF0000"/>
                </a:solidFill>
                <a:latin typeface="黑体" panose="02010609060101010101" pitchFamily="49" charset="-122"/>
                <a:ea typeface="黑体" panose="02010609060101010101" pitchFamily="49" charset="-122"/>
              </a:rPr>
              <a:t>同性电荷相斥</a:t>
            </a:r>
            <a:r>
              <a:rPr lang="zh-CN" altLang="en-US" sz="2000" b="1" dirty="0">
                <a:latin typeface="黑体" panose="02010609060101010101" pitchFamily="49" charset="-122"/>
                <a:ea typeface="黑体" panose="02010609060101010101" pitchFamily="49" charset="-122"/>
              </a:rPr>
              <a:t>也会影响</a:t>
            </a:r>
            <a:r>
              <a:rPr lang="en-US" altLang="zh-CN" sz="2000" b="1" dirty="0">
                <a:latin typeface="黑体" panose="02010609060101010101" pitchFamily="49" charset="-122"/>
                <a:ea typeface="黑体" panose="02010609060101010101" pitchFamily="49" charset="-122"/>
              </a:rPr>
              <a:t>α</a:t>
            </a:r>
            <a:r>
              <a:rPr lang="zh-CN" altLang="en-US" sz="2000" b="1" dirty="0">
                <a:latin typeface="黑体" panose="02010609060101010101" pitchFamily="49" charset="-122"/>
                <a:ea typeface="黑体" panose="02010609060101010101" pitchFamily="49" charset="-122"/>
              </a:rPr>
              <a:t>螺旋形成。</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905422" y="1493904"/>
            <a:ext cx="8304456" cy="0"/>
          </a:xfrm>
          <a:custGeom>
            <a:avLst/>
            <a:gdLst/>
            <a:ahLst/>
            <a:cxnLst/>
            <a:rect l="l" t="t" r="r" b="b"/>
            <a:pathLst>
              <a:path w="9157970">
                <a:moveTo>
                  <a:pt x="0" y="0"/>
                </a:moveTo>
                <a:lnTo>
                  <a:pt x="9157715" y="0"/>
                </a:lnTo>
              </a:path>
            </a:pathLst>
          </a:custGeom>
          <a:ln w="21336">
            <a:solidFill>
              <a:srgbClr val="666699"/>
            </a:solidFill>
          </a:ln>
        </p:spPr>
        <p:txBody>
          <a:bodyPr wrap="square" lIns="0" tIns="0" rIns="0" bIns="0" rtlCol="0"/>
          <a:lstStyle/>
          <a:p>
            <a:endParaRPr sz="1632"/>
          </a:p>
        </p:txBody>
      </p:sp>
      <p:sp>
        <p:nvSpPr>
          <p:cNvPr id="3" name="object 3"/>
          <p:cNvSpPr/>
          <p:nvPr/>
        </p:nvSpPr>
        <p:spPr>
          <a:xfrm>
            <a:off x="1524000" y="4854842"/>
            <a:ext cx="609792" cy="44338"/>
          </a:xfrm>
          <a:custGeom>
            <a:avLst/>
            <a:gdLst/>
            <a:ahLst/>
            <a:cxnLst/>
            <a:rect l="l" t="t" r="r" b="b"/>
            <a:pathLst>
              <a:path w="672465" h="48895">
                <a:moveTo>
                  <a:pt x="0" y="0"/>
                </a:moveTo>
                <a:lnTo>
                  <a:pt x="672083" y="0"/>
                </a:lnTo>
                <a:lnTo>
                  <a:pt x="672083" y="48767"/>
                </a:lnTo>
                <a:lnTo>
                  <a:pt x="0" y="48767"/>
                </a:lnTo>
                <a:lnTo>
                  <a:pt x="0" y="0"/>
                </a:lnTo>
                <a:close/>
              </a:path>
            </a:pathLst>
          </a:custGeom>
          <a:solidFill>
            <a:srgbClr val="666699"/>
          </a:solidFill>
        </p:spPr>
        <p:txBody>
          <a:bodyPr wrap="square" lIns="0" tIns="0" rIns="0" bIns="0" rtlCol="0"/>
          <a:lstStyle/>
          <a:p>
            <a:endParaRPr sz="1632"/>
          </a:p>
        </p:txBody>
      </p:sp>
      <p:sp>
        <p:nvSpPr>
          <p:cNvPr id="4" name="object 4"/>
          <p:cNvSpPr txBox="1"/>
          <p:nvPr/>
        </p:nvSpPr>
        <p:spPr>
          <a:xfrm>
            <a:off x="1398498" y="2378326"/>
            <a:ext cx="9893898" cy="2296945"/>
          </a:xfrm>
          <a:prstGeom prst="rect">
            <a:avLst/>
          </a:prstGeom>
        </p:spPr>
        <p:txBody>
          <a:bodyPr vert="horz" wrap="square" lIns="0" tIns="55279" rIns="0" bIns="0" rtlCol="0">
            <a:spAutoFit/>
          </a:bodyPr>
          <a:lstStyle/>
          <a:p>
            <a:pPr marL="544724" marR="4607" indent="-533207">
              <a:lnSpc>
                <a:spcPts val="4534"/>
              </a:lnSpc>
              <a:spcBef>
                <a:spcPts val="435"/>
              </a:spcBef>
              <a:buClr>
                <a:srgbClr val="800080"/>
              </a:buClr>
              <a:buSzPct val="111475"/>
              <a:buFont typeface="Times New Roman"/>
              <a:buChar char="□"/>
              <a:tabLst>
                <a:tab pos="544724" algn="l"/>
                <a:tab pos="545300" algn="l"/>
                <a:tab pos="2685615" algn="l"/>
                <a:tab pos="4113644" algn="l"/>
              </a:tabLst>
            </a:pPr>
            <a:r>
              <a:rPr sz="2800" b="1" spc="27" dirty="0">
                <a:latin typeface="宋体"/>
                <a:cs typeface="宋体"/>
              </a:rPr>
              <a:t>又</a:t>
            </a:r>
            <a:r>
              <a:rPr sz="2800" b="1" spc="54" dirty="0">
                <a:latin typeface="宋体"/>
                <a:cs typeface="宋体"/>
              </a:rPr>
              <a:t>称</a:t>
            </a:r>
            <a:r>
              <a:rPr sz="2800" b="1" spc="27" dirty="0">
                <a:latin typeface="宋体"/>
                <a:cs typeface="宋体"/>
              </a:rPr>
              <a:t>为</a:t>
            </a:r>
            <a:r>
              <a:rPr sz="2800" b="1" spc="-230" dirty="0">
                <a:latin typeface="宋体"/>
                <a:cs typeface="宋体"/>
              </a:rPr>
              <a:t>β-</a:t>
            </a:r>
            <a:r>
              <a:rPr sz="2800" b="1" spc="-1129" dirty="0">
                <a:latin typeface="宋体"/>
                <a:cs typeface="宋体"/>
              </a:rPr>
              <a:t> </a:t>
            </a:r>
            <a:r>
              <a:rPr sz="2800" b="1" spc="27" dirty="0">
                <a:latin typeface="宋体"/>
                <a:cs typeface="宋体"/>
              </a:rPr>
              <a:t>片</a:t>
            </a:r>
            <a:r>
              <a:rPr sz="2800" b="1" spc="54" dirty="0">
                <a:latin typeface="宋体"/>
                <a:cs typeface="宋体"/>
              </a:rPr>
              <a:t>层</a:t>
            </a:r>
            <a:r>
              <a:rPr sz="2800" b="1" spc="27" dirty="0">
                <a:latin typeface="宋体"/>
                <a:cs typeface="宋体"/>
              </a:rPr>
              <a:t>结</a:t>
            </a:r>
            <a:r>
              <a:rPr sz="2800" b="1" spc="54" dirty="0">
                <a:latin typeface="宋体"/>
                <a:cs typeface="宋体"/>
              </a:rPr>
              <a:t>构</a:t>
            </a:r>
            <a:r>
              <a:rPr sz="2800" b="1" spc="27" dirty="0">
                <a:latin typeface="宋体"/>
                <a:cs typeface="宋体"/>
              </a:rPr>
              <a:t>，</a:t>
            </a:r>
            <a:r>
              <a:rPr sz="2800" b="1" spc="54" dirty="0">
                <a:latin typeface="宋体"/>
                <a:cs typeface="宋体"/>
              </a:rPr>
              <a:t>两</a:t>
            </a:r>
            <a:r>
              <a:rPr sz="2800" b="1" spc="27" dirty="0">
                <a:latin typeface="宋体"/>
                <a:cs typeface="宋体"/>
              </a:rPr>
              <a:t>条</a:t>
            </a:r>
            <a:r>
              <a:rPr sz="2800" b="1" spc="54" dirty="0">
                <a:latin typeface="宋体"/>
                <a:cs typeface="宋体"/>
              </a:rPr>
              <a:t>或多</a:t>
            </a:r>
            <a:r>
              <a:rPr sz="2800" b="1" spc="27" dirty="0">
                <a:latin typeface="宋体"/>
                <a:cs typeface="宋体"/>
              </a:rPr>
              <a:t>条</a:t>
            </a:r>
            <a:r>
              <a:rPr sz="2800" b="1" spc="54" dirty="0">
                <a:latin typeface="宋体"/>
                <a:cs typeface="宋体"/>
              </a:rPr>
              <a:t>几</a:t>
            </a:r>
            <a:r>
              <a:rPr sz="2800" b="1" spc="308" dirty="0">
                <a:latin typeface="宋体"/>
                <a:cs typeface="宋体"/>
              </a:rPr>
              <a:t>乎</a:t>
            </a:r>
            <a:r>
              <a:rPr sz="2800" b="1" spc="54" dirty="0">
                <a:solidFill>
                  <a:srgbClr val="FF0000"/>
                </a:solidFill>
                <a:latin typeface="宋体"/>
                <a:cs typeface="宋体"/>
              </a:rPr>
              <a:t>完</a:t>
            </a:r>
            <a:r>
              <a:rPr sz="2800" b="1" spc="27" dirty="0">
                <a:solidFill>
                  <a:srgbClr val="FF0000"/>
                </a:solidFill>
                <a:latin typeface="宋体"/>
                <a:cs typeface="宋体"/>
              </a:rPr>
              <a:t>全伸</a:t>
            </a:r>
            <a:r>
              <a:rPr sz="2800" b="1" spc="45" dirty="0">
                <a:solidFill>
                  <a:srgbClr val="FF0000"/>
                </a:solidFill>
                <a:latin typeface="宋体"/>
                <a:cs typeface="宋体"/>
              </a:rPr>
              <a:t>展</a:t>
            </a:r>
            <a:r>
              <a:rPr sz="2800" b="1" spc="27" dirty="0">
                <a:latin typeface="宋体"/>
                <a:cs typeface="宋体"/>
              </a:rPr>
              <a:t>的</a:t>
            </a:r>
            <a:r>
              <a:rPr sz="2800" b="1" spc="54" dirty="0">
                <a:latin typeface="宋体"/>
                <a:cs typeface="宋体"/>
              </a:rPr>
              <a:t>多</a:t>
            </a:r>
            <a:r>
              <a:rPr sz="2800" b="1" spc="27" dirty="0">
                <a:latin typeface="宋体"/>
                <a:cs typeface="宋体"/>
              </a:rPr>
              <a:t>肽侧向聚在</a:t>
            </a:r>
            <a:r>
              <a:rPr sz="2800" b="1" spc="54" dirty="0">
                <a:latin typeface="宋体"/>
                <a:cs typeface="宋体"/>
              </a:rPr>
              <a:t>一</a:t>
            </a:r>
            <a:r>
              <a:rPr sz="2800" b="1" spc="27" dirty="0">
                <a:latin typeface="宋体"/>
                <a:cs typeface="宋体"/>
              </a:rPr>
              <a:t>起</a:t>
            </a:r>
            <a:r>
              <a:rPr sz="2800" b="1" spc="54" dirty="0">
                <a:latin typeface="宋体"/>
                <a:cs typeface="宋体"/>
              </a:rPr>
              <a:t>，所</a:t>
            </a:r>
            <a:r>
              <a:rPr sz="2800" b="1" spc="27" dirty="0">
                <a:latin typeface="宋体"/>
                <a:cs typeface="宋体"/>
              </a:rPr>
              <a:t>形</a:t>
            </a:r>
            <a:r>
              <a:rPr sz="2800" b="1" spc="54" dirty="0">
                <a:latin typeface="宋体"/>
                <a:cs typeface="宋体"/>
              </a:rPr>
              <a:t>成的</a:t>
            </a:r>
            <a:r>
              <a:rPr sz="2800" b="1" spc="27" dirty="0">
                <a:latin typeface="宋体"/>
                <a:cs typeface="宋体"/>
              </a:rPr>
              <a:t>扇</a:t>
            </a:r>
            <a:r>
              <a:rPr lang="zh-CN" altLang="en-US" sz="2800" b="1" spc="27" dirty="0">
                <a:latin typeface="宋体"/>
                <a:cs typeface="宋体"/>
              </a:rPr>
              <a:t>面</a:t>
            </a:r>
            <a:r>
              <a:rPr sz="2800" b="1" spc="54" dirty="0" err="1">
                <a:latin typeface="宋体"/>
                <a:cs typeface="宋体"/>
              </a:rPr>
              <a:t>状</a:t>
            </a:r>
            <a:r>
              <a:rPr sz="2800" b="1" spc="27" dirty="0" err="1">
                <a:latin typeface="宋体"/>
                <a:cs typeface="宋体"/>
              </a:rPr>
              <a:t>片</a:t>
            </a:r>
            <a:r>
              <a:rPr sz="2800" b="1" spc="54" dirty="0" err="1">
                <a:latin typeface="宋体"/>
                <a:cs typeface="宋体"/>
              </a:rPr>
              <a:t>层</a:t>
            </a:r>
            <a:r>
              <a:rPr sz="2800" b="1" spc="27" dirty="0" err="1">
                <a:latin typeface="宋体"/>
                <a:cs typeface="宋体"/>
              </a:rPr>
              <a:t>构象</a:t>
            </a:r>
            <a:r>
              <a:rPr sz="2800" b="1" spc="27" dirty="0">
                <a:latin typeface="宋体"/>
                <a:cs typeface="宋体"/>
              </a:rPr>
              <a:t>；</a:t>
            </a:r>
            <a:endParaRPr sz="2800" b="1" dirty="0">
              <a:latin typeface="宋体"/>
              <a:cs typeface="宋体"/>
            </a:endParaRPr>
          </a:p>
          <a:p>
            <a:pPr marL="544724" marR="6910" indent="-533207">
              <a:lnSpc>
                <a:spcPct val="131100"/>
              </a:lnSpc>
              <a:spcBef>
                <a:spcPts val="426"/>
              </a:spcBef>
              <a:buClr>
                <a:srgbClr val="800080"/>
              </a:buClr>
              <a:buSzPct val="111475"/>
              <a:buFont typeface="Times New Roman"/>
              <a:buChar char="□"/>
              <a:tabLst>
                <a:tab pos="544724" algn="l"/>
                <a:tab pos="545300" algn="l"/>
                <a:tab pos="1971025" algn="l"/>
                <a:tab pos="2682736" algn="l"/>
                <a:tab pos="5900983" algn="l"/>
              </a:tabLst>
            </a:pPr>
            <a:r>
              <a:rPr sz="2800" b="1" spc="27" dirty="0" err="1">
                <a:latin typeface="宋体"/>
                <a:cs typeface="宋体"/>
              </a:rPr>
              <a:t>相</a:t>
            </a:r>
            <a:r>
              <a:rPr sz="2800" b="1" spc="54" dirty="0" err="1">
                <a:latin typeface="宋体"/>
                <a:cs typeface="宋体"/>
              </a:rPr>
              <a:t>邻</a:t>
            </a:r>
            <a:r>
              <a:rPr lang="zh-CN" altLang="en-US" sz="2800" b="1" spc="27" dirty="0">
                <a:latin typeface="宋体"/>
                <a:cs typeface="宋体"/>
              </a:rPr>
              <a:t>肽链主链</a:t>
            </a:r>
            <a:r>
              <a:rPr sz="2800" b="1" spc="54" dirty="0" err="1">
                <a:latin typeface="宋体"/>
                <a:cs typeface="宋体"/>
              </a:rPr>
              <a:t>上</a:t>
            </a:r>
            <a:r>
              <a:rPr sz="2800" b="1" spc="27" dirty="0" err="1">
                <a:latin typeface="宋体"/>
                <a:cs typeface="宋体"/>
              </a:rPr>
              <a:t>的</a:t>
            </a:r>
            <a:r>
              <a:rPr sz="2800" b="1" spc="54" dirty="0" err="1">
                <a:latin typeface="宋体"/>
                <a:cs typeface="宋体"/>
              </a:rPr>
              <a:t>氨基</a:t>
            </a:r>
            <a:r>
              <a:rPr sz="2800" b="1" spc="27" dirty="0" err="1">
                <a:latin typeface="宋体"/>
                <a:cs typeface="宋体"/>
              </a:rPr>
              <a:t>和</a:t>
            </a:r>
            <a:r>
              <a:rPr sz="2800" b="1" spc="54" dirty="0" err="1">
                <a:latin typeface="宋体"/>
                <a:cs typeface="宋体"/>
              </a:rPr>
              <a:t>羰</a:t>
            </a:r>
            <a:r>
              <a:rPr sz="2800" b="1" spc="27" dirty="0" err="1">
                <a:latin typeface="宋体"/>
                <a:cs typeface="宋体"/>
              </a:rPr>
              <a:t>基</a:t>
            </a:r>
            <a:r>
              <a:rPr lang="zh-CN" altLang="en-US" sz="2800" b="1" spc="27" dirty="0">
                <a:latin typeface="宋体"/>
                <a:cs typeface="宋体"/>
              </a:rPr>
              <a:t>之间</a:t>
            </a:r>
            <a:r>
              <a:rPr sz="2800" b="1" spc="27" dirty="0" err="1">
                <a:latin typeface="宋体"/>
                <a:cs typeface="宋体"/>
              </a:rPr>
              <a:t>形</a:t>
            </a:r>
            <a:r>
              <a:rPr sz="2800" b="1" spc="54" dirty="0" err="1">
                <a:latin typeface="宋体"/>
                <a:cs typeface="宋体"/>
              </a:rPr>
              <a:t>成</a:t>
            </a:r>
            <a:r>
              <a:rPr sz="2800" b="1" spc="23" dirty="0" err="1">
                <a:latin typeface="宋体"/>
                <a:cs typeface="宋体"/>
              </a:rPr>
              <a:t>有规</a:t>
            </a:r>
            <a:r>
              <a:rPr sz="2800" b="1" spc="27" dirty="0" err="1">
                <a:latin typeface="宋体"/>
                <a:cs typeface="宋体"/>
              </a:rPr>
              <a:t>则</a:t>
            </a:r>
            <a:r>
              <a:rPr sz="2800" b="1" spc="45" dirty="0" err="1">
                <a:latin typeface="宋体"/>
                <a:cs typeface="宋体"/>
              </a:rPr>
              <a:t>的</a:t>
            </a:r>
            <a:r>
              <a:rPr lang="zh-CN" altLang="en-US" sz="2800" b="1" spc="27" dirty="0">
                <a:solidFill>
                  <a:srgbClr val="FF0000"/>
                </a:solidFill>
                <a:latin typeface="宋体"/>
                <a:cs typeface="宋体"/>
              </a:rPr>
              <a:t>氢键</a:t>
            </a:r>
            <a:r>
              <a:rPr sz="2800" b="1" spc="27" dirty="0">
                <a:latin typeface="宋体"/>
                <a:cs typeface="宋体"/>
              </a:rPr>
              <a:t>，</a:t>
            </a:r>
            <a:r>
              <a:rPr sz="2800" b="1" spc="54" dirty="0">
                <a:latin typeface="宋体"/>
                <a:cs typeface="宋体"/>
              </a:rPr>
              <a:t>维</a:t>
            </a:r>
            <a:r>
              <a:rPr sz="2800" b="1" spc="27" dirty="0">
                <a:latin typeface="宋体"/>
                <a:cs typeface="宋体"/>
              </a:rPr>
              <a:t>持</a:t>
            </a:r>
            <a:r>
              <a:rPr sz="2800" b="1" spc="54" dirty="0">
                <a:latin typeface="宋体"/>
                <a:cs typeface="宋体"/>
              </a:rPr>
              <a:t>这</a:t>
            </a:r>
            <a:r>
              <a:rPr sz="2800" b="1" spc="27" dirty="0">
                <a:latin typeface="宋体"/>
                <a:cs typeface="宋体"/>
              </a:rPr>
              <a:t>种</a:t>
            </a:r>
            <a:r>
              <a:rPr sz="2800" b="1" spc="54" dirty="0">
                <a:latin typeface="宋体"/>
                <a:cs typeface="宋体"/>
              </a:rPr>
              <a:t>片层</a:t>
            </a:r>
            <a:r>
              <a:rPr sz="2800" b="1" spc="27" dirty="0">
                <a:latin typeface="宋体"/>
                <a:cs typeface="宋体"/>
              </a:rPr>
              <a:t>结</a:t>
            </a:r>
            <a:r>
              <a:rPr sz="2800" b="1" spc="54" dirty="0">
                <a:latin typeface="宋体"/>
                <a:cs typeface="宋体"/>
              </a:rPr>
              <a:t>构</a:t>
            </a:r>
            <a:r>
              <a:rPr sz="2800" b="1" spc="27" dirty="0">
                <a:latin typeface="宋体"/>
                <a:cs typeface="宋体"/>
              </a:rPr>
              <a:t>的</a:t>
            </a:r>
            <a:r>
              <a:rPr sz="2800" b="1" spc="54" dirty="0">
                <a:latin typeface="宋体"/>
                <a:cs typeface="宋体"/>
              </a:rPr>
              <a:t>稳定</a:t>
            </a:r>
            <a:r>
              <a:rPr sz="2800" b="1" spc="27" dirty="0">
                <a:latin typeface="宋体"/>
                <a:cs typeface="宋体"/>
              </a:rPr>
              <a:t>性。</a:t>
            </a:r>
            <a:endParaRPr sz="2800" b="1" dirty="0">
              <a:latin typeface="宋体"/>
              <a:cs typeface="宋体"/>
            </a:endParaRPr>
          </a:p>
        </p:txBody>
      </p:sp>
      <p:sp>
        <p:nvSpPr>
          <p:cNvPr id="6" name="标题 5">
            <a:extLst>
              <a:ext uri="{FF2B5EF4-FFF2-40B4-BE49-F238E27FC236}">
                <a16:creationId xmlns:a16="http://schemas.microsoft.com/office/drawing/2014/main" id="{1513FE34-87DA-4C36-C08F-8A8027A498F4}"/>
              </a:ext>
            </a:extLst>
          </p:cNvPr>
          <p:cNvSpPr>
            <a:spLocks noGrp="1"/>
          </p:cNvSpPr>
          <p:nvPr>
            <p:ph type="title"/>
          </p:nvPr>
        </p:nvSpPr>
        <p:spPr/>
        <p:txBody>
          <a:bodyPr/>
          <a:lstStyle/>
          <a:p>
            <a:r>
              <a:rPr lang="en-US" altLang="zh-CN" dirty="0"/>
              <a:t>β-</a:t>
            </a:r>
            <a:r>
              <a:rPr lang="zh-CN" altLang="en-US" dirty="0"/>
              <a:t>折叠</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Text Box 2">
            <a:extLst>
              <a:ext uri="{FF2B5EF4-FFF2-40B4-BE49-F238E27FC236}">
                <a16:creationId xmlns:a16="http://schemas.microsoft.com/office/drawing/2014/main" id="{3516FA1D-343E-B8FB-13DC-10A849C22D19}"/>
              </a:ext>
            </a:extLst>
          </p:cNvPr>
          <p:cNvSpPr txBox="1">
            <a:spLocks noChangeArrowheads="1"/>
          </p:cNvSpPr>
          <p:nvPr/>
        </p:nvSpPr>
        <p:spPr bwMode="auto">
          <a:xfrm>
            <a:off x="2208214" y="692150"/>
            <a:ext cx="68405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SzPct val="90000"/>
              <a:buFont typeface="Wingdings" panose="05000000000000000000" pitchFamily="2" charset="2"/>
              <a:buBlip>
                <a:blip r:embed="rId3"/>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ClrTx/>
              <a:buSzTx/>
              <a:buNone/>
            </a:pPr>
            <a:r>
              <a:rPr lang="zh-CN" altLang="zh-CN" sz="3200" b="1">
                <a:solidFill>
                  <a:srgbClr val="000000"/>
                </a:solidFill>
                <a:latin typeface="Times New Roman" panose="02020603050405020304" pitchFamily="18" charset="0"/>
              </a:rPr>
              <a:t>2.β-折叠结构</a:t>
            </a:r>
          </a:p>
        </p:txBody>
      </p:sp>
      <p:pic>
        <p:nvPicPr>
          <p:cNvPr id="144387" name="Picture 3" descr="b-sheat'">
            <a:extLst>
              <a:ext uri="{FF2B5EF4-FFF2-40B4-BE49-F238E27FC236}">
                <a16:creationId xmlns:a16="http://schemas.microsoft.com/office/drawing/2014/main" id="{DB51829E-04DA-A1C5-112D-82F961F9CDC6}"/>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524000" y="1296988"/>
            <a:ext cx="9144000" cy="556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6434" name="Picture 6">
            <a:extLst>
              <a:ext uri="{FF2B5EF4-FFF2-40B4-BE49-F238E27FC236}">
                <a16:creationId xmlns:a16="http://schemas.microsoft.com/office/drawing/2014/main" id="{A667D8DD-EB96-CF14-D9B4-9E2D7F6EC2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7613" y="1579563"/>
            <a:ext cx="4335462"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6435" name="Text Box 2">
            <a:extLst>
              <a:ext uri="{FF2B5EF4-FFF2-40B4-BE49-F238E27FC236}">
                <a16:creationId xmlns:a16="http://schemas.microsoft.com/office/drawing/2014/main" id="{56D1BC42-C74A-C29C-C4BC-AA7DC4C5A16C}"/>
              </a:ext>
            </a:extLst>
          </p:cNvPr>
          <p:cNvSpPr txBox="1">
            <a:spLocks noChangeArrowheads="1"/>
          </p:cNvSpPr>
          <p:nvPr/>
        </p:nvSpPr>
        <p:spPr bwMode="auto">
          <a:xfrm>
            <a:off x="2208214" y="692150"/>
            <a:ext cx="68405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SzPct val="90000"/>
              <a:buFont typeface="Wingdings" panose="05000000000000000000" pitchFamily="2" charset="2"/>
              <a:buBlip>
                <a:blip r:embed="rId3"/>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ClrTx/>
              <a:buSzTx/>
              <a:buNone/>
            </a:pPr>
            <a:r>
              <a:rPr lang="zh-CN" altLang="zh-CN" sz="3200" b="1">
                <a:solidFill>
                  <a:srgbClr val="000000"/>
                </a:solidFill>
                <a:latin typeface="Times New Roman" panose="02020603050405020304" pitchFamily="18" charset="0"/>
              </a:rPr>
              <a:t>2.β-折叠结构</a:t>
            </a:r>
          </a:p>
        </p:txBody>
      </p:sp>
      <p:pic>
        <p:nvPicPr>
          <p:cNvPr id="146436" name="Picture 7">
            <a:extLst>
              <a:ext uri="{FF2B5EF4-FFF2-40B4-BE49-F238E27FC236}">
                <a16:creationId xmlns:a16="http://schemas.microsoft.com/office/drawing/2014/main" id="{5069A2A4-3743-A333-BB14-D9DB09425E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4113" y="4008438"/>
            <a:ext cx="4273550" cy="2468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6437" name="TextBox 7">
            <a:extLst>
              <a:ext uri="{FF2B5EF4-FFF2-40B4-BE49-F238E27FC236}">
                <a16:creationId xmlns:a16="http://schemas.microsoft.com/office/drawing/2014/main" id="{126E1573-263B-692E-CC90-DEEA2E2082E0}"/>
              </a:ext>
            </a:extLst>
          </p:cNvPr>
          <p:cNvSpPr txBox="1">
            <a:spLocks noChangeArrowheads="1"/>
          </p:cNvSpPr>
          <p:nvPr/>
        </p:nvSpPr>
        <p:spPr bwMode="auto">
          <a:xfrm>
            <a:off x="4656138" y="1546225"/>
            <a:ext cx="15795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33CC"/>
              </a:buClr>
              <a:buSzPct val="90000"/>
              <a:buFont typeface="Wingdings" panose="05000000000000000000" pitchFamily="2" charset="2"/>
              <a:buBlip>
                <a:blip r:embed="rId3"/>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r>
              <a:rPr lang="zh-CN" altLang="en-US" sz="1800" b="1">
                <a:solidFill>
                  <a:srgbClr val="CC00CC"/>
                </a:solidFill>
                <a:latin typeface="Garamond" panose="02020404030301010803" pitchFamily="18" charset="0"/>
                <a:ea typeface="楷体_GB2312" pitchFamily="49" charset="-122"/>
              </a:rPr>
              <a:t>（反向平行）</a:t>
            </a:r>
          </a:p>
        </p:txBody>
      </p:sp>
      <p:sp>
        <p:nvSpPr>
          <p:cNvPr id="146438" name="TextBox 8">
            <a:extLst>
              <a:ext uri="{FF2B5EF4-FFF2-40B4-BE49-F238E27FC236}">
                <a16:creationId xmlns:a16="http://schemas.microsoft.com/office/drawing/2014/main" id="{4167B005-9B64-EBDA-C044-DAF75C8E91AF}"/>
              </a:ext>
            </a:extLst>
          </p:cNvPr>
          <p:cNvSpPr txBox="1">
            <a:spLocks noChangeArrowheads="1"/>
          </p:cNvSpPr>
          <p:nvPr/>
        </p:nvSpPr>
        <p:spPr bwMode="auto">
          <a:xfrm>
            <a:off x="4656138" y="4005264"/>
            <a:ext cx="15795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33CC"/>
              </a:buClr>
              <a:buSzPct val="90000"/>
              <a:buFont typeface="Wingdings" panose="05000000000000000000" pitchFamily="2" charset="2"/>
              <a:buBlip>
                <a:blip r:embed="rId3"/>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Tx/>
              <a:buSzTx/>
              <a:buNone/>
            </a:pPr>
            <a:r>
              <a:rPr lang="zh-CN" altLang="en-US" sz="1800" b="1">
                <a:solidFill>
                  <a:srgbClr val="CC00CC"/>
                </a:solidFill>
                <a:latin typeface="Garamond" panose="02020404030301010803" pitchFamily="18" charset="0"/>
                <a:ea typeface="楷体_GB2312" pitchFamily="49" charset="-122"/>
              </a:rPr>
              <a:t>（同向平行）</a:t>
            </a:r>
          </a:p>
        </p:txBody>
      </p:sp>
      <p:pic>
        <p:nvPicPr>
          <p:cNvPr id="146439" name="Picture 3" descr="fig2_6">
            <a:extLst>
              <a:ext uri="{FF2B5EF4-FFF2-40B4-BE49-F238E27FC236}">
                <a16:creationId xmlns:a16="http://schemas.microsoft.com/office/drawing/2014/main" id="{6C4CA1BC-7FDB-FD73-6737-9B21FB03BA3F}"/>
              </a:ext>
            </a:extLst>
          </p:cNvPr>
          <p:cNvPicPr>
            <a:picLocks noChangeAspect="1" noChangeArrowheads="1"/>
          </p:cNvPicPr>
          <p:nvPr/>
        </p:nvPicPr>
        <p:blipFill>
          <a:blip r:embed="rId5">
            <a:lum bright="-6000" contrast="12000"/>
            <a:extLst>
              <a:ext uri="{28A0092B-C50C-407E-A947-70E740481C1C}">
                <a14:useLocalDpi xmlns:a14="http://schemas.microsoft.com/office/drawing/2010/main" val="0"/>
              </a:ext>
            </a:extLst>
          </a:blip>
          <a:srcRect l="60394" t="60809" b="9447"/>
          <a:stretch>
            <a:fillRect/>
          </a:stretch>
        </p:blipFill>
        <p:spPr bwMode="auto">
          <a:xfrm>
            <a:off x="6959600" y="4868864"/>
            <a:ext cx="3494088" cy="1417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458" name="Picture 4">
            <a:extLst>
              <a:ext uri="{FF2B5EF4-FFF2-40B4-BE49-F238E27FC236}">
                <a16:creationId xmlns:a16="http://schemas.microsoft.com/office/drawing/2014/main" id="{568AA971-874C-C6B3-69DF-08E888AC72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7528" y="332657"/>
            <a:ext cx="8686800" cy="568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E89D47D1-6587-8298-5DEC-1A96E80DAC12}"/>
              </a:ext>
            </a:extLst>
          </p:cNvPr>
          <p:cNvSpPr/>
          <p:nvPr/>
        </p:nvSpPr>
        <p:spPr bwMode="auto">
          <a:xfrm>
            <a:off x="8112369" y="3861049"/>
            <a:ext cx="2445393" cy="953228"/>
          </a:xfrm>
          <a:prstGeom prst="rect">
            <a:avLst/>
          </a:prstGeom>
          <a:solidFill>
            <a:schemeClr val="bg1"/>
          </a:solidFill>
          <a:ln w="31750" cap="sq" cmpd="sng" algn="ctr">
            <a:solidFill>
              <a:schemeClr val="bg1"/>
            </a:solidFill>
            <a:prstDash val="solid"/>
            <a:round/>
            <a:headEnd type="none" w="med" len="med"/>
            <a:tailEnd type="stealth" w="med" len="lg"/>
          </a:ln>
        </p:spPr>
        <p:txBody>
          <a:bodyPr vert="horz" wrap="square" lIns="91440" tIns="45720" rIns="91440" bIns="45720" numCol="1" rtlCol="0" anchor="t" anchorCtr="0" compatLnSpc="1">
            <a:spAutoFit/>
          </a:bodyPr>
          <a:lstStyle/>
          <a:p>
            <a:pPr algn="ctr" fontAlgn="base">
              <a:spcBef>
                <a:spcPct val="0"/>
              </a:spcBef>
              <a:spcAft>
                <a:spcPct val="0"/>
              </a:spcAft>
            </a:pPr>
            <a:endParaRPr lang="zh-CN" altLang="en-US" sz="2400" b="1">
              <a:solidFill>
                <a:srgbClr val="660033"/>
              </a:solidFill>
              <a:latin typeface="Times New Roman" panose="02020603050405020304" pitchFamily="18" charset="0"/>
              <a:ea typeface="楷体_GB2312" pitchFamily="49" charset="-122"/>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8482" name="Picture 4">
            <a:extLst>
              <a:ext uri="{FF2B5EF4-FFF2-40B4-BE49-F238E27FC236}">
                <a16:creationId xmlns:a16="http://schemas.microsoft.com/office/drawing/2014/main" id="{34B90FB0-F667-6003-9418-2D4FE01516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6575" y="188913"/>
            <a:ext cx="8763000" cy="601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2E2EF1A9-C6C1-D70F-84D1-8400E87FF123}"/>
              </a:ext>
            </a:extLst>
          </p:cNvPr>
          <p:cNvSpPr/>
          <p:nvPr/>
        </p:nvSpPr>
        <p:spPr bwMode="auto">
          <a:xfrm>
            <a:off x="9104518" y="3933057"/>
            <a:ext cx="184730" cy="461665"/>
          </a:xfrm>
          <a:prstGeom prst="rect">
            <a:avLst/>
          </a:prstGeom>
          <a:solidFill>
            <a:schemeClr val="bg1"/>
          </a:solidFill>
          <a:ln w="31750" cap="sq" cmpd="sng" algn="ctr">
            <a:solidFill>
              <a:schemeClr val="bg1"/>
            </a:solidFill>
            <a:prstDash val="solid"/>
            <a:round/>
            <a:headEnd type="none" w="med" len="med"/>
            <a:tailEnd type="stealth" w="med" len="lg"/>
          </a:ln>
        </p:spPr>
        <p:txBody>
          <a:bodyPr vert="horz" wrap="none" lIns="91440" tIns="45720" rIns="91440" bIns="45720" numCol="1" rtlCol="0" anchor="t" anchorCtr="0" compatLnSpc="1">
            <a:spAutoFit/>
          </a:bodyPr>
          <a:lstStyle/>
          <a:p>
            <a:pPr algn="ctr" fontAlgn="base">
              <a:spcBef>
                <a:spcPct val="0"/>
              </a:spcBef>
              <a:spcAft>
                <a:spcPct val="0"/>
              </a:spcAft>
            </a:pPr>
            <a:endParaRPr lang="zh-CN" altLang="en-US" sz="2400" b="1">
              <a:solidFill>
                <a:srgbClr val="660033"/>
              </a:solidFill>
              <a:latin typeface="Times New Roman" panose="02020603050405020304" pitchFamily="18" charset="0"/>
              <a:ea typeface="楷体_GB2312" pitchFamily="49" charset="-122"/>
            </a:endParaRPr>
          </a:p>
        </p:txBody>
      </p:sp>
      <p:sp>
        <p:nvSpPr>
          <p:cNvPr id="3" name="矩形 2">
            <a:extLst>
              <a:ext uri="{FF2B5EF4-FFF2-40B4-BE49-F238E27FC236}">
                <a16:creationId xmlns:a16="http://schemas.microsoft.com/office/drawing/2014/main" id="{D98667F3-D69B-64BC-557A-1F9F65F30EBE}"/>
              </a:ext>
            </a:extLst>
          </p:cNvPr>
          <p:cNvSpPr/>
          <p:nvPr/>
        </p:nvSpPr>
        <p:spPr bwMode="auto">
          <a:xfrm>
            <a:off x="7831015" y="3933057"/>
            <a:ext cx="2719754" cy="646758"/>
          </a:xfrm>
          <a:prstGeom prst="rect">
            <a:avLst/>
          </a:prstGeom>
          <a:solidFill>
            <a:schemeClr val="bg1"/>
          </a:solidFill>
          <a:ln w="31750" cap="sq" cmpd="sng" algn="ctr">
            <a:solidFill>
              <a:schemeClr val="bg1"/>
            </a:solidFill>
            <a:prstDash val="solid"/>
            <a:round/>
            <a:headEnd type="none" w="med" len="med"/>
            <a:tailEnd type="stealth" w="med" len="lg"/>
          </a:ln>
        </p:spPr>
        <p:txBody>
          <a:bodyPr vert="horz" wrap="none" lIns="91440" tIns="45720" rIns="91440" bIns="45720" numCol="1" rtlCol="0" anchor="t" anchorCtr="0" compatLnSpc="1">
            <a:spAutoFit/>
          </a:bodyPr>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2400" b="1" i="0" u="none" strike="noStrike" cap="none" normalizeH="0" baseline="0">
              <a:ln>
                <a:noFill/>
              </a:ln>
              <a:solidFill>
                <a:schemeClr val="tx2"/>
              </a:solidFill>
              <a:effectLst/>
              <a:latin typeface="Times New Roman" panose="02020603050405020304" pitchFamily="18" charset="0"/>
              <a:ea typeface="楷体_GB2312" pitchFamily="49" charset="-122"/>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5183A660-4A2A-78C6-B2E5-CA34BCFB1289}"/>
              </a:ext>
            </a:extLst>
          </p:cNvPr>
          <p:cNvSpPr>
            <a:spLocks noGrp="1" noChangeArrowheads="1"/>
          </p:cNvSpPr>
          <p:nvPr>
            <p:ph type="title"/>
          </p:nvPr>
        </p:nvSpPr>
        <p:spPr>
          <a:xfrm>
            <a:off x="2208213" y="549275"/>
            <a:ext cx="7772400" cy="1143000"/>
          </a:xfrm>
        </p:spPr>
        <p:txBody>
          <a:bodyPr/>
          <a:lstStyle/>
          <a:p>
            <a:pPr>
              <a:defRPr/>
            </a:pPr>
            <a:r>
              <a:rPr lang="zh-CN" altLang="en-US" sz="3200" b="1" dirty="0">
                <a:solidFill>
                  <a:schemeClr val="tx1"/>
                </a:solidFill>
                <a:ea typeface="+mn-ea"/>
                <a:sym typeface="Arial" panose="020B0604020202020204" pitchFamily="34" charset="0"/>
              </a:rPr>
              <a:t>3.β-转角结构</a:t>
            </a:r>
          </a:p>
        </p:txBody>
      </p:sp>
      <p:sp>
        <p:nvSpPr>
          <p:cNvPr id="149507" name="矩形 1">
            <a:extLst>
              <a:ext uri="{FF2B5EF4-FFF2-40B4-BE49-F238E27FC236}">
                <a16:creationId xmlns:a16="http://schemas.microsoft.com/office/drawing/2014/main" id="{17DF197F-3033-664D-0300-089667823A8F}"/>
              </a:ext>
            </a:extLst>
          </p:cNvPr>
          <p:cNvSpPr>
            <a:spLocks noChangeArrowheads="1"/>
          </p:cNvSpPr>
          <p:nvPr/>
        </p:nvSpPr>
        <p:spPr bwMode="auto">
          <a:xfrm>
            <a:off x="2276476" y="1557339"/>
            <a:ext cx="7851775" cy="757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09600" indent="-609600">
              <a:spcBef>
                <a:spcPct val="20000"/>
              </a:spcBef>
              <a:buClr>
                <a:srgbClr val="0033CC"/>
              </a:buClr>
              <a:buSzPct val="90000"/>
              <a:buFont typeface="Wingdings" panose="05000000000000000000" pitchFamily="2" charset="2"/>
              <a:buBlip>
                <a:blip r:embed="rId2"/>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fontAlgn="base">
              <a:lnSpc>
                <a:spcPct val="90000"/>
              </a:lnSpc>
              <a:spcBef>
                <a:spcPct val="0"/>
              </a:spcBef>
              <a:spcAft>
                <a:spcPct val="0"/>
              </a:spcAft>
              <a:buClr>
                <a:srgbClr val="000000"/>
              </a:buClr>
              <a:buSzTx/>
              <a:buNone/>
            </a:pPr>
            <a:r>
              <a:rPr lang="zh-CN" altLang="en-US" sz="2400" b="1" dirty="0">
                <a:solidFill>
                  <a:srgbClr val="000000"/>
                </a:solidFill>
                <a:latin typeface="Times New Roman" panose="02020603050405020304" pitchFamily="18" charset="0"/>
                <a:ea typeface="楷体_GB2312" pitchFamily="49" charset="-122"/>
                <a:cs typeface="Times New Roman" panose="02020603050405020304" pitchFamily="18" charset="0"/>
              </a:rPr>
              <a:t>肽链弯曲处的第一个氨基酸残基的</a:t>
            </a:r>
            <a:r>
              <a:rPr lang="en-US" altLang="zh-CN" sz="2400" b="1" dirty="0">
                <a:solidFill>
                  <a:srgbClr val="000000"/>
                </a:solidFill>
                <a:latin typeface="Times New Roman" panose="02020603050405020304" pitchFamily="18" charset="0"/>
                <a:ea typeface="楷体_GB2312" pitchFamily="49" charset="-122"/>
                <a:cs typeface="Times New Roman" panose="02020603050405020304" pitchFamily="18" charset="0"/>
              </a:rPr>
              <a:t>–C=O </a:t>
            </a:r>
            <a:r>
              <a:rPr lang="zh-CN" altLang="en-US" sz="2400" b="1" dirty="0">
                <a:solidFill>
                  <a:srgbClr val="000000"/>
                </a:solidFill>
                <a:latin typeface="Times New Roman" panose="02020603050405020304" pitchFamily="18" charset="0"/>
                <a:ea typeface="楷体_GB2312" pitchFamily="49" charset="-122"/>
                <a:cs typeface="Times New Roman" panose="02020603050405020304" pitchFamily="18" charset="0"/>
              </a:rPr>
              <a:t>和第四个残基的</a:t>
            </a:r>
            <a:endParaRPr lang="en-US" altLang="zh-CN" sz="2400" b="1" dirty="0">
              <a:solidFill>
                <a:srgbClr val="000000"/>
              </a:solidFill>
              <a:latin typeface="Times New Roman" panose="02020603050405020304" pitchFamily="18" charset="0"/>
              <a:ea typeface="楷体_GB2312" pitchFamily="49" charset="-122"/>
              <a:cs typeface="Times New Roman" panose="02020603050405020304" pitchFamily="18" charset="0"/>
            </a:endParaRPr>
          </a:p>
          <a:p>
            <a:pPr algn="just" fontAlgn="base">
              <a:lnSpc>
                <a:spcPct val="90000"/>
              </a:lnSpc>
              <a:spcBef>
                <a:spcPct val="0"/>
              </a:spcBef>
              <a:spcAft>
                <a:spcPct val="0"/>
              </a:spcAft>
              <a:buClr>
                <a:srgbClr val="000000"/>
              </a:buClr>
              <a:buSzTx/>
              <a:buNone/>
            </a:pPr>
            <a:r>
              <a:rPr lang="zh-CN" altLang="en-US" sz="2400" b="1" dirty="0">
                <a:solidFill>
                  <a:srgbClr val="000000"/>
                </a:solidFill>
                <a:latin typeface="Times New Roman" panose="02020603050405020304" pitchFamily="18" charset="0"/>
                <a:ea typeface="楷体_GB2312" pitchFamily="49" charset="-122"/>
                <a:cs typeface="Times New Roman" panose="02020603050405020304" pitchFamily="18" charset="0"/>
              </a:rPr>
              <a:t> </a:t>
            </a:r>
            <a:r>
              <a:rPr lang="en-US" altLang="zh-CN" sz="2400" b="1" dirty="0">
                <a:solidFill>
                  <a:srgbClr val="000000"/>
                </a:solidFill>
                <a:latin typeface="Times New Roman" panose="02020603050405020304" pitchFamily="18" charset="0"/>
                <a:ea typeface="楷体_GB2312" pitchFamily="49" charset="-122"/>
                <a:cs typeface="Times New Roman" panose="02020603050405020304" pitchFamily="18" charset="0"/>
              </a:rPr>
              <a:t>–N-H </a:t>
            </a:r>
            <a:r>
              <a:rPr lang="zh-CN" altLang="en-US" sz="2400" b="1" dirty="0">
                <a:solidFill>
                  <a:srgbClr val="000000"/>
                </a:solidFill>
                <a:latin typeface="Times New Roman" panose="02020603050405020304" pitchFamily="18" charset="0"/>
                <a:ea typeface="楷体_GB2312" pitchFamily="49" charset="-122"/>
                <a:cs typeface="Times New Roman" panose="02020603050405020304" pitchFamily="18" charset="0"/>
              </a:rPr>
              <a:t>之间形成氢键</a:t>
            </a:r>
            <a:r>
              <a:rPr lang="en-US" altLang="zh-CN" sz="2400" b="1" dirty="0">
                <a:solidFill>
                  <a:srgbClr val="000000"/>
                </a:solidFill>
                <a:latin typeface="Times New Roman" panose="02020603050405020304" pitchFamily="18" charset="0"/>
                <a:ea typeface="楷体_GB2312" pitchFamily="49" charset="-122"/>
                <a:cs typeface="Times New Roman" panose="02020603050405020304" pitchFamily="18" charset="0"/>
              </a:rPr>
              <a:t>.</a:t>
            </a:r>
            <a:endParaRPr lang="zh-CN" altLang="en-US" sz="2400" b="1" dirty="0">
              <a:solidFill>
                <a:srgbClr val="000000"/>
              </a:solidFill>
              <a:latin typeface="Times New Roman" panose="02020603050405020304" pitchFamily="18" charset="0"/>
              <a:ea typeface="楷体_GB2312" pitchFamily="49" charset="-122"/>
              <a:cs typeface="Times New Roman" panose="02020603050405020304" pitchFamily="18" charset="0"/>
            </a:endParaRPr>
          </a:p>
        </p:txBody>
      </p:sp>
      <p:pic>
        <p:nvPicPr>
          <p:cNvPr id="149508" name="Picture 5">
            <a:extLst>
              <a:ext uri="{FF2B5EF4-FFF2-40B4-BE49-F238E27FC236}">
                <a16:creationId xmlns:a16="http://schemas.microsoft.com/office/drawing/2014/main" id="{A75E465D-E766-1172-3021-ACBF3BF107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8226" y="2427289"/>
            <a:ext cx="7788275" cy="397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84B48EB2-C56F-77B0-B666-4382A1DAB611}"/>
              </a:ext>
            </a:extLst>
          </p:cNvPr>
          <p:cNvSpPr>
            <a:spLocks noGrp="1" noChangeArrowheads="1"/>
          </p:cNvSpPr>
          <p:nvPr>
            <p:ph type="title"/>
          </p:nvPr>
        </p:nvSpPr>
        <p:spPr>
          <a:xfrm>
            <a:off x="2279650" y="549275"/>
            <a:ext cx="7772400" cy="1143000"/>
          </a:xfrm>
        </p:spPr>
        <p:txBody>
          <a:bodyPr/>
          <a:lstStyle/>
          <a:p>
            <a:pPr>
              <a:defRPr/>
            </a:pPr>
            <a:r>
              <a:rPr lang="zh-CN" altLang="zh-CN" sz="3200" b="1" dirty="0">
                <a:solidFill>
                  <a:schemeClr val="tx1"/>
                </a:solidFill>
                <a:latin typeface="+mn-ea"/>
                <a:ea typeface="+mn-ea"/>
                <a:sym typeface="Arial" panose="020B0604020202020204" pitchFamily="34" charset="0"/>
              </a:rPr>
              <a:t>4.</a:t>
            </a:r>
            <a:r>
              <a:rPr lang="zh-CN" altLang="en-US" sz="3200" b="1" dirty="0">
                <a:solidFill>
                  <a:schemeClr val="tx1"/>
                </a:solidFill>
                <a:latin typeface="+mn-ea"/>
                <a:ea typeface="+mn-ea"/>
                <a:sym typeface="Arial" panose="020B0604020202020204" pitchFamily="34" charset="0"/>
              </a:rPr>
              <a:t>无规卷曲</a:t>
            </a:r>
          </a:p>
        </p:txBody>
      </p:sp>
      <p:sp>
        <p:nvSpPr>
          <p:cNvPr id="150531" name="Rectangle 3">
            <a:extLst>
              <a:ext uri="{FF2B5EF4-FFF2-40B4-BE49-F238E27FC236}">
                <a16:creationId xmlns:a16="http://schemas.microsoft.com/office/drawing/2014/main" id="{53AC7583-4FA3-5223-1AA1-115F4C02D2E2}"/>
              </a:ext>
            </a:extLst>
          </p:cNvPr>
          <p:cNvSpPr>
            <a:spLocks noGrp="1" noChangeArrowheads="1"/>
          </p:cNvSpPr>
          <p:nvPr>
            <p:ph idx="1"/>
          </p:nvPr>
        </p:nvSpPr>
        <p:spPr/>
        <p:txBody>
          <a:bodyPr/>
          <a:lstStyle/>
          <a:p>
            <a:pPr marL="0" indent="0">
              <a:lnSpc>
                <a:spcPct val="150000"/>
              </a:lnSpc>
              <a:buNone/>
            </a:pPr>
            <a:r>
              <a:rPr lang="zh-CN" altLang="en-US" b="1" dirty="0">
                <a:latin typeface="宋体" panose="02010600030101010101" pitchFamily="2" charset="-122"/>
              </a:rPr>
              <a:t>无规卷曲是指没有一定规律的松散肽链结构,酶的功能部位多处于这种构象区域中。</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a:extLst>
              <a:ext uri="{FF2B5EF4-FFF2-40B4-BE49-F238E27FC236}">
                <a16:creationId xmlns:a16="http://schemas.microsoft.com/office/drawing/2014/main" id="{5E71EFB6-4B66-D675-D0B9-E4F728DFF9C8}"/>
              </a:ext>
            </a:extLst>
          </p:cNvPr>
          <p:cNvSpPr>
            <a:spLocks noGrp="1" noChangeArrowheads="1"/>
          </p:cNvSpPr>
          <p:nvPr>
            <p:ph type="title"/>
          </p:nvPr>
        </p:nvSpPr>
        <p:spPr>
          <a:xfrm>
            <a:off x="2279650" y="620713"/>
            <a:ext cx="7772400" cy="1143000"/>
          </a:xfrm>
        </p:spPr>
        <p:txBody>
          <a:bodyPr/>
          <a:lstStyle/>
          <a:p>
            <a:r>
              <a:rPr lang="zh-CN" altLang="en-US" sz="3200" b="1">
                <a:solidFill>
                  <a:schemeClr val="tx1"/>
                </a:solidFill>
                <a:latin typeface="楷体" panose="02010609060101010101" pitchFamily="49" charset="-122"/>
                <a:ea typeface="楷体" panose="02010609060101010101" pitchFamily="49" charset="-122"/>
                <a:sym typeface="Arial" panose="020B0604020202020204" pitchFamily="34" charset="0"/>
              </a:rPr>
              <a:t>（三）超二级结构和结构域</a:t>
            </a:r>
          </a:p>
        </p:txBody>
      </p:sp>
      <p:sp>
        <p:nvSpPr>
          <p:cNvPr id="103427" name="Rectangle 3">
            <a:extLst>
              <a:ext uri="{FF2B5EF4-FFF2-40B4-BE49-F238E27FC236}">
                <a16:creationId xmlns:a16="http://schemas.microsoft.com/office/drawing/2014/main" id="{B6755794-B0EB-DB9C-82DF-1E1612FB47F0}"/>
              </a:ext>
            </a:extLst>
          </p:cNvPr>
          <p:cNvSpPr>
            <a:spLocks noGrp="1" noChangeArrowheads="1"/>
          </p:cNvSpPr>
          <p:nvPr>
            <p:ph idx="1"/>
          </p:nvPr>
        </p:nvSpPr>
        <p:spPr>
          <a:xfrm>
            <a:off x="2386014" y="1643064"/>
            <a:ext cx="8281987" cy="4530725"/>
          </a:xfrm>
        </p:spPr>
        <p:txBody>
          <a:bodyPr/>
          <a:lstStyle/>
          <a:p>
            <a:pPr>
              <a:lnSpc>
                <a:spcPct val="150000"/>
              </a:lnSpc>
              <a:buSzTx/>
              <a:buFont typeface="Wingdings" panose="05000000000000000000" pitchFamily="2" charset="2"/>
              <a:buChar char="u"/>
              <a:defRPr/>
            </a:pPr>
            <a:r>
              <a:rPr lang="zh-CN" altLang="en-US" b="1" dirty="0">
                <a:solidFill>
                  <a:srgbClr val="0000FF"/>
                </a:solidFill>
                <a:latin typeface="+mj-lt"/>
              </a:rPr>
              <a:t>超二级结构</a:t>
            </a:r>
            <a:r>
              <a:rPr lang="zh-CN" altLang="en-US" b="1" dirty="0">
                <a:latin typeface="+mj-lt"/>
              </a:rPr>
              <a:t>是指多肽链中相邻的二级单元（即</a:t>
            </a:r>
            <a:r>
              <a:rPr lang="zh-CN" altLang="en-US" b="1" dirty="0">
                <a:latin typeface="+mj-lt"/>
                <a:sym typeface="Arial" panose="020B0604020202020204" pitchFamily="34" charset="0"/>
              </a:rPr>
              <a:t>α</a:t>
            </a:r>
            <a:r>
              <a:rPr lang="zh-CN" altLang="en-US" b="1" dirty="0">
                <a:latin typeface="+mj-lt"/>
              </a:rPr>
              <a:t>-螺旋、</a:t>
            </a:r>
            <a:r>
              <a:rPr lang="zh-CN" altLang="en-US" b="1" dirty="0">
                <a:latin typeface="+mj-lt"/>
                <a:sym typeface="Arial" panose="020B0604020202020204" pitchFamily="34" charset="0"/>
              </a:rPr>
              <a:t>β</a:t>
            </a:r>
            <a:r>
              <a:rPr lang="zh-CN" altLang="en-US" b="1" dirty="0">
                <a:latin typeface="+mj-lt"/>
              </a:rPr>
              <a:t>-折叠和</a:t>
            </a:r>
            <a:r>
              <a:rPr lang="zh-CN" altLang="en-US" b="1" dirty="0">
                <a:latin typeface="+mj-lt"/>
                <a:sym typeface="Arial" panose="020B0604020202020204" pitchFamily="34" charset="0"/>
              </a:rPr>
              <a:t>β</a:t>
            </a:r>
            <a:r>
              <a:rPr lang="zh-CN" altLang="en-US" b="1" dirty="0">
                <a:latin typeface="+mj-lt"/>
              </a:rPr>
              <a:t>-转角等）组合在一起，彼此相互作用，形成有规则的、在空间上能辨认的种类不多的二级结构组合，在多种蛋白质中充当三级结构的构件。</a:t>
            </a:r>
          </a:p>
          <a:p>
            <a:pPr>
              <a:lnSpc>
                <a:spcPct val="150000"/>
              </a:lnSpc>
              <a:buSzTx/>
              <a:buFont typeface="Wingdings" panose="05000000000000000000" pitchFamily="2" charset="2"/>
              <a:buChar char="u"/>
              <a:defRPr/>
            </a:pPr>
            <a:r>
              <a:rPr lang="zh-CN" altLang="en-US" b="1" dirty="0">
                <a:latin typeface="+mj-lt"/>
              </a:rPr>
              <a:t>已知的超二级结构主要有三种基本组合形式：    </a:t>
            </a:r>
            <a:r>
              <a:rPr lang="zh-CN" altLang="en-US" b="1" dirty="0">
                <a:solidFill>
                  <a:srgbClr val="0000FF"/>
                </a:solidFill>
                <a:latin typeface="+mj-lt"/>
                <a:sym typeface="Arial" panose="020B0604020202020204" pitchFamily="34" charset="0"/>
              </a:rPr>
              <a:t>αα</a:t>
            </a:r>
            <a:r>
              <a:rPr lang="zh-CN" altLang="en-US" b="1" dirty="0">
                <a:solidFill>
                  <a:srgbClr val="0000FF"/>
                </a:solidFill>
                <a:latin typeface="+mj-lt"/>
              </a:rPr>
              <a:t>，</a:t>
            </a:r>
            <a:r>
              <a:rPr lang="zh-CN" altLang="en-US" b="1" dirty="0">
                <a:solidFill>
                  <a:srgbClr val="0000FF"/>
                </a:solidFill>
                <a:latin typeface="+mj-lt"/>
                <a:sym typeface="Arial" panose="020B0604020202020204" pitchFamily="34" charset="0"/>
              </a:rPr>
              <a:t>βαβ</a:t>
            </a:r>
            <a:r>
              <a:rPr lang="zh-CN" altLang="en-US" b="1" dirty="0">
                <a:solidFill>
                  <a:srgbClr val="0000FF"/>
                </a:solidFill>
                <a:latin typeface="+mj-lt"/>
              </a:rPr>
              <a:t>，</a:t>
            </a:r>
            <a:r>
              <a:rPr lang="zh-CN" altLang="en-US" b="1" dirty="0">
                <a:solidFill>
                  <a:srgbClr val="0000FF"/>
                </a:solidFill>
                <a:latin typeface="+mj-lt"/>
                <a:sym typeface="Arial" panose="020B0604020202020204" pitchFamily="34" charset="0"/>
              </a:rPr>
              <a:t>βββ</a:t>
            </a:r>
            <a:endParaRPr lang="zh-CN" altLang="en-US" b="1" dirty="0">
              <a:solidFill>
                <a:srgbClr val="0000FF"/>
              </a:solidFill>
              <a:latin typeface="+mj-lt"/>
            </a:endParaRPr>
          </a:p>
          <a:p>
            <a:pPr marL="0" indent="0">
              <a:lnSpc>
                <a:spcPct val="150000"/>
              </a:lnSpc>
              <a:buSzTx/>
              <a:buFont typeface="Wingdings" panose="05000000000000000000" pitchFamily="2" charset="2"/>
              <a:buChar char="u"/>
              <a:defRPr/>
            </a:pPr>
            <a:endParaRPr lang="zh-CN" altLang="en-US" sz="2400" b="1" dirty="0">
              <a:latin typeface="+mj-lt"/>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02" name="Picture 2" descr="MODIFY 副本">
            <a:extLst>
              <a:ext uri="{FF2B5EF4-FFF2-40B4-BE49-F238E27FC236}">
                <a16:creationId xmlns:a16="http://schemas.microsoft.com/office/drawing/2014/main" id="{BB551B78-FB01-D4DF-F618-3EEEFFDCD431}"/>
              </a:ext>
            </a:extLst>
          </p:cNvPr>
          <p:cNvPicPr>
            <a:picLocks noChangeAspect="1" noChangeArrowheads="1"/>
          </p:cNvPicPr>
          <p:nvPr/>
        </p:nvPicPr>
        <p:blipFill>
          <a:blip r:embed="rId3">
            <a:clrChange>
              <a:clrFrom>
                <a:srgbClr val="FEFEFE"/>
              </a:clrFrom>
              <a:clrTo>
                <a:srgbClr val="FEFEFE">
                  <a:alpha val="0"/>
                </a:srgbClr>
              </a:clrTo>
            </a:clrChange>
            <a:extLst>
              <a:ext uri="{28A0092B-C50C-407E-A947-70E740481C1C}">
                <a14:useLocalDpi xmlns:a14="http://schemas.microsoft.com/office/drawing/2010/main" val="0"/>
              </a:ext>
            </a:extLst>
          </a:blip>
          <a:srcRect b="21779"/>
          <a:stretch>
            <a:fillRect/>
          </a:stretch>
        </p:blipFill>
        <p:spPr bwMode="auto">
          <a:xfrm rot="180767">
            <a:off x="2855913" y="1557338"/>
            <a:ext cx="5364162" cy="398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03" name="Text Box 3">
            <a:extLst>
              <a:ext uri="{FF2B5EF4-FFF2-40B4-BE49-F238E27FC236}">
                <a16:creationId xmlns:a16="http://schemas.microsoft.com/office/drawing/2014/main" id="{74F0B13B-F840-BE1C-D398-E6A3939244B3}"/>
              </a:ext>
            </a:extLst>
          </p:cNvPr>
          <p:cNvSpPr txBox="1">
            <a:spLocks noChangeArrowheads="1"/>
          </p:cNvSpPr>
          <p:nvPr/>
        </p:nvSpPr>
        <p:spPr bwMode="auto">
          <a:xfrm>
            <a:off x="2651125" y="5730875"/>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33CC"/>
              </a:buClr>
              <a:buSzPct val="90000"/>
              <a:buFont typeface="Wingdings" panose="05000000000000000000" pitchFamily="2" charset="2"/>
              <a:buBlip>
                <a:blip r:embed="rId4"/>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ClrTx/>
              <a:buSzTx/>
              <a:buNone/>
            </a:pPr>
            <a:endParaRPr lang="zh-CN" altLang="zh-CN" sz="3600" b="1">
              <a:solidFill>
                <a:srgbClr val="660033"/>
              </a:solidFill>
              <a:latin typeface="Times New Roman" panose="02020603050405020304" pitchFamily="18" charset="0"/>
              <a:ea typeface="隶书" panose="02010509060101010101" pitchFamily="49" charset="-122"/>
            </a:endParaRPr>
          </a:p>
        </p:txBody>
      </p:sp>
      <p:sp>
        <p:nvSpPr>
          <p:cNvPr id="153604" name="Text Box 4">
            <a:extLst>
              <a:ext uri="{FF2B5EF4-FFF2-40B4-BE49-F238E27FC236}">
                <a16:creationId xmlns:a16="http://schemas.microsoft.com/office/drawing/2014/main" id="{321F9E5C-4CC8-E631-5188-87ED8025E950}"/>
              </a:ext>
            </a:extLst>
          </p:cNvPr>
          <p:cNvSpPr txBox="1">
            <a:spLocks noChangeArrowheads="1"/>
          </p:cNvSpPr>
          <p:nvPr/>
        </p:nvSpPr>
        <p:spPr bwMode="auto">
          <a:xfrm>
            <a:off x="1776413" y="5445125"/>
            <a:ext cx="3814762"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SzPct val="90000"/>
              <a:buFont typeface="Wingdings" panose="05000000000000000000" pitchFamily="2" charset="2"/>
              <a:buBlip>
                <a:blip r:embed="rId4"/>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ClrTx/>
              <a:buSzTx/>
              <a:buNone/>
            </a:pPr>
            <a:r>
              <a:rPr lang="zh-CN" altLang="en-US" b="1">
                <a:solidFill>
                  <a:srgbClr val="000000"/>
                </a:solidFill>
                <a:latin typeface="Tahoma" panose="020B0604030504040204" pitchFamily="34" charset="0"/>
              </a:rPr>
              <a:t>钙结合蛋白中结合钙离子的超二级结构</a:t>
            </a:r>
          </a:p>
        </p:txBody>
      </p:sp>
      <p:sp>
        <p:nvSpPr>
          <p:cNvPr id="153605" name="Text Box 5">
            <a:extLst>
              <a:ext uri="{FF2B5EF4-FFF2-40B4-BE49-F238E27FC236}">
                <a16:creationId xmlns:a16="http://schemas.microsoft.com/office/drawing/2014/main" id="{BF675C5D-676A-CCF2-B624-6B34F197BDF0}"/>
              </a:ext>
            </a:extLst>
          </p:cNvPr>
          <p:cNvSpPr txBox="1">
            <a:spLocks noChangeArrowheads="1"/>
          </p:cNvSpPr>
          <p:nvPr/>
        </p:nvSpPr>
        <p:spPr bwMode="auto">
          <a:xfrm>
            <a:off x="5896726" y="5518151"/>
            <a:ext cx="38877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SzPct val="90000"/>
              <a:buFont typeface="Wingdings" panose="05000000000000000000" pitchFamily="2" charset="2"/>
              <a:buBlip>
                <a:blip r:embed="rId4"/>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ClrTx/>
              <a:buSzTx/>
              <a:buNone/>
            </a:pPr>
            <a:r>
              <a:rPr lang="zh-CN" altLang="en-US" b="1" dirty="0">
                <a:solidFill>
                  <a:srgbClr val="000000"/>
                </a:solidFill>
                <a:latin typeface="Tahoma" panose="020B0604030504040204" pitchFamily="34" charset="0"/>
              </a:rPr>
              <a:t>超二级结构：</a:t>
            </a:r>
            <a:r>
              <a:rPr lang="zh-CN" altLang="en-US" b="1" dirty="0">
                <a:solidFill>
                  <a:srgbClr val="000000"/>
                </a:solidFill>
                <a:latin typeface="Tahoma" panose="020B0604030504040204" pitchFamily="34" charset="0"/>
                <a:ea typeface="华文楷体" panose="02010600040101010101" pitchFamily="2" charset="-122"/>
              </a:rPr>
              <a:t>锌指结构</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a:extLst>
              <a:ext uri="{FF2B5EF4-FFF2-40B4-BE49-F238E27FC236}">
                <a16:creationId xmlns:a16="http://schemas.microsoft.com/office/drawing/2014/main" id="{E1CF372B-108E-6278-E3D1-6AE6A3791776}"/>
              </a:ext>
            </a:extLst>
          </p:cNvPr>
          <p:cNvSpPr>
            <a:spLocks noGrp="1" noChangeArrowheads="1"/>
          </p:cNvSpPr>
          <p:nvPr>
            <p:ph type="title"/>
          </p:nvPr>
        </p:nvSpPr>
        <p:spPr>
          <a:xfrm>
            <a:off x="2279650" y="620713"/>
            <a:ext cx="7772400" cy="1143000"/>
          </a:xfrm>
        </p:spPr>
        <p:txBody>
          <a:bodyPr/>
          <a:lstStyle/>
          <a:p>
            <a:r>
              <a:rPr lang="zh-CN" altLang="en-US" sz="3200" b="1">
                <a:solidFill>
                  <a:schemeClr val="tx1"/>
                </a:solidFill>
                <a:latin typeface="楷体" panose="02010609060101010101" pitchFamily="49" charset="-122"/>
                <a:ea typeface="楷体" panose="02010609060101010101" pitchFamily="49" charset="-122"/>
                <a:sym typeface="Arial" panose="020B0604020202020204" pitchFamily="34" charset="0"/>
              </a:rPr>
              <a:t>（三）超二级结构和结构域</a:t>
            </a:r>
          </a:p>
        </p:txBody>
      </p:sp>
      <p:sp>
        <p:nvSpPr>
          <p:cNvPr id="155651" name="Rectangle 3">
            <a:extLst>
              <a:ext uri="{FF2B5EF4-FFF2-40B4-BE49-F238E27FC236}">
                <a16:creationId xmlns:a16="http://schemas.microsoft.com/office/drawing/2014/main" id="{77CD8428-D22A-91BE-233C-BFD47B36D019}"/>
              </a:ext>
            </a:extLst>
          </p:cNvPr>
          <p:cNvSpPr>
            <a:spLocks noGrp="1" noChangeArrowheads="1"/>
          </p:cNvSpPr>
          <p:nvPr>
            <p:ph idx="1"/>
          </p:nvPr>
        </p:nvSpPr>
        <p:spPr>
          <a:xfrm>
            <a:off x="2208214" y="1558926"/>
            <a:ext cx="8281987" cy="4530725"/>
          </a:xfrm>
        </p:spPr>
        <p:txBody>
          <a:bodyPr/>
          <a:lstStyle/>
          <a:p>
            <a:pPr marL="0" indent="0">
              <a:lnSpc>
                <a:spcPct val="150000"/>
              </a:lnSpc>
              <a:buSzPct val="100000"/>
              <a:buNone/>
            </a:pPr>
            <a:r>
              <a:rPr lang="zh-CN" altLang="en-US" b="1" dirty="0">
                <a:solidFill>
                  <a:srgbClr val="0000FF"/>
                </a:solidFill>
                <a:latin typeface="宋体" panose="02010600030101010101" pitchFamily="2" charset="-122"/>
              </a:rPr>
              <a:t>结构域</a:t>
            </a:r>
            <a:r>
              <a:rPr lang="zh-CN" altLang="en-US" b="1" dirty="0">
                <a:latin typeface="宋体" panose="02010600030101010101" pitchFamily="2" charset="-122"/>
              </a:rPr>
              <a:t>是指多肽链在二级结构和超二级结构基础上进一步缠绕折叠成紧密的近似球状的结构（三维实体），它们在空间上可以明显区分的球状区域，结构域之间靠松散的肽链连接，这种相对独立的三维实体称为结构域。</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Text Box 2">
            <a:extLst>
              <a:ext uri="{FF2B5EF4-FFF2-40B4-BE49-F238E27FC236}">
                <a16:creationId xmlns:a16="http://schemas.microsoft.com/office/drawing/2014/main" id="{8496E26C-5EEB-805E-18B8-96C18FAB5845}"/>
              </a:ext>
            </a:extLst>
          </p:cNvPr>
          <p:cNvSpPr txBox="1">
            <a:spLocks noChangeArrowheads="1"/>
          </p:cNvSpPr>
          <p:nvPr/>
        </p:nvSpPr>
        <p:spPr bwMode="auto">
          <a:xfrm>
            <a:off x="3863976" y="6021388"/>
            <a:ext cx="4968875" cy="519112"/>
          </a:xfrm>
          <a:prstGeom prst="rect">
            <a:avLst/>
          </a:prstGeom>
          <a:noFill/>
          <a:ln>
            <a:noFill/>
          </a:ln>
          <a:effectLst>
            <a:outerShdw dist="28398" dir="1593903" algn="ctr" rotWithShape="0">
              <a:schemeClr val="tx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SzPct val="90000"/>
              <a:buFont typeface="Wingdings" panose="05000000000000000000" pitchFamily="2" charset="2"/>
              <a:buBlip>
                <a:blip r:embed="rId2"/>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ClrTx/>
              <a:buSzTx/>
              <a:buNone/>
            </a:pPr>
            <a:r>
              <a:rPr lang="zh-CN" altLang="en-US" dirty="0">
                <a:solidFill>
                  <a:srgbClr val="000000"/>
                </a:solidFill>
                <a:latin typeface="Times New Roman" panose="02020603050405020304" pitchFamily="18" charset="0"/>
                <a:sym typeface="Symbol" panose="05050102010706020507" pitchFamily="18" charset="2"/>
              </a:rPr>
              <a:t>结构域</a:t>
            </a:r>
          </a:p>
        </p:txBody>
      </p:sp>
      <p:pic>
        <p:nvPicPr>
          <p:cNvPr id="156675" name="Picture 3" descr="4-4">
            <a:extLst>
              <a:ext uri="{FF2B5EF4-FFF2-40B4-BE49-F238E27FC236}">
                <a16:creationId xmlns:a16="http://schemas.microsoft.com/office/drawing/2014/main" id="{06C3C8BC-5711-AEDA-D11D-31F0EF6AC8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6775" y="1701800"/>
            <a:ext cx="271145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6676" name="Picture 4" descr="4-8-1a">
            <a:extLst>
              <a:ext uri="{FF2B5EF4-FFF2-40B4-BE49-F238E27FC236}">
                <a16:creationId xmlns:a16="http://schemas.microsoft.com/office/drawing/2014/main" id="{12EC9695-241D-6FF9-3ECF-F4D7705BFE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87939" y="2133601"/>
            <a:ext cx="2759075" cy="280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6677" name="Picture 5" descr="4-8-1b">
            <a:extLst>
              <a:ext uri="{FF2B5EF4-FFF2-40B4-BE49-F238E27FC236}">
                <a16:creationId xmlns:a16="http://schemas.microsoft.com/office/drawing/2014/main" id="{1BC887A7-EE7E-1073-9676-76B8293AF8F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69250" y="1773239"/>
            <a:ext cx="2355850" cy="322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6678" name="Text Box 6">
            <a:extLst>
              <a:ext uri="{FF2B5EF4-FFF2-40B4-BE49-F238E27FC236}">
                <a16:creationId xmlns:a16="http://schemas.microsoft.com/office/drawing/2014/main" id="{6AFE01AC-06A1-01CD-6EDE-217CF0990398}"/>
              </a:ext>
            </a:extLst>
          </p:cNvPr>
          <p:cNvSpPr txBox="1">
            <a:spLocks noChangeArrowheads="1"/>
          </p:cNvSpPr>
          <p:nvPr/>
        </p:nvSpPr>
        <p:spPr bwMode="auto">
          <a:xfrm>
            <a:off x="5159375" y="5013325"/>
            <a:ext cx="2592388"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SzPct val="90000"/>
              <a:buFont typeface="Wingdings" panose="05000000000000000000" pitchFamily="2" charset="2"/>
              <a:buBlip>
                <a:blip r:embed="rId2"/>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ClrTx/>
              <a:buSzTx/>
              <a:buNone/>
            </a:pPr>
            <a:r>
              <a:rPr lang="zh-CN" altLang="en-US" b="1">
                <a:solidFill>
                  <a:srgbClr val="000066"/>
                </a:solidFill>
                <a:latin typeface="宋体" panose="02010600030101010101" pitchFamily="2" charset="-122"/>
              </a:rPr>
              <a:t>FMN结合氧化还原蛋白多肽链</a:t>
            </a:r>
          </a:p>
        </p:txBody>
      </p:sp>
      <p:sp>
        <p:nvSpPr>
          <p:cNvPr id="156679" name="Text Box 7">
            <a:extLst>
              <a:ext uri="{FF2B5EF4-FFF2-40B4-BE49-F238E27FC236}">
                <a16:creationId xmlns:a16="http://schemas.microsoft.com/office/drawing/2014/main" id="{FA024D47-88D0-67CF-DC7B-D5685B2FEEB7}"/>
              </a:ext>
            </a:extLst>
          </p:cNvPr>
          <p:cNvSpPr txBox="1">
            <a:spLocks noChangeArrowheads="1"/>
          </p:cNvSpPr>
          <p:nvPr/>
        </p:nvSpPr>
        <p:spPr bwMode="auto">
          <a:xfrm>
            <a:off x="8112126" y="5157789"/>
            <a:ext cx="24542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SzPct val="90000"/>
              <a:buFont typeface="Wingdings" panose="05000000000000000000" pitchFamily="2" charset="2"/>
              <a:buBlip>
                <a:blip r:embed="rId2"/>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ClrTx/>
              <a:buSzTx/>
              <a:buNone/>
            </a:pPr>
            <a:r>
              <a:rPr lang="zh-CN" altLang="en-US" b="1">
                <a:solidFill>
                  <a:srgbClr val="000066"/>
                </a:solidFill>
                <a:latin typeface="宋体" panose="02010600030101010101" pitchFamily="2" charset="-122"/>
              </a:rPr>
              <a:t>腺苷酸激酶</a:t>
            </a:r>
          </a:p>
        </p:txBody>
      </p:sp>
      <p:sp>
        <p:nvSpPr>
          <p:cNvPr id="156680" name="Text Box 8">
            <a:extLst>
              <a:ext uri="{FF2B5EF4-FFF2-40B4-BE49-F238E27FC236}">
                <a16:creationId xmlns:a16="http://schemas.microsoft.com/office/drawing/2014/main" id="{787ADD7A-394A-6F76-B8EC-F30BAD935DD4}"/>
              </a:ext>
            </a:extLst>
          </p:cNvPr>
          <p:cNvSpPr txBox="1">
            <a:spLocks noChangeArrowheads="1"/>
          </p:cNvSpPr>
          <p:nvPr/>
        </p:nvSpPr>
        <p:spPr bwMode="auto">
          <a:xfrm>
            <a:off x="1919288" y="5157788"/>
            <a:ext cx="3048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SzPct val="90000"/>
              <a:buFont typeface="Wingdings" panose="05000000000000000000" pitchFamily="2" charset="2"/>
              <a:buBlip>
                <a:blip r:embed="rId2"/>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ClrTx/>
              <a:buSzTx/>
              <a:buNone/>
            </a:pPr>
            <a:r>
              <a:rPr lang="zh-CN" altLang="en-US" sz="2400" b="1">
                <a:solidFill>
                  <a:srgbClr val="000066"/>
                </a:solidFill>
                <a:latin typeface="宋体" panose="02010600030101010101" pitchFamily="2" charset="-122"/>
              </a:rPr>
              <a:t>丙酮酸盐激酶多肽链</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a:extLst>
              <a:ext uri="{FF2B5EF4-FFF2-40B4-BE49-F238E27FC236}">
                <a16:creationId xmlns:a16="http://schemas.microsoft.com/office/drawing/2014/main" id="{5842D90D-4C50-6FCF-4D0F-919E10CBF63E}"/>
              </a:ext>
            </a:extLst>
          </p:cNvPr>
          <p:cNvSpPr>
            <a:spLocks noGrp="1" noChangeArrowheads="1"/>
          </p:cNvSpPr>
          <p:nvPr>
            <p:ph type="title"/>
          </p:nvPr>
        </p:nvSpPr>
        <p:spPr>
          <a:xfrm>
            <a:off x="2063750" y="620713"/>
            <a:ext cx="7772400" cy="1143000"/>
          </a:xfrm>
        </p:spPr>
        <p:txBody>
          <a:bodyPr/>
          <a:lstStyle/>
          <a:p>
            <a:r>
              <a:rPr lang="zh-CN" altLang="en-US" sz="3200" b="1">
                <a:solidFill>
                  <a:schemeClr val="tx1"/>
                </a:solidFill>
                <a:ea typeface="楷体" panose="02010609060101010101" pitchFamily="49" charset="-122"/>
              </a:rPr>
              <a:t>（四）蛋白质的三级结构</a:t>
            </a:r>
          </a:p>
        </p:txBody>
      </p:sp>
      <p:sp>
        <p:nvSpPr>
          <p:cNvPr id="108547" name="Rectangle 3">
            <a:extLst>
              <a:ext uri="{FF2B5EF4-FFF2-40B4-BE49-F238E27FC236}">
                <a16:creationId xmlns:a16="http://schemas.microsoft.com/office/drawing/2014/main" id="{9F95BB61-CEA9-099C-D568-56DE534C69FA}"/>
              </a:ext>
            </a:extLst>
          </p:cNvPr>
          <p:cNvSpPr>
            <a:spLocks noGrp="1" noChangeArrowheads="1"/>
          </p:cNvSpPr>
          <p:nvPr>
            <p:ph idx="1"/>
          </p:nvPr>
        </p:nvSpPr>
        <p:spPr>
          <a:xfrm>
            <a:off x="2279650" y="1628776"/>
            <a:ext cx="8066088" cy="4530725"/>
          </a:xfrm>
        </p:spPr>
        <p:txBody>
          <a:bodyPr/>
          <a:lstStyle/>
          <a:p>
            <a:pPr eaLnBrk="1" hangingPunct="1">
              <a:lnSpc>
                <a:spcPct val="150000"/>
              </a:lnSpc>
              <a:buClr>
                <a:srgbClr val="0000FF"/>
              </a:buClr>
              <a:buSzTx/>
              <a:buFont typeface="Wingdings" panose="05000000000000000000" pitchFamily="2" charset="2"/>
              <a:buChar char="u"/>
              <a:defRPr/>
            </a:pPr>
            <a:r>
              <a:rPr lang="zh-CN" altLang="en-US" b="1" dirty="0">
                <a:latin typeface="宋体" panose="02010600030101010101" pitchFamily="2" charset="-122"/>
              </a:rPr>
              <a:t>蛋白质的三级结构(</a:t>
            </a:r>
            <a:r>
              <a:rPr lang="en-US" b="1" dirty="0">
                <a:solidFill>
                  <a:srgbClr val="FF0000"/>
                </a:solidFill>
                <a:latin typeface="+mj-lt"/>
              </a:rPr>
              <a:t>Tertiary Structure</a:t>
            </a:r>
            <a:r>
              <a:rPr lang="en-US" b="1" dirty="0">
                <a:latin typeface="宋体" panose="02010600030101010101" pitchFamily="2" charset="-122"/>
              </a:rPr>
              <a:t>)</a:t>
            </a:r>
            <a:r>
              <a:rPr lang="zh-CN" altLang="en-US" b="1" dirty="0">
                <a:latin typeface="宋体" panose="02010600030101010101" pitchFamily="2" charset="-122"/>
              </a:rPr>
              <a:t>是建立在二级结构、超二级结构乃至结构域的基础上，多肽链进一步折叠卷曲形成复杂的分子结构，称为</a:t>
            </a:r>
            <a:r>
              <a:rPr lang="zh-CN" altLang="en-US" b="1" dirty="0">
                <a:solidFill>
                  <a:srgbClr val="0000FF"/>
                </a:solidFill>
                <a:latin typeface="宋体" panose="02010600030101010101" pitchFamily="2" charset="-122"/>
              </a:rPr>
              <a:t>三级结构。</a:t>
            </a:r>
          </a:p>
          <a:p>
            <a:pPr eaLnBrk="1" hangingPunct="1">
              <a:lnSpc>
                <a:spcPct val="150000"/>
              </a:lnSpc>
              <a:buClr>
                <a:srgbClr val="0000FF"/>
              </a:buClr>
              <a:buSzTx/>
              <a:buFont typeface="Wingdings" panose="05000000000000000000" pitchFamily="2" charset="2"/>
              <a:buChar char="u"/>
              <a:defRPr/>
            </a:pPr>
            <a:r>
              <a:rPr lang="zh-CN" altLang="en-US" b="1" dirty="0">
                <a:latin typeface="宋体" panose="02010600030101010101" pitchFamily="2" charset="-122"/>
              </a:rPr>
              <a:t>维持蛋白质分子三级结构的作用力有：离子链、氢键、疏水作用力（疏水键）、范德华力和二硫键，其中</a:t>
            </a:r>
            <a:r>
              <a:rPr lang="zh-CN" altLang="en-US" b="1" dirty="0">
                <a:solidFill>
                  <a:srgbClr val="0000FF"/>
                </a:solidFill>
                <a:latin typeface="宋体" panose="02010600030101010101" pitchFamily="2" charset="-122"/>
              </a:rPr>
              <a:t>疏水作用力更为重要</a:t>
            </a:r>
            <a:r>
              <a:rPr lang="zh-CN" altLang="en-US" b="1" dirty="0">
                <a:latin typeface="楷体_GB2312" pitchFamily="49" charset="-122"/>
                <a:ea typeface="楷体_GB2312" pitchFamily="49" charset="-122"/>
              </a:rPr>
              <a:t>。</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Text Box 2">
            <a:extLst>
              <a:ext uri="{FF2B5EF4-FFF2-40B4-BE49-F238E27FC236}">
                <a16:creationId xmlns:a16="http://schemas.microsoft.com/office/drawing/2014/main" id="{22AB923B-84F2-4B18-D5D1-36DD497B9799}"/>
              </a:ext>
            </a:extLst>
          </p:cNvPr>
          <p:cNvSpPr txBox="1">
            <a:spLocks noChangeArrowheads="1"/>
          </p:cNvSpPr>
          <p:nvPr/>
        </p:nvSpPr>
        <p:spPr bwMode="auto">
          <a:xfrm>
            <a:off x="3952875" y="642939"/>
            <a:ext cx="3581400" cy="70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SzPct val="90000"/>
              <a:buFont typeface="Wingdings" panose="05000000000000000000" pitchFamily="2" charset="2"/>
              <a:buBlip>
                <a:blip r:embed="rId2"/>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0" fontAlgn="base" hangingPunct="0">
              <a:lnSpc>
                <a:spcPct val="140000"/>
              </a:lnSpc>
              <a:spcBef>
                <a:spcPct val="0"/>
              </a:spcBef>
              <a:spcAft>
                <a:spcPct val="0"/>
              </a:spcAft>
              <a:buClrTx/>
              <a:buSzTx/>
              <a:buNone/>
            </a:pPr>
            <a:r>
              <a:rPr lang="zh-CN" altLang="zh-CN" sz="3200" b="1">
                <a:solidFill>
                  <a:srgbClr val="000000"/>
                </a:solidFill>
                <a:latin typeface="Times New Roman" panose="02020603050405020304" pitchFamily="18" charset="0"/>
              </a:rPr>
              <a:t>肌红蛋白 (Mb)    </a:t>
            </a:r>
          </a:p>
        </p:txBody>
      </p:sp>
      <p:sp>
        <p:nvSpPr>
          <p:cNvPr id="159747" name="Text Box 3">
            <a:extLst>
              <a:ext uri="{FF2B5EF4-FFF2-40B4-BE49-F238E27FC236}">
                <a16:creationId xmlns:a16="http://schemas.microsoft.com/office/drawing/2014/main" id="{C283EEF1-0ED2-555A-64C9-EF4B3FD92AB9}"/>
              </a:ext>
            </a:extLst>
          </p:cNvPr>
          <p:cNvSpPr txBox="1">
            <a:spLocks noChangeArrowheads="1"/>
          </p:cNvSpPr>
          <p:nvPr/>
        </p:nvSpPr>
        <p:spPr bwMode="auto">
          <a:xfrm>
            <a:off x="1905000" y="2587625"/>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33CC"/>
              </a:buClr>
              <a:buSzPct val="90000"/>
              <a:buFont typeface="Wingdings" panose="05000000000000000000" pitchFamily="2" charset="2"/>
              <a:buBlip>
                <a:blip r:embed="rId2"/>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ClrTx/>
              <a:buSzTx/>
              <a:buNone/>
            </a:pPr>
            <a:endParaRPr lang="zh-CN" altLang="zh-CN" sz="3600" b="1">
              <a:solidFill>
                <a:srgbClr val="660033"/>
              </a:solidFill>
              <a:latin typeface="Times New Roman" panose="02020603050405020304" pitchFamily="18" charset="0"/>
              <a:ea typeface="隶书" panose="02010509060101010101" pitchFamily="49" charset="-122"/>
            </a:endParaRPr>
          </a:p>
        </p:txBody>
      </p:sp>
      <p:grpSp>
        <p:nvGrpSpPr>
          <p:cNvPr id="159748" name="Group 4">
            <a:extLst>
              <a:ext uri="{FF2B5EF4-FFF2-40B4-BE49-F238E27FC236}">
                <a16:creationId xmlns:a16="http://schemas.microsoft.com/office/drawing/2014/main" id="{76A71851-91E1-6EFF-CACD-C879A74B659C}"/>
              </a:ext>
            </a:extLst>
          </p:cNvPr>
          <p:cNvGrpSpPr>
            <a:grpSpLocks/>
          </p:cNvGrpSpPr>
          <p:nvPr/>
        </p:nvGrpSpPr>
        <p:grpSpPr bwMode="auto">
          <a:xfrm>
            <a:off x="2640013" y="1557338"/>
            <a:ext cx="4953000" cy="4724400"/>
            <a:chOff x="0" y="0"/>
            <a:chExt cx="3120" cy="2976"/>
          </a:xfrm>
        </p:grpSpPr>
        <p:pic>
          <p:nvPicPr>
            <p:cNvPr id="159749" name="Picture 5" descr="hb">
              <a:extLst>
                <a:ext uri="{FF2B5EF4-FFF2-40B4-BE49-F238E27FC236}">
                  <a16:creationId xmlns:a16="http://schemas.microsoft.com/office/drawing/2014/main" id="{2AC19EC6-67E9-A4BF-24F1-DD38A34E03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120" cy="2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9750" name="Text Box 6">
              <a:extLst>
                <a:ext uri="{FF2B5EF4-FFF2-40B4-BE49-F238E27FC236}">
                  <a16:creationId xmlns:a16="http://schemas.microsoft.com/office/drawing/2014/main" id="{A5B2E72D-31D5-691A-2868-BEF452E7227A}"/>
                </a:ext>
              </a:extLst>
            </p:cNvPr>
            <p:cNvSpPr txBox="1">
              <a:spLocks noChangeArrowheads="1"/>
            </p:cNvSpPr>
            <p:nvPr/>
          </p:nvSpPr>
          <p:spPr bwMode="auto">
            <a:xfrm>
              <a:off x="864" y="2496"/>
              <a:ext cx="528" cy="292"/>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rgbClr val="0033CC"/>
                </a:buClr>
                <a:buSzPct val="90000"/>
                <a:buFont typeface="Wingdings" panose="05000000000000000000" pitchFamily="2" charset="2"/>
                <a:buBlip>
                  <a:blip r:embed="rId2"/>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50000"/>
                </a:spcBef>
                <a:spcAft>
                  <a:spcPct val="0"/>
                </a:spcAft>
                <a:buClrTx/>
                <a:buSzTx/>
                <a:buNone/>
              </a:pPr>
              <a:r>
                <a:rPr lang="zh-CN" altLang="zh-CN" sz="2400">
                  <a:solidFill>
                    <a:srgbClr val="660033"/>
                  </a:solidFill>
                  <a:latin typeface="Tahoma" panose="020B0604030504040204" pitchFamily="34" charset="0"/>
                  <a:ea typeface="华文楷体" panose="02010600040101010101" pitchFamily="2" charset="-122"/>
                </a:rPr>
                <a:t>N </a:t>
              </a:r>
              <a:r>
                <a:rPr lang="zh-CN" altLang="en-US" sz="2400">
                  <a:solidFill>
                    <a:srgbClr val="660033"/>
                  </a:solidFill>
                  <a:latin typeface="Tahoma" panose="020B0604030504040204" pitchFamily="34" charset="0"/>
                  <a:ea typeface="华文楷体" panose="02010600040101010101" pitchFamily="2" charset="-122"/>
                </a:rPr>
                <a:t>端</a:t>
              </a:r>
            </a:p>
          </p:txBody>
        </p:sp>
        <p:sp>
          <p:nvSpPr>
            <p:cNvPr id="159751" name="Text Box 7">
              <a:extLst>
                <a:ext uri="{FF2B5EF4-FFF2-40B4-BE49-F238E27FC236}">
                  <a16:creationId xmlns:a16="http://schemas.microsoft.com/office/drawing/2014/main" id="{069E2155-EACC-1F01-AB47-DBC21E5F64B2}"/>
                </a:ext>
              </a:extLst>
            </p:cNvPr>
            <p:cNvSpPr txBox="1">
              <a:spLocks noChangeArrowheads="1"/>
            </p:cNvSpPr>
            <p:nvPr/>
          </p:nvSpPr>
          <p:spPr bwMode="auto">
            <a:xfrm>
              <a:off x="0" y="1728"/>
              <a:ext cx="336" cy="525"/>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rgbClr val="0033CC"/>
                </a:buClr>
                <a:buSzPct val="90000"/>
                <a:buFont typeface="Wingdings" panose="05000000000000000000" pitchFamily="2" charset="2"/>
                <a:buBlip>
                  <a:blip r:embed="rId2"/>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50000"/>
                </a:spcBef>
                <a:spcAft>
                  <a:spcPct val="0"/>
                </a:spcAft>
                <a:buClrTx/>
                <a:buSzTx/>
                <a:buNone/>
              </a:pPr>
              <a:r>
                <a:rPr lang="zh-CN" altLang="zh-CN" sz="2400">
                  <a:solidFill>
                    <a:srgbClr val="660033"/>
                  </a:solidFill>
                  <a:latin typeface="Tahoma" panose="020B0604030504040204" pitchFamily="34" charset="0"/>
                  <a:ea typeface="华文楷体" panose="02010600040101010101" pitchFamily="2" charset="-122"/>
                </a:rPr>
                <a:t> C</a:t>
              </a:r>
              <a:r>
                <a:rPr lang="zh-CN" altLang="en-US" sz="2400">
                  <a:solidFill>
                    <a:srgbClr val="660033"/>
                  </a:solidFill>
                  <a:latin typeface="Tahoma" panose="020B0604030504040204" pitchFamily="34" charset="0"/>
                  <a:ea typeface="华文楷体" panose="02010600040101010101" pitchFamily="2" charset="-122"/>
                </a:rPr>
                <a:t>端</a:t>
              </a:r>
            </a:p>
          </p:txBody>
        </p:sp>
      </p:gr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a:extLst>
              <a:ext uri="{FF2B5EF4-FFF2-40B4-BE49-F238E27FC236}">
                <a16:creationId xmlns:a16="http://schemas.microsoft.com/office/drawing/2014/main" id="{B06CCC2E-89F5-F339-3D77-19E4D15F4353}"/>
              </a:ext>
            </a:extLst>
          </p:cNvPr>
          <p:cNvSpPr>
            <a:spLocks noGrp="1" noChangeArrowheads="1"/>
          </p:cNvSpPr>
          <p:nvPr>
            <p:ph type="title"/>
          </p:nvPr>
        </p:nvSpPr>
        <p:spPr>
          <a:xfrm>
            <a:off x="1992313" y="620713"/>
            <a:ext cx="7772400" cy="1143000"/>
          </a:xfrm>
        </p:spPr>
        <p:txBody>
          <a:bodyPr/>
          <a:lstStyle/>
          <a:p>
            <a:r>
              <a:rPr lang="zh-CN" altLang="en-US" sz="3200" b="1">
                <a:solidFill>
                  <a:schemeClr val="tx1"/>
                </a:solidFill>
                <a:ea typeface="楷体" panose="02010609060101010101" pitchFamily="49" charset="-122"/>
              </a:rPr>
              <a:t>（五）蛋白质的四级结构</a:t>
            </a:r>
          </a:p>
        </p:txBody>
      </p:sp>
      <p:sp>
        <p:nvSpPr>
          <p:cNvPr id="160771" name="Rectangle 3">
            <a:extLst>
              <a:ext uri="{FF2B5EF4-FFF2-40B4-BE49-F238E27FC236}">
                <a16:creationId xmlns:a16="http://schemas.microsoft.com/office/drawing/2014/main" id="{8DD36735-2375-3887-7343-7115BB7E23C0}"/>
              </a:ext>
            </a:extLst>
          </p:cNvPr>
          <p:cNvSpPr>
            <a:spLocks noGrp="1" noChangeArrowheads="1"/>
          </p:cNvSpPr>
          <p:nvPr>
            <p:ph idx="1"/>
          </p:nvPr>
        </p:nvSpPr>
        <p:spPr>
          <a:xfrm>
            <a:off x="1920876" y="1558925"/>
            <a:ext cx="8355013" cy="5183188"/>
          </a:xfrm>
        </p:spPr>
        <p:txBody>
          <a:bodyPr/>
          <a:lstStyle/>
          <a:p>
            <a:pPr>
              <a:lnSpc>
                <a:spcPct val="150000"/>
              </a:lnSpc>
              <a:buSzPct val="100000"/>
              <a:buFont typeface="Wingdings" panose="05000000000000000000" pitchFamily="2" charset="2"/>
              <a:buChar char="u"/>
            </a:pPr>
            <a:r>
              <a:rPr lang="zh-CN" altLang="en-US" b="1" dirty="0">
                <a:latin typeface="宋体" panose="02010600030101010101" pitchFamily="2" charset="-122"/>
              </a:rPr>
              <a:t>蛋白质的四级结构（</a:t>
            </a:r>
            <a:r>
              <a:rPr lang="zh-CN" altLang="zh-CN" b="1" dirty="0">
                <a:latin typeface="Times New Roman" panose="02020603050405020304" pitchFamily="18" charset="0"/>
              </a:rPr>
              <a:t>Quaternary structure</a:t>
            </a:r>
            <a:r>
              <a:rPr lang="zh-CN" altLang="en-US" b="1" dirty="0">
                <a:latin typeface="宋体" panose="02010600030101010101" pitchFamily="2" charset="-122"/>
              </a:rPr>
              <a:t>）是指具有两个或两个以上的多肽链，每一条多肽链都有其完整的三级结构，称为</a:t>
            </a:r>
            <a:r>
              <a:rPr lang="zh-CN" altLang="en-US" b="1" dirty="0">
                <a:solidFill>
                  <a:srgbClr val="0000FF"/>
                </a:solidFill>
                <a:latin typeface="宋体" panose="02010600030101010101" pitchFamily="2" charset="-122"/>
              </a:rPr>
              <a:t>亚基</a:t>
            </a:r>
            <a:r>
              <a:rPr lang="zh-CN" altLang="en-US" b="1" dirty="0">
                <a:latin typeface="宋体" panose="02010600030101010101" pitchFamily="2" charset="-122"/>
              </a:rPr>
              <a:t>（</a:t>
            </a:r>
            <a:r>
              <a:rPr lang="zh-CN" altLang="zh-CN" b="1" dirty="0">
                <a:latin typeface="Times New Roman" panose="02020603050405020304" pitchFamily="18" charset="0"/>
              </a:rPr>
              <a:t>subunit</a:t>
            </a:r>
            <a:r>
              <a:rPr lang="zh-CN" altLang="en-US" b="1" dirty="0">
                <a:latin typeface="宋体" panose="02010600030101010101" pitchFamily="2" charset="-122"/>
              </a:rPr>
              <a:t>），亚基与亚基之间相互作用所形成的更为复杂聚合物的一种结构形式</a:t>
            </a:r>
          </a:p>
          <a:p>
            <a:pPr>
              <a:lnSpc>
                <a:spcPct val="150000"/>
              </a:lnSpc>
              <a:buSzPct val="100000"/>
              <a:buFont typeface="Wingdings" panose="05000000000000000000" pitchFamily="2" charset="2"/>
              <a:buChar char="u"/>
            </a:pPr>
            <a:r>
              <a:rPr lang="zh-CN" altLang="en-US" b="1" dirty="0">
                <a:latin typeface="宋体" panose="02010600030101010101" pitchFamily="2" charset="-122"/>
              </a:rPr>
              <a:t>亚基之间主要通过疏水作用、氢键、范德华力等作用力形成四级结构，</a:t>
            </a:r>
            <a:r>
              <a:rPr lang="zh-CN" altLang="en-US" b="1" dirty="0">
                <a:solidFill>
                  <a:srgbClr val="0000FF"/>
                </a:solidFill>
                <a:latin typeface="宋体" panose="02010600030101010101" pitchFamily="2" charset="-122"/>
              </a:rPr>
              <a:t>其中最主要的是疏水作用</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1794" name="Picture 2" descr="dbz06">
            <a:extLst>
              <a:ext uri="{FF2B5EF4-FFF2-40B4-BE49-F238E27FC236}">
                <a16:creationId xmlns:a16="http://schemas.microsoft.com/office/drawing/2014/main" id="{1C9A81AF-0306-A7B6-8F6B-79F26FF861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6212" t="45345" r="4941" b="26501"/>
          <a:stretch>
            <a:fillRect/>
          </a:stretch>
        </p:blipFill>
        <p:spPr bwMode="auto">
          <a:xfrm>
            <a:off x="1981200" y="2209800"/>
            <a:ext cx="84582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1795" name="Text Box 3">
            <a:extLst>
              <a:ext uri="{FF2B5EF4-FFF2-40B4-BE49-F238E27FC236}">
                <a16:creationId xmlns:a16="http://schemas.microsoft.com/office/drawing/2014/main" id="{79785223-F81E-5578-4904-15D97053359F}"/>
              </a:ext>
            </a:extLst>
          </p:cNvPr>
          <p:cNvSpPr txBox="1">
            <a:spLocks noChangeArrowheads="1"/>
          </p:cNvSpPr>
          <p:nvPr/>
        </p:nvSpPr>
        <p:spPr bwMode="auto">
          <a:xfrm>
            <a:off x="4267200" y="457200"/>
            <a:ext cx="39624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SzPct val="90000"/>
              <a:buFont typeface="Wingdings" panose="05000000000000000000" pitchFamily="2" charset="2"/>
              <a:buBlip>
                <a:blip r:embed="rId3"/>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en-US" sz="3600" b="1">
                <a:solidFill>
                  <a:srgbClr val="660033"/>
                </a:solidFill>
                <a:latin typeface="Times New Roman" panose="02020603050405020304" pitchFamily="18" charset="0"/>
                <a:ea typeface="楷体_GB2312" pitchFamily="49" charset="-122"/>
              </a:rPr>
              <a:t>血红蛋白的结构</a:t>
            </a:r>
          </a:p>
        </p:txBody>
      </p:sp>
      <p:sp>
        <p:nvSpPr>
          <p:cNvPr id="161796" name="Text Box 4">
            <a:extLst>
              <a:ext uri="{FF2B5EF4-FFF2-40B4-BE49-F238E27FC236}">
                <a16:creationId xmlns:a16="http://schemas.microsoft.com/office/drawing/2014/main" id="{924DA66D-6224-D093-F940-3354260190A8}"/>
              </a:ext>
            </a:extLst>
          </p:cNvPr>
          <p:cNvSpPr txBox="1">
            <a:spLocks noChangeArrowheads="1"/>
          </p:cNvSpPr>
          <p:nvPr/>
        </p:nvSpPr>
        <p:spPr bwMode="auto">
          <a:xfrm>
            <a:off x="1905000" y="1644650"/>
            <a:ext cx="15240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SzPct val="90000"/>
              <a:buFont typeface="Wingdings" panose="05000000000000000000" pitchFamily="2" charset="2"/>
              <a:buBlip>
                <a:blip r:embed="rId3"/>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zh-CN" sz="2200" b="1">
                <a:solidFill>
                  <a:srgbClr val="660033"/>
                </a:solidFill>
                <a:latin typeface="宋体" panose="02010600030101010101" pitchFamily="2" charset="-122"/>
              </a:rPr>
              <a:t>一级结构</a:t>
            </a:r>
          </a:p>
        </p:txBody>
      </p:sp>
      <p:sp>
        <p:nvSpPr>
          <p:cNvPr id="161797" name="Text Box 5">
            <a:extLst>
              <a:ext uri="{FF2B5EF4-FFF2-40B4-BE49-F238E27FC236}">
                <a16:creationId xmlns:a16="http://schemas.microsoft.com/office/drawing/2014/main" id="{898160A5-8FE2-1598-68ED-CDA9E79F0DA4}"/>
              </a:ext>
            </a:extLst>
          </p:cNvPr>
          <p:cNvSpPr txBox="1">
            <a:spLocks noChangeArrowheads="1"/>
          </p:cNvSpPr>
          <p:nvPr/>
        </p:nvSpPr>
        <p:spPr bwMode="auto">
          <a:xfrm>
            <a:off x="3352800" y="1644650"/>
            <a:ext cx="16002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SzPct val="90000"/>
              <a:buFont typeface="Wingdings" panose="05000000000000000000" pitchFamily="2" charset="2"/>
              <a:buBlip>
                <a:blip r:embed="rId3"/>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zh-CN" sz="2200" b="1">
                <a:solidFill>
                  <a:srgbClr val="0000FF"/>
                </a:solidFill>
                <a:latin typeface="宋体" panose="02010600030101010101" pitchFamily="2" charset="-122"/>
              </a:rPr>
              <a:t>二级结构</a:t>
            </a:r>
          </a:p>
        </p:txBody>
      </p:sp>
      <p:sp>
        <p:nvSpPr>
          <p:cNvPr id="161798" name="Text Box 6">
            <a:extLst>
              <a:ext uri="{FF2B5EF4-FFF2-40B4-BE49-F238E27FC236}">
                <a16:creationId xmlns:a16="http://schemas.microsoft.com/office/drawing/2014/main" id="{E83E4F9D-E1FC-4378-1180-19174BF53724}"/>
              </a:ext>
            </a:extLst>
          </p:cNvPr>
          <p:cNvSpPr txBox="1">
            <a:spLocks noChangeArrowheads="1"/>
          </p:cNvSpPr>
          <p:nvPr/>
        </p:nvSpPr>
        <p:spPr bwMode="auto">
          <a:xfrm>
            <a:off x="5638800" y="1644650"/>
            <a:ext cx="16002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SzPct val="90000"/>
              <a:buFont typeface="Wingdings" panose="05000000000000000000" pitchFamily="2" charset="2"/>
              <a:buBlip>
                <a:blip r:embed="rId3"/>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zh-CN" sz="2200" b="1">
                <a:solidFill>
                  <a:srgbClr val="CC0099"/>
                </a:solidFill>
                <a:latin typeface="宋体" panose="02010600030101010101" pitchFamily="2" charset="-122"/>
              </a:rPr>
              <a:t>三级结构</a:t>
            </a:r>
          </a:p>
        </p:txBody>
      </p:sp>
      <p:sp>
        <p:nvSpPr>
          <p:cNvPr id="161799" name="Text Box 7">
            <a:extLst>
              <a:ext uri="{FF2B5EF4-FFF2-40B4-BE49-F238E27FC236}">
                <a16:creationId xmlns:a16="http://schemas.microsoft.com/office/drawing/2014/main" id="{578262A4-A85D-A55C-5637-BEA6C2947C5A}"/>
              </a:ext>
            </a:extLst>
          </p:cNvPr>
          <p:cNvSpPr txBox="1">
            <a:spLocks noChangeArrowheads="1"/>
          </p:cNvSpPr>
          <p:nvPr/>
        </p:nvSpPr>
        <p:spPr bwMode="auto">
          <a:xfrm>
            <a:off x="8453438" y="1716089"/>
            <a:ext cx="18288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SzPct val="90000"/>
              <a:buFont typeface="Wingdings" panose="05000000000000000000" pitchFamily="2" charset="2"/>
              <a:buBlip>
                <a:blip r:embed="rId3"/>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zh-CN" sz="2200" b="1">
                <a:solidFill>
                  <a:srgbClr val="009900"/>
                </a:solidFill>
                <a:latin typeface="宋体" panose="02010600030101010101" pitchFamily="2" charset="-122"/>
              </a:rPr>
              <a:t>四级结构</a:t>
            </a:r>
          </a:p>
        </p:txBody>
      </p:sp>
      <p:sp>
        <p:nvSpPr>
          <p:cNvPr id="161800" name="Text Box 8">
            <a:extLst>
              <a:ext uri="{FF2B5EF4-FFF2-40B4-BE49-F238E27FC236}">
                <a16:creationId xmlns:a16="http://schemas.microsoft.com/office/drawing/2014/main" id="{46A6A82B-4A8A-C856-952C-DCFB41569420}"/>
              </a:ext>
            </a:extLst>
          </p:cNvPr>
          <p:cNvSpPr txBox="1">
            <a:spLocks noChangeArrowheads="1"/>
          </p:cNvSpPr>
          <p:nvPr/>
        </p:nvSpPr>
        <p:spPr bwMode="auto">
          <a:xfrm>
            <a:off x="1676400" y="4830764"/>
            <a:ext cx="19050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SzPct val="90000"/>
              <a:buFont typeface="Wingdings" panose="05000000000000000000" pitchFamily="2" charset="2"/>
              <a:buBlip>
                <a:blip r:embed="rId3"/>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zh-CN" sz="2200" b="1">
                <a:solidFill>
                  <a:srgbClr val="660033"/>
                </a:solidFill>
                <a:latin typeface="宋体" panose="02010600030101010101" pitchFamily="2" charset="-122"/>
              </a:rPr>
              <a:t>氨基酸顺序</a:t>
            </a:r>
          </a:p>
        </p:txBody>
      </p:sp>
      <p:sp>
        <p:nvSpPr>
          <p:cNvPr id="161801" name="Text Box 9">
            <a:extLst>
              <a:ext uri="{FF2B5EF4-FFF2-40B4-BE49-F238E27FC236}">
                <a16:creationId xmlns:a16="http://schemas.microsoft.com/office/drawing/2014/main" id="{495DB496-2CB3-27CD-2AAB-350C3E8ECE82}"/>
              </a:ext>
            </a:extLst>
          </p:cNvPr>
          <p:cNvSpPr txBox="1">
            <a:spLocks noChangeArrowheads="1"/>
          </p:cNvSpPr>
          <p:nvPr/>
        </p:nvSpPr>
        <p:spPr bwMode="auto">
          <a:xfrm>
            <a:off x="3452813" y="4786314"/>
            <a:ext cx="12954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SzPct val="90000"/>
              <a:buFont typeface="Wingdings" panose="05000000000000000000" pitchFamily="2" charset="2"/>
              <a:buBlip>
                <a:blip r:embed="rId3"/>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zh-CN" sz="2200" b="1">
                <a:solidFill>
                  <a:srgbClr val="0000FF"/>
                </a:solidFill>
                <a:latin typeface="宋体" panose="02010600030101010101" pitchFamily="2" charset="-122"/>
              </a:rPr>
              <a:t>螺旋</a:t>
            </a:r>
          </a:p>
        </p:txBody>
      </p:sp>
      <p:sp>
        <p:nvSpPr>
          <p:cNvPr id="161802" name="Text Box 10">
            <a:extLst>
              <a:ext uri="{FF2B5EF4-FFF2-40B4-BE49-F238E27FC236}">
                <a16:creationId xmlns:a16="http://schemas.microsoft.com/office/drawing/2014/main" id="{A26E1E73-8B4B-9802-27E8-6A9975FBF9ED}"/>
              </a:ext>
            </a:extLst>
          </p:cNvPr>
          <p:cNvSpPr txBox="1">
            <a:spLocks noChangeArrowheads="1"/>
          </p:cNvSpPr>
          <p:nvPr/>
        </p:nvSpPr>
        <p:spPr bwMode="auto">
          <a:xfrm>
            <a:off x="4876800" y="4830764"/>
            <a:ext cx="34290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SzPct val="90000"/>
              <a:buFont typeface="Wingdings" panose="05000000000000000000" pitchFamily="2" charset="2"/>
              <a:buBlip>
                <a:blip r:embed="rId3"/>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zh-CN" sz="2200" b="1" dirty="0">
                <a:solidFill>
                  <a:srgbClr val="CC0099"/>
                </a:solidFill>
                <a:latin typeface="宋体" panose="02010600030101010101" pitchFamily="2" charset="-122"/>
              </a:rPr>
              <a:t>单体蛋白或亚基</a:t>
            </a:r>
          </a:p>
        </p:txBody>
      </p:sp>
      <p:sp>
        <p:nvSpPr>
          <p:cNvPr id="161803" name="Text Box 11">
            <a:extLst>
              <a:ext uri="{FF2B5EF4-FFF2-40B4-BE49-F238E27FC236}">
                <a16:creationId xmlns:a16="http://schemas.microsoft.com/office/drawing/2014/main" id="{2B3DF32B-38C1-77F6-82B4-460781730D64}"/>
              </a:ext>
            </a:extLst>
          </p:cNvPr>
          <p:cNvSpPr txBox="1">
            <a:spLocks noChangeArrowheads="1"/>
          </p:cNvSpPr>
          <p:nvPr/>
        </p:nvSpPr>
        <p:spPr bwMode="auto">
          <a:xfrm>
            <a:off x="8686800" y="4786314"/>
            <a:ext cx="14478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SzPct val="90000"/>
              <a:buFont typeface="Wingdings" panose="05000000000000000000" pitchFamily="2" charset="2"/>
              <a:buBlip>
                <a:blip r:embed="rId3"/>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50000"/>
              </a:spcBef>
              <a:spcAft>
                <a:spcPct val="0"/>
              </a:spcAft>
              <a:buClrTx/>
              <a:buSzTx/>
              <a:buNone/>
            </a:pPr>
            <a:r>
              <a:rPr lang="zh-CN" altLang="zh-CN" sz="2200" b="1">
                <a:solidFill>
                  <a:srgbClr val="009900"/>
                </a:solidFill>
                <a:latin typeface="宋体" panose="02010600030101010101" pitchFamily="2" charset="-122"/>
              </a:rPr>
              <a:t>寡聚蛋白</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7239804D-5D7C-1A0F-40B0-E1EDD8033B74}"/>
              </a:ext>
            </a:extLst>
          </p:cNvPr>
          <p:cNvSpPr txBox="1"/>
          <p:nvPr/>
        </p:nvSpPr>
        <p:spPr>
          <a:xfrm>
            <a:off x="1039446" y="312615"/>
            <a:ext cx="6869723" cy="707886"/>
          </a:xfrm>
          <a:prstGeom prst="rect">
            <a:avLst/>
          </a:prstGeom>
          <a:noFill/>
        </p:spPr>
        <p:txBody>
          <a:bodyPr wrap="square" rtlCol="0">
            <a:spAutoFit/>
          </a:bodyPr>
          <a:lstStyle/>
          <a:p>
            <a:r>
              <a:rPr lang="zh-CN" altLang="en-US" sz="4000" b="1" dirty="0">
                <a:latin typeface="黑体" panose="02010609060101010101" pitchFamily="49" charset="-122"/>
                <a:ea typeface="黑体" panose="02010609060101010101" pitchFamily="49" charset="-122"/>
                <a:cs typeface="+mj-cs"/>
              </a:rPr>
              <a:t>蛋白质结构分析</a:t>
            </a:r>
          </a:p>
        </p:txBody>
      </p:sp>
      <p:pic>
        <p:nvPicPr>
          <p:cNvPr id="4" name="图片 3">
            <a:extLst>
              <a:ext uri="{FF2B5EF4-FFF2-40B4-BE49-F238E27FC236}">
                <a16:creationId xmlns:a16="http://schemas.microsoft.com/office/drawing/2014/main" id="{3EA09B83-DE9E-6999-8898-2FC313D03AFA}"/>
              </a:ext>
            </a:extLst>
          </p:cNvPr>
          <p:cNvPicPr>
            <a:picLocks noChangeAspect="1"/>
          </p:cNvPicPr>
          <p:nvPr/>
        </p:nvPicPr>
        <p:blipFill>
          <a:blip r:embed="rId2"/>
          <a:stretch>
            <a:fillRect/>
          </a:stretch>
        </p:blipFill>
        <p:spPr>
          <a:xfrm>
            <a:off x="1688123" y="1940224"/>
            <a:ext cx="9276861" cy="5218235"/>
          </a:xfrm>
          <a:prstGeom prst="rect">
            <a:avLst/>
          </a:prstGeom>
        </p:spPr>
      </p:pic>
      <p:sp>
        <p:nvSpPr>
          <p:cNvPr id="5" name="文本框 4">
            <a:extLst>
              <a:ext uri="{FF2B5EF4-FFF2-40B4-BE49-F238E27FC236}">
                <a16:creationId xmlns:a16="http://schemas.microsoft.com/office/drawing/2014/main" id="{7A054743-6FB4-8C15-852F-350B1B792C38}"/>
              </a:ext>
            </a:extLst>
          </p:cNvPr>
          <p:cNvSpPr txBox="1"/>
          <p:nvPr/>
        </p:nvSpPr>
        <p:spPr>
          <a:xfrm>
            <a:off x="953477" y="1570892"/>
            <a:ext cx="4689231" cy="369332"/>
          </a:xfrm>
          <a:prstGeom prst="rect">
            <a:avLst/>
          </a:prstGeom>
          <a:noFill/>
        </p:spPr>
        <p:txBody>
          <a:bodyPr wrap="square" rtlCol="0">
            <a:spAutoFit/>
          </a:bodyPr>
          <a:lstStyle/>
          <a:p>
            <a:r>
              <a:rPr lang="en-US" altLang="zh-CN" dirty="0"/>
              <a:t>Protein data bank </a:t>
            </a:r>
            <a:r>
              <a:rPr lang="zh-CN" altLang="en-US" dirty="0"/>
              <a:t>（</a:t>
            </a:r>
            <a:r>
              <a:rPr lang="en-US" altLang="zh-CN" dirty="0"/>
              <a:t>PDB</a:t>
            </a:r>
            <a:r>
              <a:rPr lang="zh-CN" altLang="en-US" dirty="0"/>
              <a:t>）</a:t>
            </a:r>
            <a:r>
              <a:rPr lang="en-US" altLang="zh-CN" dirty="0"/>
              <a:t>: </a:t>
            </a:r>
            <a:r>
              <a:rPr lang="en-US" altLang="zh-CN" u="sng" dirty="0">
                <a:solidFill>
                  <a:srgbClr val="0000CC"/>
                </a:solidFill>
              </a:rPr>
              <a:t>www.pdbus.org</a:t>
            </a:r>
            <a:endParaRPr lang="zh-CN" altLang="en-US" u="sng" dirty="0">
              <a:solidFill>
                <a:srgbClr val="0000CC"/>
              </a:solidFill>
            </a:endParaRPr>
          </a:p>
        </p:txBody>
      </p:sp>
      <p:sp>
        <p:nvSpPr>
          <p:cNvPr id="6" name="椭圆 5">
            <a:extLst>
              <a:ext uri="{FF2B5EF4-FFF2-40B4-BE49-F238E27FC236}">
                <a16:creationId xmlns:a16="http://schemas.microsoft.com/office/drawing/2014/main" id="{D5BE85DD-4D36-24EC-84A9-CC7DABF68B4B}"/>
              </a:ext>
            </a:extLst>
          </p:cNvPr>
          <p:cNvSpPr/>
          <p:nvPr/>
        </p:nvSpPr>
        <p:spPr bwMode="auto">
          <a:xfrm>
            <a:off x="5502031" y="2672862"/>
            <a:ext cx="4548554" cy="508000"/>
          </a:xfrm>
          <a:prstGeom prst="ellipse">
            <a:avLst/>
          </a:prstGeom>
          <a:noFill/>
          <a:ln w="31750" cap="sq" cmpd="sng" algn="ctr">
            <a:solidFill>
              <a:srgbClr val="FF0000"/>
            </a:solidFill>
            <a:prstDash val="solid"/>
            <a:round/>
            <a:headEnd type="none" w="med" len="med"/>
            <a:tailEnd type="stealth" w="med" len="lg"/>
          </a:ln>
        </p:spPr>
        <p:txBody>
          <a:bodyPr vert="horz" wrap="none" lIns="91440" tIns="45720" rIns="91440" bIns="45720" numCol="1" rtlCol="0" anchor="t" anchorCtr="0" compatLnSpc="1">
            <a:spAutoFit/>
          </a:bodyPr>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2400" b="1" i="0" u="none" strike="noStrike" cap="none" normalizeH="0" baseline="0">
              <a:ln>
                <a:noFill/>
              </a:ln>
              <a:solidFill>
                <a:schemeClr val="tx2"/>
              </a:solidFill>
              <a:effectLst/>
              <a:latin typeface="Times New Roman" panose="02020603050405020304" pitchFamily="18" charset="0"/>
              <a:ea typeface="楷体_GB2312" pitchFamily="49" charset="-122"/>
            </a:endParaRPr>
          </a:p>
        </p:txBody>
      </p:sp>
      <p:sp>
        <p:nvSpPr>
          <p:cNvPr id="9" name="文本框 8">
            <a:extLst>
              <a:ext uri="{FF2B5EF4-FFF2-40B4-BE49-F238E27FC236}">
                <a16:creationId xmlns:a16="http://schemas.microsoft.com/office/drawing/2014/main" id="{55D6D5B4-898B-EE2A-508F-8F5DD72F0AB2}"/>
              </a:ext>
            </a:extLst>
          </p:cNvPr>
          <p:cNvSpPr txBox="1"/>
          <p:nvPr/>
        </p:nvSpPr>
        <p:spPr>
          <a:xfrm>
            <a:off x="7877908" y="2672862"/>
            <a:ext cx="890954" cy="369332"/>
          </a:xfrm>
          <a:prstGeom prst="rect">
            <a:avLst/>
          </a:prstGeom>
          <a:noFill/>
        </p:spPr>
        <p:txBody>
          <a:bodyPr wrap="square" rtlCol="0">
            <a:spAutoFit/>
          </a:bodyPr>
          <a:lstStyle/>
          <a:p>
            <a:r>
              <a:rPr lang="zh-CN" altLang="en-US" b="1" dirty="0">
                <a:solidFill>
                  <a:srgbClr val="FF0000"/>
                </a:solidFill>
              </a:rPr>
              <a:t>搜索框</a:t>
            </a:r>
          </a:p>
        </p:txBody>
      </p:sp>
    </p:spTree>
    <p:extLst>
      <p:ext uri="{BB962C8B-B14F-4D97-AF65-F5344CB8AC3E}">
        <p14:creationId xmlns:p14="http://schemas.microsoft.com/office/powerpoint/2010/main" val="1485603552"/>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7239804D-5D7C-1A0F-40B0-E1EDD8033B74}"/>
              </a:ext>
            </a:extLst>
          </p:cNvPr>
          <p:cNvSpPr txBox="1"/>
          <p:nvPr/>
        </p:nvSpPr>
        <p:spPr>
          <a:xfrm>
            <a:off x="1039446" y="312615"/>
            <a:ext cx="6869723" cy="707886"/>
          </a:xfrm>
          <a:prstGeom prst="rect">
            <a:avLst/>
          </a:prstGeom>
          <a:noFill/>
        </p:spPr>
        <p:txBody>
          <a:bodyPr wrap="square" rtlCol="0">
            <a:spAutoFit/>
          </a:bodyPr>
          <a:lstStyle/>
          <a:p>
            <a:r>
              <a:rPr lang="zh-CN" altLang="en-US" sz="4000" b="1" dirty="0">
                <a:latin typeface="黑体" panose="02010609060101010101" pitchFamily="49" charset="-122"/>
                <a:ea typeface="黑体" panose="02010609060101010101" pitchFamily="49" charset="-122"/>
                <a:cs typeface="+mj-cs"/>
              </a:rPr>
              <a:t>蛋白质结构分析</a:t>
            </a:r>
          </a:p>
        </p:txBody>
      </p:sp>
      <p:sp>
        <p:nvSpPr>
          <p:cNvPr id="5" name="文本框 4">
            <a:extLst>
              <a:ext uri="{FF2B5EF4-FFF2-40B4-BE49-F238E27FC236}">
                <a16:creationId xmlns:a16="http://schemas.microsoft.com/office/drawing/2014/main" id="{7A054743-6FB4-8C15-852F-350B1B792C38}"/>
              </a:ext>
            </a:extLst>
          </p:cNvPr>
          <p:cNvSpPr txBox="1"/>
          <p:nvPr/>
        </p:nvSpPr>
        <p:spPr>
          <a:xfrm>
            <a:off x="953477" y="1570892"/>
            <a:ext cx="4689231" cy="369332"/>
          </a:xfrm>
          <a:prstGeom prst="rect">
            <a:avLst/>
          </a:prstGeom>
          <a:noFill/>
        </p:spPr>
        <p:txBody>
          <a:bodyPr wrap="square" rtlCol="0">
            <a:spAutoFit/>
          </a:bodyPr>
          <a:lstStyle/>
          <a:p>
            <a:r>
              <a:rPr lang="en-US" altLang="zh-CN" dirty="0"/>
              <a:t>Protein data bank </a:t>
            </a:r>
            <a:r>
              <a:rPr lang="zh-CN" altLang="en-US" dirty="0"/>
              <a:t>（</a:t>
            </a:r>
            <a:r>
              <a:rPr lang="en-US" altLang="zh-CN" dirty="0"/>
              <a:t>PDB</a:t>
            </a:r>
            <a:r>
              <a:rPr lang="zh-CN" altLang="en-US" dirty="0"/>
              <a:t>）</a:t>
            </a:r>
            <a:r>
              <a:rPr lang="en-US" altLang="zh-CN" dirty="0"/>
              <a:t>: </a:t>
            </a:r>
            <a:r>
              <a:rPr lang="en-US" altLang="zh-CN" u="sng" dirty="0">
                <a:solidFill>
                  <a:srgbClr val="0000CC"/>
                </a:solidFill>
              </a:rPr>
              <a:t>www.pdbus.org</a:t>
            </a:r>
            <a:endParaRPr lang="zh-CN" altLang="en-US" u="sng" dirty="0">
              <a:solidFill>
                <a:srgbClr val="0000CC"/>
              </a:solidFill>
            </a:endParaRPr>
          </a:p>
        </p:txBody>
      </p:sp>
      <p:pic>
        <p:nvPicPr>
          <p:cNvPr id="6" name="图片 5">
            <a:extLst>
              <a:ext uri="{FF2B5EF4-FFF2-40B4-BE49-F238E27FC236}">
                <a16:creationId xmlns:a16="http://schemas.microsoft.com/office/drawing/2014/main" id="{C487CD00-2ED6-B063-F4AC-1DFB5EB10688}"/>
              </a:ext>
            </a:extLst>
          </p:cNvPr>
          <p:cNvPicPr>
            <a:picLocks noChangeAspect="1"/>
          </p:cNvPicPr>
          <p:nvPr/>
        </p:nvPicPr>
        <p:blipFill>
          <a:blip r:embed="rId2"/>
          <a:srcRect l="3141" t="8774" r="9424"/>
          <a:stretch/>
        </p:blipFill>
        <p:spPr>
          <a:xfrm>
            <a:off x="1109785" y="1101969"/>
            <a:ext cx="9395077" cy="5513753"/>
          </a:xfrm>
          <a:prstGeom prst="rect">
            <a:avLst/>
          </a:prstGeom>
        </p:spPr>
      </p:pic>
      <p:sp>
        <p:nvSpPr>
          <p:cNvPr id="7" name="椭圆 6">
            <a:extLst>
              <a:ext uri="{FF2B5EF4-FFF2-40B4-BE49-F238E27FC236}">
                <a16:creationId xmlns:a16="http://schemas.microsoft.com/office/drawing/2014/main" id="{C67643E0-7BE3-E4AB-BFBE-DAD0168F60A1}"/>
              </a:ext>
            </a:extLst>
          </p:cNvPr>
          <p:cNvSpPr/>
          <p:nvPr/>
        </p:nvSpPr>
        <p:spPr bwMode="auto">
          <a:xfrm>
            <a:off x="5298831" y="2039815"/>
            <a:ext cx="578338" cy="369332"/>
          </a:xfrm>
          <a:prstGeom prst="ellipse">
            <a:avLst/>
          </a:prstGeom>
          <a:noFill/>
          <a:ln w="31750" cap="sq" cmpd="sng" algn="ctr">
            <a:solidFill>
              <a:srgbClr val="FF0000"/>
            </a:solidFill>
            <a:prstDash val="solid"/>
            <a:round/>
            <a:headEnd type="none" w="med" len="med"/>
            <a:tailEnd type="stealth" w="med" len="lg"/>
          </a:ln>
        </p:spPr>
        <p:txBody>
          <a:bodyPr vert="horz" wrap="none" lIns="91440" tIns="45720" rIns="91440" bIns="45720" numCol="1" rtlCol="0" anchor="t" anchorCtr="0" compatLnSpc="1">
            <a:spAutoFit/>
          </a:bodyPr>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2400" b="1" i="0" u="none" strike="noStrike" cap="none" normalizeH="0" baseline="0">
              <a:ln>
                <a:noFill/>
              </a:ln>
              <a:solidFill>
                <a:schemeClr val="tx2"/>
              </a:solidFill>
              <a:effectLst/>
              <a:latin typeface="Times New Roman" panose="02020603050405020304" pitchFamily="18" charset="0"/>
              <a:ea typeface="楷体_GB2312" pitchFamily="49" charset="-122"/>
            </a:endParaRPr>
          </a:p>
        </p:txBody>
      </p:sp>
      <p:sp>
        <p:nvSpPr>
          <p:cNvPr id="8" name="文本框 7">
            <a:extLst>
              <a:ext uri="{FF2B5EF4-FFF2-40B4-BE49-F238E27FC236}">
                <a16:creationId xmlns:a16="http://schemas.microsoft.com/office/drawing/2014/main" id="{2328F88C-C859-946C-B96C-88A7716B9313}"/>
              </a:ext>
            </a:extLst>
          </p:cNvPr>
          <p:cNvSpPr txBox="1"/>
          <p:nvPr/>
        </p:nvSpPr>
        <p:spPr>
          <a:xfrm>
            <a:off x="6127261" y="2008553"/>
            <a:ext cx="1617785" cy="369332"/>
          </a:xfrm>
          <a:prstGeom prst="rect">
            <a:avLst/>
          </a:prstGeom>
          <a:noFill/>
        </p:spPr>
        <p:txBody>
          <a:bodyPr wrap="square" rtlCol="0">
            <a:spAutoFit/>
          </a:bodyPr>
          <a:lstStyle/>
          <a:p>
            <a:r>
              <a:rPr lang="en-US" altLang="zh-CN" dirty="0">
                <a:solidFill>
                  <a:srgbClr val="FF0000"/>
                </a:solidFill>
              </a:rPr>
              <a:t>PDB ID</a:t>
            </a:r>
            <a:endParaRPr lang="zh-CN" altLang="en-US" dirty="0">
              <a:solidFill>
                <a:srgbClr val="FF0000"/>
              </a:solidFill>
            </a:endParaRPr>
          </a:p>
        </p:txBody>
      </p:sp>
    </p:spTree>
    <p:extLst>
      <p:ext uri="{BB962C8B-B14F-4D97-AF65-F5344CB8AC3E}">
        <p14:creationId xmlns:p14="http://schemas.microsoft.com/office/powerpoint/2010/main" val="1350826788"/>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2B4DE821-1EB6-85F2-C694-6BBC68F83525}"/>
              </a:ext>
            </a:extLst>
          </p:cNvPr>
          <p:cNvPicPr>
            <a:picLocks noChangeAspect="1"/>
          </p:cNvPicPr>
          <p:nvPr/>
        </p:nvPicPr>
        <p:blipFill>
          <a:blip r:embed="rId2"/>
          <a:srcRect l="10406" t="28949" r="14122"/>
          <a:stretch/>
        </p:blipFill>
        <p:spPr>
          <a:xfrm>
            <a:off x="1268627" y="1985318"/>
            <a:ext cx="9201666" cy="4872681"/>
          </a:xfrm>
          <a:prstGeom prst="rect">
            <a:avLst/>
          </a:prstGeom>
        </p:spPr>
      </p:pic>
      <p:sp>
        <p:nvSpPr>
          <p:cNvPr id="4" name="文本框 3">
            <a:extLst>
              <a:ext uri="{FF2B5EF4-FFF2-40B4-BE49-F238E27FC236}">
                <a16:creationId xmlns:a16="http://schemas.microsoft.com/office/drawing/2014/main" id="{67C35360-6B00-F196-83C0-2A2F90EF8482}"/>
              </a:ext>
            </a:extLst>
          </p:cNvPr>
          <p:cNvSpPr txBox="1"/>
          <p:nvPr/>
        </p:nvSpPr>
        <p:spPr>
          <a:xfrm>
            <a:off x="1039446" y="312615"/>
            <a:ext cx="6869723" cy="707886"/>
          </a:xfrm>
          <a:prstGeom prst="rect">
            <a:avLst/>
          </a:prstGeom>
          <a:noFill/>
        </p:spPr>
        <p:txBody>
          <a:bodyPr wrap="square" rtlCol="0">
            <a:spAutoFit/>
          </a:bodyPr>
          <a:lstStyle/>
          <a:p>
            <a:r>
              <a:rPr lang="zh-CN" altLang="en-US" sz="4000" b="1" dirty="0">
                <a:latin typeface="黑体" panose="02010609060101010101" pitchFamily="49" charset="-122"/>
                <a:ea typeface="黑体" panose="02010609060101010101" pitchFamily="49" charset="-122"/>
                <a:cs typeface="+mj-cs"/>
              </a:rPr>
              <a:t>蛋白质结构分析</a:t>
            </a:r>
          </a:p>
        </p:txBody>
      </p:sp>
      <p:sp>
        <p:nvSpPr>
          <p:cNvPr id="5" name="椭圆 4">
            <a:extLst>
              <a:ext uri="{FF2B5EF4-FFF2-40B4-BE49-F238E27FC236}">
                <a16:creationId xmlns:a16="http://schemas.microsoft.com/office/drawing/2014/main" id="{EE48DAC5-E159-0D96-0BE3-16A77D264B41}"/>
              </a:ext>
            </a:extLst>
          </p:cNvPr>
          <p:cNvSpPr/>
          <p:nvPr/>
        </p:nvSpPr>
        <p:spPr bwMode="auto">
          <a:xfrm>
            <a:off x="7463481" y="2965622"/>
            <a:ext cx="1449860" cy="354227"/>
          </a:xfrm>
          <a:prstGeom prst="ellipse">
            <a:avLst/>
          </a:prstGeom>
          <a:noFill/>
          <a:ln w="31750" cap="sq" cmpd="sng" algn="ctr">
            <a:solidFill>
              <a:srgbClr val="FF0000"/>
            </a:solidFill>
            <a:prstDash val="solid"/>
            <a:round/>
            <a:headEnd type="none" w="med" len="med"/>
            <a:tailEnd type="stealth" w="med" len="lg"/>
          </a:ln>
        </p:spPr>
        <p:txBody>
          <a:bodyPr vert="horz" wrap="none" lIns="91440" tIns="45720" rIns="91440" bIns="45720" numCol="1" rtlCol="0" anchor="t" anchorCtr="0" compatLnSpc="1">
            <a:spAutoFit/>
          </a:bodyPr>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2400" b="1" i="0" u="none" strike="noStrike" cap="none" normalizeH="0" baseline="0">
              <a:ln>
                <a:noFill/>
              </a:ln>
              <a:solidFill>
                <a:schemeClr val="tx2"/>
              </a:solidFill>
              <a:effectLst/>
              <a:latin typeface="Times New Roman" panose="02020603050405020304" pitchFamily="18" charset="0"/>
              <a:ea typeface="楷体_GB2312" pitchFamily="49" charset="-122"/>
            </a:endParaRPr>
          </a:p>
        </p:txBody>
      </p:sp>
      <p:sp>
        <p:nvSpPr>
          <p:cNvPr id="6" name="文本框 5">
            <a:extLst>
              <a:ext uri="{FF2B5EF4-FFF2-40B4-BE49-F238E27FC236}">
                <a16:creationId xmlns:a16="http://schemas.microsoft.com/office/drawing/2014/main" id="{29EADC75-0BF0-4917-4E01-59E7708EDA2E}"/>
              </a:ext>
            </a:extLst>
          </p:cNvPr>
          <p:cNvSpPr txBox="1"/>
          <p:nvPr/>
        </p:nvSpPr>
        <p:spPr>
          <a:xfrm>
            <a:off x="9111049" y="2907956"/>
            <a:ext cx="1746422" cy="646331"/>
          </a:xfrm>
          <a:prstGeom prst="rect">
            <a:avLst/>
          </a:prstGeom>
          <a:noFill/>
        </p:spPr>
        <p:txBody>
          <a:bodyPr wrap="square" rtlCol="0">
            <a:spAutoFit/>
          </a:bodyPr>
          <a:lstStyle/>
          <a:p>
            <a:r>
              <a:rPr lang="zh-CN" altLang="en-US" b="1" dirty="0">
                <a:solidFill>
                  <a:srgbClr val="FF0000"/>
                </a:solidFill>
              </a:rPr>
              <a:t>一级结构氨基酸序列</a:t>
            </a:r>
          </a:p>
        </p:txBody>
      </p:sp>
    </p:spTree>
    <p:extLst>
      <p:ext uri="{BB962C8B-B14F-4D97-AF65-F5344CB8AC3E}">
        <p14:creationId xmlns:p14="http://schemas.microsoft.com/office/powerpoint/2010/main" val="3888848478"/>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67C35360-6B00-F196-83C0-2A2F90EF8482}"/>
              </a:ext>
            </a:extLst>
          </p:cNvPr>
          <p:cNvSpPr txBox="1"/>
          <p:nvPr/>
        </p:nvSpPr>
        <p:spPr>
          <a:xfrm>
            <a:off x="1039446" y="312615"/>
            <a:ext cx="6869723" cy="707886"/>
          </a:xfrm>
          <a:prstGeom prst="rect">
            <a:avLst/>
          </a:prstGeom>
          <a:noFill/>
        </p:spPr>
        <p:txBody>
          <a:bodyPr wrap="square" rtlCol="0">
            <a:spAutoFit/>
          </a:bodyPr>
          <a:lstStyle/>
          <a:p>
            <a:r>
              <a:rPr lang="zh-CN" altLang="en-US" sz="4000" b="1" dirty="0">
                <a:latin typeface="黑体" panose="02010609060101010101" pitchFamily="49" charset="-122"/>
                <a:ea typeface="黑体" panose="02010609060101010101" pitchFamily="49" charset="-122"/>
                <a:cs typeface="+mj-cs"/>
              </a:rPr>
              <a:t>蛋白质结构分析</a:t>
            </a:r>
          </a:p>
        </p:txBody>
      </p:sp>
      <p:pic>
        <p:nvPicPr>
          <p:cNvPr id="7" name="图片 6">
            <a:extLst>
              <a:ext uri="{FF2B5EF4-FFF2-40B4-BE49-F238E27FC236}">
                <a16:creationId xmlns:a16="http://schemas.microsoft.com/office/drawing/2014/main" id="{55065F21-86BD-DA96-B3AF-8F9935823197}"/>
              </a:ext>
            </a:extLst>
          </p:cNvPr>
          <p:cNvPicPr>
            <a:picLocks noChangeAspect="1"/>
          </p:cNvPicPr>
          <p:nvPr/>
        </p:nvPicPr>
        <p:blipFill>
          <a:blip r:embed="rId2"/>
          <a:stretch>
            <a:fillRect/>
          </a:stretch>
        </p:blipFill>
        <p:spPr>
          <a:xfrm>
            <a:off x="1458097" y="1689271"/>
            <a:ext cx="9086335" cy="5111063"/>
          </a:xfrm>
          <a:prstGeom prst="rect">
            <a:avLst/>
          </a:prstGeom>
        </p:spPr>
      </p:pic>
    </p:spTree>
    <p:extLst>
      <p:ext uri="{BB962C8B-B14F-4D97-AF65-F5344CB8AC3E}">
        <p14:creationId xmlns:p14="http://schemas.microsoft.com/office/powerpoint/2010/main" val="1768993220"/>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67C35360-6B00-F196-83C0-2A2F90EF8482}"/>
              </a:ext>
            </a:extLst>
          </p:cNvPr>
          <p:cNvSpPr txBox="1"/>
          <p:nvPr/>
        </p:nvSpPr>
        <p:spPr>
          <a:xfrm>
            <a:off x="1039446" y="312615"/>
            <a:ext cx="6869723" cy="707886"/>
          </a:xfrm>
          <a:prstGeom prst="rect">
            <a:avLst/>
          </a:prstGeom>
          <a:noFill/>
        </p:spPr>
        <p:txBody>
          <a:bodyPr wrap="square" rtlCol="0">
            <a:spAutoFit/>
          </a:bodyPr>
          <a:lstStyle/>
          <a:p>
            <a:r>
              <a:rPr lang="en-US" altLang="zh-CN" sz="4000" b="1" dirty="0" err="1">
                <a:latin typeface="黑体" panose="02010609060101010101" pitchFamily="49" charset="-122"/>
                <a:ea typeface="黑体" panose="02010609060101010101" pitchFamily="49" charset="-122"/>
                <a:cs typeface="+mj-cs"/>
              </a:rPr>
              <a:t>PyMOL</a:t>
            </a:r>
            <a:r>
              <a:rPr lang="zh-CN" altLang="en-US" sz="4000" b="1" dirty="0">
                <a:latin typeface="黑体" panose="02010609060101010101" pitchFamily="49" charset="-122"/>
                <a:ea typeface="黑体" panose="02010609060101010101" pitchFamily="49" charset="-122"/>
                <a:cs typeface="+mj-cs"/>
              </a:rPr>
              <a:t>软件介绍</a:t>
            </a:r>
          </a:p>
        </p:txBody>
      </p:sp>
      <p:sp>
        <p:nvSpPr>
          <p:cNvPr id="3" name="文本框 2">
            <a:extLst>
              <a:ext uri="{FF2B5EF4-FFF2-40B4-BE49-F238E27FC236}">
                <a16:creationId xmlns:a16="http://schemas.microsoft.com/office/drawing/2014/main" id="{D54A07D5-EA52-9ADC-69B1-AA746A389F2A}"/>
              </a:ext>
            </a:extLst>
          </p:cNvPr>
          <p:cNvSpPr txBox="1"/>
          <p:nvPr/>
        </p:nvSpPr>
        <p:spPr>
          <a:xfrm>
            <a:off x="914400" y="1582349"/>
            <a:ext cx="2075935" cy="369332"/>
          </a:xfrm>
          <a:prstGeom prst="rect">
            <a:avLst/>
          </a:prstGeom>
          <a:noFill/>
        </p:spPr>
        <p:txBody>
          <a:bodyPr wrap="square">
            <a:spAutoFit/>
          </a:bodyPr>
          <a:lstStyle/>
          <a:p>
            <a:r>
              <a:rPr lang="en-US" altLang="zh-CN" dirty="0"/>
              <a:t>https://pymol.org/</a:t>
            </a:r>
            <a:endParaRPr lang="zh-CN" altLang="en-US" dirty="0"/>
          </a:p>
        </p:txBody>
      </p:sp>
      <p:pic>
        <p:nvPicPr>
          <p:cNvPr id="6" name="图片 5">
            <a:extLst>
              <a:ext uri="{FF2B5EF4-FFF2-40B4-BE49-F238E27FC236}">
                <a16:creationId xmlns:a16="http://schemas.microsoft.com/office/drawing/2014/main" id="{F34B10EA-F4C4-88FB-8726-84A2A92D1E2F}"/>
              </a:ext>
            </a:extLst>
          </p:cNvPr>
          <p:cNvPicPr>
            <a:picLocks noChangeAspect="1"/>
          </p:cNvPicPr>
          <p:nvPr/>
        </p:nvPicPr>
        <p:blipFill>
          <a:blip r:embed="rId2"/>
          <a:stretch>
            <a:fillRect/>
          </a:stretch>
        </p:blipFill>
        <p:spPr>
          <a:xfrm>
            <a:off x="1614617" y="1951681"/>
            <a:ext cx="8484973" cy="4772797"/>
          </a:xfrm>
          <a:prstGeom prst="rect">
            <a:avLst/>
          </a:prstGeom>
        </p:spPr>
      </p:pic>
    </p:spTree>
    <p:extLst>
      <p:ext uri="{BB962C8B-B14F-4D97-AF65-F5344CB8AC3E}">
        <p14:creationId xmlns:p14="http://schemas.microsoft.com/office/powerpoint/2010/main" val="2335407128"/>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67C35360-6B00-F196-83C0-2A2F90EF8482}"/>
              </a:ext>
            </a:extLst>
          </p:cNvPr>
          <p:cNvSpPr txBox="1"/>
          <p:nvPr/>
        </p:nvSpPr>
        <p:spPr>
          <a:xfrm>
            <a:off x="1039446" y="312615"/>
            <a:ext cx="6869723" cy="707886"/>
          </a:xfrm>
          <a:prstGeom prst="rect">
            <a:avLst/>
          </a:prstGeom>
          <a:noFill/>
        </p:spPr>
        <p:txBody>
          <a:bodyPr wrap="square" rtlCol="0">
            <a:spAutoFit/>
          </a:bodyPr>
          <a:lstStyle/>
          <a:p>
            <a:r>
              <a:rPr lang="zh-CN" altLang="en-US" sz="4000" b="1" dirty="0">
                <a:latin typeface="黑体" panose="02010609060101010101" pitchFamily="49" charset="-122"/>
                <a:ea typeface="黑体" panose="02010609060101010101" pitchFamily="49" charset="-122"/>
                <a:cs typeface="+mj-cs"/>
              </a:rPr>
              <a:t>蛋白质结构分析</a:t>
            </a:r>
          </a:p>
        </p:txBody>
      </p:sp>
      <p:pic>
        <p:nvPicPr>
          <p:cNvPr id="5" name="图片 4">
            <a:extLst>
              <a:ext uri="{FF2B5EF4-FFF2-40B4-BE49-F238E27FC236}">
                <a16:creationId xmlns:a16="http://schemas.microsoft.com/office/drawing/2014/main" id="{B5FF0F64-9B0C-C40E-3AC0-41B37C5D125B}"/>
              </a:ext>
            </a:extLst>
          </p:cNvPr>
          <p:cNvPicPr>
            <a:picLocks noChangeAspect="1"/>
          </p:cNvPicPr>
          <p:nvPr/>
        </p:nvPicPr>
        <p:blipFill>
          <a:blip r:embed="rId2"/>
          <a:stretch>
            <a:fillRect/>
          </a:stretch>
        </p:blipFill>
        <p:spPr>
          <a:xfrm>
            <a:off x="115330" y="1614616"/>
            <a:ext cx="12192000" cy="6858000"/>
          </a:xfrm>
          <a:prstGeom prst="rect">
            <a:avLst/>
          </a:prstGeom>
        </p:spPr>
      </p:pic>
    </p:spTree>
    <p:extLst>
      <p:ext uri="{BB962C8B-B14F-4D97-AF65-F5344CB8AC3E}">
        <p14:creationId xmlns:p14="http://schemas.microsoft.com/office/powerpoint/2010/main" val="535996225"/>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67C35360-6B00-F196-83C0-2A2F90EF8482}"/>
              </a:ext>
            </a:extLst>
          </p:cNvPr>
          <p:cNvSpPr txBox="1"/>
          <p:nvPr/>
        </p:nvSpPr>
        <p:spPr>
          <a:xfrm>
            <a:off x="1039446" y="312615"/>
            <a:ext cx="6869723" cy="707886"/>
          </a:xfrm>
          <a:prstGeom prst="rect">
            <a:avLst/>
          </a:prstGeom>
          <a:noFill/>
        </p:spPr>
        <p:txBody>
          <a:bodyPr wrap="square" rtlCol="0">
            <a:spAutoFit/>
          </a:bodyPr>
          <a:lstStyle/>
          <a:p>
            <a:r>
              <a:rPr lang="zh-CN" altLang="en-US" sz="4000" b="1" dirty="0">
                <a:latin typeface="黑体" panose="02010609060101010101" pitchFamily="49" charset="-122"/>
                <a:ea typeface="黑体" panose="02010609060101010101" pitchFamily="49" charset="-122"/>
                <a:cs typeface="+mj-cs"/>
              </a:rPr>
              <a:t>蛋白质结构分析</a:t>
            </a:r>
          </a:p>
        </p:txBody>
      </p:sp>
      <p:pic>
        <p:nvPicPr>
          <p:cNvPr id="3" name="图片 2">
            <a:extLst>
              <a:ext uri="{FF2B5EF4-FFF2-40B4-BE49-F238E27FC236}">
                <a16:creationId xmlns:a16="http://schemas.microsoft.com/office/drawing/2014/main" id="{15B63BE9-67D0-DAE1-0511-F6280C9989A5}"/>
              </a:ext>
            </a:extLst>
          </p:cNvPr>
          <p:cNvPicPr>
            <a:picLocks noChangeAspect="1"/>
          </p:cNvPicPr>
          <p:nvPr/>
        </p:nvPicPr>
        <p:blipFill>
          <a:blip r:embed="rId3"/>
          <a:srcRect r="51014" b="45105"/>
          <a:stretch/>
        </p:blipFill>
        <p:spPr>
          <a:xfrm>
            <a:off x="1334530" y="1239522"/>
            <a:ext cx="8913339" cy="5618478"/>
          </a:xfrm>
          <a:prstGeom prst="rect">
            <a:avLst/>
          </a:prstGeom>
        </p:spPr>
      </p:pic>
    </p:spTree>
    <p:extLst>
      <p:ext uri="{BB962C8B-B14F-4D97-AF65-F5344CB8AC3E}">
        <p14:creationId xmlns:p14="http://schemas.microsoft.com/office/powerpoint/2010/main" val="2740451281"/>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67C35360-6B00-F196-83C0-2A2F90EF8482}"/>
              </a:ext>
            </a:extLst>
          </p:cNvPr>
          <p:cNvSpPr txBox="1"/>
          <p:nvPr/>
        </p:nvSpPr>
        <p:spPr>
          <a:xfrm>
            <a:off x="1039446" y="312615"/>
            <a:ext cx="6869723" cy="707886"/>
          </a:xfrm>
          <a:prstGeom prst="rect">
            <a:avLst/>
          </a:prstGeom>
          <a:noFill/>
        </p:spPr>
        <p:txBody>
          <a:bodyPr wrap="square" rtlCol="0">
            <a:spAutoFit/>
          </a:bodyPr>
          <a:lstStyle/>
          <a:p>
            <a:r>
              <a:rPr lang="zh-CN" altLang="en-US" sz="4000" b="1" dirty="0">
                <a:latin typeface="黑体" panose="02010609060101010101" pitchFamily="49" charset="-122"/>
                <a:ea typeface="黑体" panose="02010609060101010101" pitchFamily="49" charset="-122"/>
                <a:cs typeface="+mj-cs"/>
              </a:rPr>
              <a:t>蛋白质结构分析</a:t>
            </a:r>
          </a:p>
        </p:txBody>
      </p:sp>
      <p:pic>
        <p:nvPicPr>
          <p:cNvPr id="3" name="图片 2">
            <a:extLst>
              <a:ext uri="{FF2B5EF4-FFF2-40B4-BE49-F238E27FC236}">
                <a16:creationId xmlns:a16="http://schemas.microsoft.com/office/drawing/2014/main" id="{15B63BE9-67D0-DAE1-0511-F6280C9989A5}"/>
              </a:ext>
            </a:extLst>
          </p:cNvPr>
          <p:cNvPicPr>
            <a:picLocks noChangeAspect="1"/>
          </p:cNvPicPr>
          <p:nvPr/>
        </p:nvPicPr>
        <p:blipFill>
          <a:blip r:embed="rId3"/>
          <a:srcRect r="51014" b="45105"/>
          <a:stretch/>
        </p:blipFill>
        <p:spPr>
          <a:xfrm>
            <a:off x="1334530" y="1239522"/>
            <a:ext cx="8913339" cy="5618478"/>
          </a:xfrm>
          <a:prstGeom prst="rect">
            <a:avLst/>
          </a:prstGeom>
        </p:spPr>
      </p:pic>
    </p:spTree>
    <p:extLst>
      <p:ext uri="{BB962C8B-B14F-4D97-AF65-F5344CB8AC3E}">
        <p14:creationId xmlns:p14="http://schemas.microsoft.com/office/powerpoint/2010/main" val="1363209738"/>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AEC887D0-7B44-035D-5C5C-C646D639FD9D}"/>
              </a:ext>
            </a:extLst>
          </p:cNvPr>
          <p:cNvPicPr>
            <a:picLocks noChangeAspect="1"/>
          </p:cNvPicPr>
          <p:nvPr/>
        </p:nvPicPr>
        <p:blipFill>
          <a:blip r:embed="rId2"/>
          <a:srcRect l="37007" t="22781" r="37415" b="20983"/>
          <a:stretch/>
        </p:blipFill>
        <p:spPr>
          <a:xfrm>
            <a:off x="5387547" y="0"/>
            <a:ext cx="5519352" cy="6825793"/>
          </a:xfrm>
          <a:prstGeom prst="rect">
            <a:avLst/>
          </a:prstGeom>
        </p:spPr>
      </p:pic>
      <p:sp>
        <p:nvSpPr>
          <p:cNvPr id="4" name="文本框 3">
            <a:extLst>
              <a:ext uri="{FF2B5EF4-FFF2-40B4-BE49-F238E27FC236}">
                <a16:creationId xmlns:a16="http://schemas.microsoft.com/office/drawing/2014/main" id="{0DC3B979-BF6A-2DA4-86BD-0EFB97357FCC}"/>
              </a:ext>
            </a:extLst>
          </p:cNvPr>
          <p:cNvSpPr txBox="1"/>
          <p:nvPr/>
        </p:nvSpPr>
        <p:spPr>
          <a:xfrm>
            <a:off x="1039446" y="312615"/>
            <a:ext cx="6869723" cy="707886"/>
          </a:xfrm>
          <a:prstGeom prst="rect">
            <a:avLst/>
          </a:prstGeom>
          <a:noFill/>
        </p:spPr>
        <p:txBody>
          <a:bodyPr wrap="square" rtlCol="0">
            <a:spAutoFit/>
          </a:bodyPr>
          <a:lstStyle/>
          <a:p>
            <a:r>
              <a:rPr lang="zh-CN" altLang="en-US" sz="4000" b="1" dirty="0">
                <a:latin typeface="黑体" panose="02010609060101010101" pitchFamily="49" charset="-122"/>
                <a:ea typeface="黑体" panose="02010609060101010101" pitchFamily="49" charset="-122"/>
                <a:cs typeface="+mj-cs"/>
              </a:rPr>
              <a:t>蛋白质结构分析</a:t>
            </a:r>
          </a:p>
        </p:txBody>
      </p:sp>
    </p:spTree>
    <p:extLst>
      <p:ext uri="{BB962C8B-B14F-4D97-AF65-F5344CB8AC3E}">
        <p14:creationId xmlns:p14="http://schemas.microsoft.com/office/powerpoint/2010/main" val="60325735"/>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FDA1F559-1DEB-826A-6E17-EE74B4267E48}"/>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1623608136"/>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701E8713-3F83-5F58-B545-8CC08D5479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25600" y="4383056"/>
            <a:ext cx="5259816" cy="2537088"/>
          </a:xfrm>
          <a:prstGeom prst="rect">
            <a:avLst/>
          </a:prstGeom>
        </p:spPr>
      </p:pic>
      <p:pic>
        <p:nvPicPr>
          <p:cNvPr id="5" name="图片 4">
            <a:extLst>
              <a:ext uri="{FF2B5EF4-FFF2-40B4-BE49-F238E27FC236}">
                <a16:creationId xmlns:a16="http://schemas.microsoft.com/office/drawing/2014/main" id="{ADC73F66-88A4-7ABB-7105-E7F0247AA8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12078" y="1386436"/>
            <a:ext cx="6030100" cy="2908636"/>
          </a:xfrm>
          <a:prstGeom prst="rect">
            <a:avLst/>
          </a:prstGeom>
        </p:spPr>
      </p:pic>
      <p:pic>
        <p:nvPicPr>
          <p:cNvPr id="7" name="图片 6">
            <a:extLst>
              <a:ext uri="{FF2B5EF4-FFF2-40B4-BE49-F238E27FC236}">
                <a16:creationId xmlns:a16="http://schemas.microsoft.com/office/drawing/2014/main" id="{F01B67FB-277B-664E-EB16-E9E9B761949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33333" y="1442633"/>
            <a:ext cx="6009948" cy="2898916"/>
          </a:xfrm>
          <a:prstGeom prst="rect">
            <a:avLst/>
          </a:prstGeom>
        </p:spPr>
      </p:pic>
      <p:pic>
        <p:nvPicPr>
          <p:cNvPr id="9" name="图片 8">
            <a:extLst>
              <a:ext uri="{FF2B5EF4-FFF2-40B4-BE49-F238E27FC236}">
                <a16:creationId xmlns:a16="http://schemas.microsoft.com/office/drawing/2014/main" id="{00B7F73E-9289-3F77-A2AB-5CB5CF1A258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98203" y="4155689"/>
            <a:ext cx="5602351" cy="2702311"/>
          </a:xfrm>
          <a:prstGeom prst="rect">
            <a:avLst/>
          </a:prstGeom>
        </p:spPr>
      </p:pic>
      <p:pic>
        <p:nvPicPr>
          <p:cNvPr id="13" name="图片 12">
            <a:extLst>
              <a:ext uri="{FF2B5EF4-FFF2-40B4-BE49-F238E27FC236}">
                <a16:creationId xmlns:a16="http://schemas.microsoft.com/office/drawing/2014/main" id="{93449B79-ED70-743F-AB3C-C7E7F21380F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29828" y="1468209"/>
            <a:ext cx="6161016" cy="2971784"/>
          </a:xfrm>
          <a:prstGeom prst="rect">
            <a:avLst/>
          </a:prstGeom>
        </p:spPr>
      </p:pic>
      <p:pic>
        <p:nvPicPr>
          <p:cNvPr id="15" name="图片 14">
            <a:extLst>
              <a:ext uri="{FF2B5EF4-FFF2-40B4-BE49-F238E27FC236}">
                <a16:creationId xmlns:a16="http://schemas.microsoft.com/office/drawing/2014/main" id="{4AE351F1-14EA-CB5A-7B63-7D346C72A04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964191" y="4360948"/>
            <a:ext cx="5265433" cy="2539797"/>
          </a:xfrm>
          <a:prstGeom prst="rect">
            <a:avLst/>
          </a:prstGeom>
        </p:spPr>
      </p:pic>
      <p:pic>
        <p:nvPicPr>
          <p:cNvPr id="17" name="图片 16">
            <a:extLst>
              <a:ext uri="{FF2B5EF4-FFF2-40B4-BE49-F238E27FC236}">
                <a16:creationId xmlns:a16="http://schemas.microsoft.com/office/drawing/2014/main" id="{A55CF3A2-BA6A-46DD-3C64-22C631C7E34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751424" y="1550016"/>
            <a:ext cx="5690969" cy="2745056"/>
          </a:xfrm>
          <a:prstGeom prst="rect">
            <a:avLst/>
          </a:prstGeom>
        </p:spPr>
      </p:pic>
      <p:pic>
        <p:nvPicPr>
          <p:cNvPr id="19" name="图片 18">
            <a:extLst>
              <a:ext uri="{FF2B5EF4-FFF2-40B4-BE49-F238E27FC236}">
                <a16:creationId xmlns:a16="http://schemas.microsoft.com/office/drawing/2014/main" id="{E8BF35FA-69F2-7FB6-C3EC-0FB40C859C1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799905" y="4253341"/>
            <a:ext cx="5399902" cy="2604659"/>
          </a:xfrm>
          <a:prstGeom prst="rect">
            <a:avLst/>
          </a:prstGeom>
        </p:spPr>
      </p:pic>
      <p:sp>
        <p:nvSpPr>
          <p:cNvPr id="20" name="文本框 19">
            <a:extLst>
              <a:ext uri="{FF2B5EF4-FFF2-40B4-BE49-F238E27FC236}">
                <a16:creationId xmlns:a16="http://schemas.microsoft.com/office/drawing/2014/main" id="{4E931760-446E-A3DA-0281-C36A53B01980}"/>
              </a:ext>
            </a:extLst>
          </p:cNvPr>
          <p:cNvSpPr txBox="1"/>
          <p:nvPr/>
        </p:nvSpPr>
        <p:spPr>
          <a:xfrm>
            <a:off x="1039446" y="312615"/>
            <a:ext cx="6869723" cy="707886"/>
          </a:xfrm>
          <a:prstGeom prst="rect">
            <a:avLst/>
          </a:prstGeom>
          <a:noFill/>
        </p:spPr>
        <p:txBody>
          <a:bodyPr wrap="square" rtlCol="0">
            <a:spAutoFit/>
          </a:bodyPr>
          <a:lstStyle/>
          <a:p>
            <a:r>
              <a:rPr lang="zh-CN" altLang="en-US" sz="4000" b="1" dirty="0">
                <a:latin typeface="黑体" panose="02010609060101010101" pitchFamily="49" charset="-122"/>
                <a:ea typeface="黑体" panose="02010609060101010101" pitchFamily="49" charset="-122"/>
                <a:cs typeface="+mj-cs"/>
              </a:rPr>
              <a:t>蛋白质结构分析</a:t>
            </a:r>
          </a:p>
        </p:txBody>
      </p:sp>
    </p:spTree>
    <p:extLst>
      <p:ext uri="{BB962C8B-B14F-4D97-AF65-F5344CB8AC3E}">
        <p14:creationId xmlns:p14="http://schemas.microsoft.com/office/powerpoint/2010/main" val="2827016007"/>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文本框 1">
            <a:extLst>
              <a:ext uri="{FF2B5EF4-FFF2-40B4-BE49-F238E27FC236}">
                <a16:creationId xmlns:a16="http://schemas.microsoft.com/office/drawing/2014/main" id="{341BD22D-E6AB-65D3-A19B-3AF0D941C903}"/>
              </a:ext>
            </a:extLst>
          </p:cNvPr>
          <p:cNvSpPr txBox="1">
            <a:spLocks noChangeArrowheads="1"/>
          </p:cNvSpPr>
          <p:nvPr/>
        </p:nvSpPr>
        <p:spPr bwMode="auto">
          <a:xfrm>
            <a:off x="2619375" y="620713"/>
            <a:ext cx="345598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2"/>
                </a:solidFill>
                <a:latin typeface="Times New Roman" panose="02020603050405020304" pitchFamily="18" charset="0"/>
                <a:ea typeface="楷体_GB2312" pitchFamily="49" charset="-122"/>
              </a:defRPr>
            </a:lvl1pPr>
            <a:lvl2pPr marL="742950" indent="-285750">
              <a:defRPr sz="2400" b="1">
                <a:solidFill>
                  <a:schemeClr val="tx2"/>
                </a:solidFill>
                <a:latin typeface="Times New Roman" panose="02020603050405020304" pitchFamily="18" charset="0"/>
                <a:ea typeface="楷体_GB2312" pitchFamily="49" charset="-122"/>
              </a:defRPr>
            </a:lvl2pPr>
            <a:lvl3pPr marL="1143000" indent="-228600">
              <a:defRPr sz="2400" b="1">
                <a:solidFill>
                  <a:schemeClr val="tx2"/>
                </a:solidFill>
                <a:latin typeface="Times New Roman" panose="02020603050405020304" pitchFamily="18" charset="0"/>
                <a:ea typeface="楷体_GB2312" pitchFamily="49" charset="-122"/>
              </a:defRPr>
            </a:lvl3pPr>
            <a:lvl4pPr marL="1600200" indent="-228600">
              <a:defRPr sz="2400" b="1">
                <a:solidFill>
                  <a:schemeClr val="tx2"/>
                </a:solidFill>
                <a:latin typeface="Times New Roman" panose="02020603050405020304" pitchFamily="18" charset="0"/>
                <a:ea typeface="楷体_GB2312" pitchFamily="49" charset="-122"/>
              </a:defRPr>
            </a:lvl4pPr>
            <a:lvl5pPr marL="2057400" indent="-228600">
              <a:defRPr sz="2400" b="1">
                <a:solidFill>
                  <a:schemeClr val="tx2"/>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b="1">
                <a:solidFill>
                  <a:schemeClr val="tx2"/>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b="1">
                <a:solidFill>
                  <a:schemeClr val="tx2"/>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b="1">
                <a:solidFill>
                  <a:schemeClr val="tx2"/>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b="1">
                <a:solidFill>
                  <a:schemeClr val="tx2"/>
                </a:solidFill>
                <a:latin typeface="Times New Roman" panose="02020603050405020304" pitchFamily="18" charset="0"/>
                <a:ea typeface="楷体_GB2312" pitchFamily="49" charset="-122"/>
              </a:defRPr>
            </a:lvl9pPr>
          </a:lstStyle>
          <a:p>
            <a:r>
              <a:rPr lang="zh-CN" altLang="en-US" sz="3600"/>
              <a:t>习题</a:t>
            </a:r>
          </a:p>
        </p:txBody>
      </p:sp>
      <p:sp>
        <p:nvSpPr>
          <p:cNvPr id="50179" name="文本框 2">
            <a:extLst>
              <a:ext uri="{FF2B5EF4-FFF2-40B4-BE49-F238E27FC236}">
                <a16:creationId xmlns:a16="http://schemas.microsoft.com/office/drawing/2014/main" id="{6CD34B64-65EA-51E9-34CA-699CDC4356F7}"/>
              </a:ext>
            </a:extLst>
          </p:cNvPr>
          <p:cNvSpPr txBox="1">
            <a:spLocks noChangeArrowheads="1"/>
          </p:cNvSpPr>
          <p:nvPr/>
        </p:nvSpPr>
        <p:spPr bwMode="auto">
          <a:xfrm>
            <a:off x="2566988" y="1700214"/>
            <a:ext cx="7561262" cy="2241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2"/>
                </a:solidFill>
                <a:latin typeface="Times New Roman" panose="02020603050405020304" pitchFamily="18" charset="0"/>
                <a:ea typeface="楷体_GB2312" pitchFamily="49" charset="-122"/>
              </a:defRPr>
            </a:lvl1pPr>
            <a:lvl2pPr marL="742950" indent="-285750">
              <a:defRPr sz="2400" b="1">
                <a:solidFill>
                  <a:schemeClr val="tx2"/>
                </a:solidFill>
                <a:latin typeface="Times New Roman" panose="02020603050405020304" pitchFamily="18" charset="0"/>
                <a:ea typeface="楷体_GB2312" pitchFamily="49" charset="-122"/>
              </a:defRPr>
            </a:lvl2pPr>
            <a:lvl3pPr marL="1143000" indent="-228600">
              <a:defRPr sz="2400" b="1">
                <a:solidFill>
                  <a:schemeClr val="tx2"/>
                </a:solidFill>
                <a:latin typeface="Times New Roman" panose="02020603050405020304" pitchFamily="18" charset="0"/>
                <a:ea typeface="楷体_GB2312" pitchFamily="49" charset="-122"/>
              </a:defRPr>
            </a:lvl3pPr>
            <a:lvl4pPr marL="1600200" indent="-228600">
              <a:defRPr sz="2400" b="1">
                <a:solidFill>
                  <a:schemeClr val="tx2"/>
                </a:solidFill>
                <a:latin typeface="Times New Roman" panose="02020603050405020304" pitchFamily="18" charset="0"/>
                <a:ea typeface="楷体_GB2312" pitchFamily="49" charset="-122"/>
              </a:defRPr>
            </a:lvl4pPr>
            <a:lvl5pPr marL="2057400" indent="-228600">
              <a:defRPr sz="2400" b="1">
                <a:solidFill>
                  <a:schemeClr val="tx2"/>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b="1">
                <a:solidFill>
                  <a:schemeClr val="tx2"/>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b="1">
                <a:solidFill>
                  <a:schemeClr val="tx2"/>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b="1">
                <a:solidFill>
                  <a:schemeClr val="tx2"/>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b="1">
                <a:solidFill>
                  <a:schemeClr val="tx2"/>
                </a:solidFill>
                <a:latin typeface="Times New Roman" panose="02020603050405020304" pitchFamily="18" charset="0"/>
                <a:ea typeface="楷体_GB2312" pitchFamily="49" charset="-122"/>
              </a:defRPr>
            </a:lvl9pPr>
          </a:lstStyle>
          <a:p>
            <a:pPr marL="457200" indent="-457200">
              <a:lnSpc>
                <a:spcPct val="150000"/>
              </a:lnSpc>
              <a:buAutoNum type="arabicPeriod"/>
            </a:pPr>
            <a:r>
              <a:rPr lang="zh-CN" altLang="en-US" dirty="0"/>
              <a:t>维持蛋白质二级、三级以至四级结构的非共价化学键有哪些？其中数量最为庞大的是哪些？除肽键外，维持蛋白质构象的另一共价键是什么？</a:t>
            </a:r>
            <a:endParaRPr lang="en-US" altLang="zh-CN" dirty="0"/>
          </a:p>
          <a:p>
            <a:pPr>
              <a:lnSpc>
                <a:spcPct val="150000"/>
              </a:lnSpc>
            </a:pPr>
            <a:endParaRPr lang="zh-CN" altLang="en-US" dirty="0"/>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9F658063-5887-7067-C4B1-06ED1196A2DA}"/>
              </a:ext>
            </a:extLst>
          </p:cNvPr>
          <p:cNvSpPr txBox="1"/>
          <p:nvPr/>
        </p:nvSpPr>
        <p:spPr>
          <a:xfrm>
            <a:off x="142009" y="595204"/>
            <a:ext cx="11907982" cy="5014963"/>
          </a:xfrm>
          <a:prstGeom prst="rect">
            <a:avLst/>
          </a:prstGeom>
          <a:noFill/>
        </p:spPr>
        <p:txBody>
          <a:bodyPr wrap="square">
            <a:spAutoFit/>
          </a:bodyPr>
          <a:lstStyle/>
          <a:p>
            <a:pPr>
              <a:lnSpc>
                <a:spcPct val="150000"/>
              </a:lnSpc>
            </a:pPr>
            <a:r>
              <a:rPr lang="en-US" altLang="zh-CN" sz="2400" b="1" dirty="0">
                <a:solidFill>
                  <a:schemeClr val="tx2"/>
                </a:solidFill>
                <a:latin typeface="Times New Roman" panose="02020603050405020304" pitchFamily="18" charset="0"/>
                <a:ea typeface="楷体_GB2312" pitchFamily="49" charset="-122"/>
              </a:rPr>
              <a:t>2.</a:t>
            </a:r>
            <a:r>
              <a:rPr lang="zh-CN" altLang="en-US" sz="2400" b="1" dirty="0">
                <a:solidFill>
                  <a:schemeClr val="tx2"/>
                </a:solidFill>
                <a:latin typeface="Times New Roman" panose="02020603050405020304" pitchFamily="18" charset="0"/>
                <a:ea typeface="楷体_GB2312" pitchFamily="49" charset="-122"/>
              </a:rPr>
              <a:t>某蛋白质由 </a:t>
            </a:r>
            <a:r>
              <a:rPr lang="en-US" altLang="zh-CN" sz="2400" b="1" dirty="0">
                <a:solidFill>
                  <a:schemeClr val="tx2"/>
                </a:solidFill>
                <a:latin typeface="Times New Roman" panose="02020603050405020304" pitchFamily="18" charset="0"/>
                <a:ea typeface="楷体_GB2312" pitchFamily="49" charset="-122"/>
              </a:rPr>
              <a:t>120 </a:t>
            </a:r>
            <a:r>
              <a:rPr lang="zh-CN" altLang="en-US" sz="2400" b="1" dirty="0">
                <a:solidFill>
                  <a:schemeClr val="tx2"/>
                </a:solidFill>
                <a:latin typeface="Times New Roman" panose="02020603050405020304" pitchFamily="18" charset="0"/>
                <a:ea typeface="楷体_GB2312" pitchFamily="49" charset="-122"/>
              </a:rPr>
              <a:t>个氨基酸组成，其中第 </a:t>
            </a:r>
            <a:r>
              <a:rPr lang="en-US" altLang="zh-CN" sz="2400" b="1" dirty="0">
                <a:solidFill>
                  <a:schemeClr val="tx2"/>
                </a:solidFill>
                <a:latin typeface="Times New Roman" panose="02020603050405020304" pitchFamily="18" charset="0"/>
                <a:ea typeface="楷体_GB2312" pitchFamily="49" charset="-122"/>
              </a:rPr>
              <a:t>40–55 </a:t>
            </a:r>
            <a:r>
              <a:rPr lang="zh-CN" altLang="en-US" sz="2400" b="1" dirty="0">
                <a:solidFill>
                  <a:schemeClr val="tx2"/>
                </a:solidFill>
                <a:latin typeface="Times New Roman" panose="02020603050405020304" pitchFamily="18" charset="0"/>
                <a:ea typeface="楷体_GB2312" pitchFamily="49" charset="-122"/>
              </a:rPr>
              <a:t>位主要是疏水性氨基酸（如亮氨酸、异亮氨酸、缬氨酸）。在该蛋白质的天然状态下，这一段形成了 </a:t>
            </a:r>
            <a:r>
              <a:rPr lang="en-US" altLang="zh-CN" sz="2400" b="1" dirty="0">
                <a:solidFill>
                  <a:schemeClr val="tx2"/>
                </a:solidFill>
                <a:latin typeface="Times New Roman" panose="02020603050405020304" pitchFamily="18" charset="0"/>
                <a:ea typeface="楷体_GB2312" pitchFamily="49" charset="-122"/>
              </a:rPr>
              <a:t>α-</a:t>
            </a:r>
            <a:r>
              <a:rPr lang="zh-CN" altLang="en-US" sz="2400" b="1" dirty="0">
                <a:solidFill>
                  <a:schemeClr val="tx2"/>
                </a:solidFill>
                <a:latin typeface="Times New Roman" panose="02020603050405020304" pitchFamily="18" charset="0"/>
                <a:ea typeface="楷体_GB2312" pitchFamily="49" charset="-122"/>
              </a:rPr>
              <a:t>螺旋，并埋藏在蛋白质分子内部。</a:t>
            </a:r>
          </a:p>
          <a:p>
            <a:pPr marL="457200" indent="-457200">
              <a:lnSpc>
                <a:spcPct val="150000"/>
              </a:lnSpc>
              <a:buAutoNum type="arabicPeriod"/>
            </a:pPr>
            <a:r>
              <a:rPr lang="zh-CN" altLang="en-US" sz="2400" b="1" dirty="0">
                <a:solidFill>
                  <a:schemeClr val="tx2"/>
                </a:solidFill>
                <a:latin typeface="Times New Roman" panose="02020603050405020304" pitchFamily="18" charset="0"/>
                <a:ea typeface="楷体_GB2312" pitchFamily="49" charset="-122"/>
              </a:rPr>
              <a:t>请回答以下问题：</a:t>
            </a:r>
          </a:p>
          <a:p>
            <a:pPr marL="457200" indent="-457200">
              <a:lnSpc>
                <a:spcPct val="150000"/>
              </a:lnSpc>
              <a:buFont typeface="+mj-lt"/>
              <a:buAutoNum type="arabicPeriod"/>
            </a:pPr>
            <a:r>
              <a:rPr lang="zh-CN" altLang="en-US" sz="2400" b="1" dirty="0">
                <a:solidFill>
                  <a:schemeClr val="tx2"/>
                </a:solidFill>
                <a:latin typeface="Times New Roman" panose="02020603050405020304" pitchFamily="18" charset="0"/>
                <a:ea typeface="楷体_GB2312" pitchFamily="49" charset="-122"/>
              </a:rPr>
              <a:t>该蛋白质的一级结构指的是什么？能否从一级结构推断它具有 </a:t>
            </a:r>
            <a:r>
              <a:rPr lang="en-US" altLang="zh-CN" sz="2400" b="1" dirty="0">
                <a:solidFill>
                  <a:schemeClr val="tx2"/>
                </a:solidFill>
                <a:latin typeface="Times New Roman" panose="02020603050405020304" pitchFamily="18" charset="0"/>
                <a:ea typeface="楷体_GB2312" pitchFamily="49" charset="-122"/>
              </a:rPr>
              <a:t>α-</a:t>
            </a:r>
            <a:r>
              <a:rPr lang="zh-CN" altLang="en-US" sz="2400" b="1" dirty="0">
                <a:solidFill>
                  <a:schemeClr val="tx2"/>
                </a:solidFill>
                <a:latin typeface="Times New Roman" panose="02020603050405020304" pitchFamily="18" charset="0"/>
                <a:ea typeface="楷体_GB2312" pitchFamily="49" charset="-122"/>
              </a:rPr>
              <a:t>螺旋？</a:t>
            </a:r>
          </a:p>
          <a:p>
            <a:pPr marL="457200" indent="-457200">
              <a:lnSpc>
                <a:spcPct val="150000"/>
              </a:lnSpc>
              <a:buFont typeface="+mj-lt"/>
              <a:buAutoNum type="arabicPeriod"/>
            </a:pPr>
            <a:r>
              <a:rPr lang="zh-CN" altLang="en-US" sz="2400" b="1" dirty="0">
                <a:solidFill>
                  <a:schemeClr val="tx2"/>
                </a:solidFill>
                <a:latin typeface="Times New Roman" panose="02020603050405020304" pitchFamily="18" charset="0"/>
                <a:ea typeface="楷体_GB2312" pitchFamily="49" charset="-122"/>
              </a:rPr>
              <a:t>为什么第 </a:t>
            </a:r>
            <a:r>
              <a:rPr lang="en-US" altLang="zh-CN" sz="2400" b="1" dirty="0">
                <a:solidFill>
                  <a:schemeClr val="tx2"/>
                </a:solidFill>
                <a:latin typeface="Times New Roman" panose="02020603050405020304" pitchFamily="18" charset="0"/>
                <a:ea typeface="楷体_GB2312" pitchFamily="49" charset="-122"/>
              </a:rPr>
              <a:t>40–55 </a:t>
            </a:r>
            <a:r>
              <a:rPr lang="zh-CN" altLang="en-US" sz="2400" b="1" dirty="0">
                <a:solidFill>
                  <a:schemeClr val="tx2"/>
                </a:solidFill>
                <a:latin typeface="Times New Roman" panose="02020603050405020304" pitchFamily="18" charset="0"/>
                <a:ea typeface="楷体_GB2312" pitchFamily="49" charset="-122"/>
              </a:rPr>
              <a:t>位这段容易形成 </a:t>
            </a:r>
            <a:r>
              <a:rPr lang="en-US" altLang="zh-CN" sz="2400" b="1" dirty="0">
                <a:solidFill>
                  <a:schemeClr val="tx2"/>
                </a:solidFill>
                <a:latin typeface="Times New Roman" panose="02020603050405020304" pitchFamily="18" charset="0"/>
                <a:ea typeface="楷体_GB2312" pitchFamily="49" charset="-122"/>
              </a:rPr>
              <a:t>α-</a:t>
            </a:r>
            <a:r>
              <a:rPr lang="zh-CN" altLang="en-US" sz="2400" b="1" dirty="0">
                <a:solidFill>
                  <a:schemeClr val="tx2"/>
                </a:solidFill>
                <a:latin typeface="Times New Roman" panose="02020603050405020304" pitchFamily="18" charset="0"/>
                <a:ea typeface="楷体_GB2312" pitchFamily="49" charset="-122"/>
              </a:rPr>
              <a:t>螺旋？请结合氢键和氨基酸性质说明。</a:t>
            </a:r>
          </a:p>
          <a:p>
            <a:pPr marL="457200" indent="-457200">
              <a:lnSpc>
                <a:spcPct val="150000"/>
              </a:lnSpc>
              <a:buFont typeface="+mj-lt"/>
              <a:buAutoNum type="arabicPeriod"/>
            </a:pPr>
            <a:r>
              <a:rPr lang="zh-CN" altLang="en-US" sz="2400" b="1" dirty="0">
                <a:solidFill>
                  <a:schemeClr val="tx2"/>
                </a:solidFill>
                <a:latin typeface="Times New Roman" panose="02020603050405020304" pitchFamily="18" charset="0"/>
                <a:ea typeface="楷体_GB2312" pitchFamily="49" charset="-122"/>
              </a:rPr>
              <a:t>为什么这一段 </a:t>
            </a:r>
            <a:r>
              <a:rPr lang="en-US" altLang="zh-CN" sz="2400" b="1" dirty="0">
                <a:solidFill>
                  <a:schemeClr val="tx2"/>
                </a:solidFill>
                <a:latin typeface="Times New Roman" panose="02020603050405020304" pitchFamily="18" charset="0"/>
                <a:ea typeface="楷体_GB2312" pitchFamily="49" charset="-122"/>
              </a:rPr>
              <a:t>α-</a:t>
            </a:r>
            <a:r>
              <a:rPr lang="zh-CN" altLang="en-US" sz="2400" b="1" dirty="0">
                <a:solidFill>
                  <a:schemeClr val="tx2"/>
                </a:solidFill>
                <a:latin typeface="Times New Roman" panose="02020603050405020304" pitchFamily="18" charset="0"/>
                <a:ea typeface="楷体_GB2312" pitchFamily="49" charset="-122"/>
              </a:rPr>
              <a:t>螺旋会埋藏在蛋白质内部，而不是暴露在外表？这属于哪一级结构的体现？</a:t>
            </a:r>
          </a:p>
          <a:p>
            <a:pPr marL="457200" indent="-457200">
              <a:lnSpc>
                <a:spcPct val="150000"/>
              </a:lnSpc>
              <a:buFont typeface="+mj-lt"/>
              <a:buAutoNum type="arabicPeriod"/>
            </a:pPr>
            <a:r>
              <a:rPr lang="zh-CN" altLang="en-US" sz="2400" b="1" dirty="0">
                <a:solidFill>
                  <a:schemeClr val="tx2"/>
                </a:solidFill>
                <a:latin typeface="Times New Roman" panose="02020603050405020304" pitchFamily="18" charset="0"/>
                <a:ea typeface="楷体_GB2312" pitchFamily="49" charset="-122"/>
              </a:rPr>
              <a:t>如果该蛋白质与另一个相同分子形成二聚体，这一现象属于哪一级结构？</a:t>
            </a:r>
          </a:p>
        </p:txBody>
      </p:sp>
    </p:spTree>
    <p:extLst>
      <p:ext uri="{BB962C8B-B14F-4D97-AF65-F5344CB8AC3E}">
        <p14:creationId xmlns:p14="http://schemas.microsoft.com/office/powerpoint/2010/main" val="908895435"/>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2A2F8F56-AFDF-CDA2-0F01-86EDC017852F}"/>
              </a:ext>
            </a:extLst>
          </p:cNvPr>
          <p:cNvSpPr>
            <a:spLocks noGrp="1" noChangeArrowheads="1"/>
          </p:cNvSpPr>
          <p:nvPr>
            <p:ph type="title" idx="4294967295"/>
          </p:nvPr>
        </p:nvSpPr>
        <p:spPr>
          <a:xfrm>
            <a:off x="2424113" y="1916113"/>
            <a:ext cx="7772400" cy="1143000"/>
          </a:xfrm>
          <a:solidFill>
            <a:srgbClr val="FFCCFF"/>
          </a:solidFill>
          <a:effectLst>
            <a:outerShdw dist="107763" dir="2700000" algn="ctr" rotWithShape="0">
              <a:schemeClr val="bg2">
                <a:alpha val="50000"/>
              </a:schemeClr>
            </a:outerShdw>
          </a:effectLst>
        </p:spPr>
        <p:txBody>
          <a:bodyPr/>
          <a:lstStyle/>
          <a:p>
            <a:pPr algn="ctr" eaLnBrk="1" hangingPunct="1"/>
            <a:r>
              <a:rPr lang="zh-CN" altLang="en-US" sz="4000" b="1" dirty="0">
                <a:solidFill>
                  <a:schemeClr val="tx1"/>
                </a:solidFill>
                <a:latin typeface="黑体" panose="02010609060101010101" pitchFamily="49" charset="-122"/>
                <a:ea typeface="黑体" panose="02010609060101010101" pitchFamily="49" charset="-122"/>
              </a:rPr>
              <a:t>第四节  蛋白质结构</a:t>
            </a:r>
            <a:r>
              <a:rPr lang="zh-CN" altLang="en-US" sz="4000" b="1" dirty="0">
                <a:solidFill>
                  <a:schemeClr val="tx1"/>
                </a:solidFill>
                <a:latin typeface="黑体" panose="02010609060101010101" pitchFamily="49" charset="-122"/>
                <a:ea typeface="黑体" panose="02010609060101010101" pitchFamily="49" charset="-122"/>
                <a:sym typeface="Arial" panose="020B0604020202020204" pitchFamily="34" charset="0"/>
              </a:rPr>
              <a:t>与功能关系</a:t>
            </a:r>
          </a:p>
        </p:txBody>
      </p:sp>
      <p:sp>
        <p:nvSpPr>
          <p:cNvPr id="162819" name="Text Box 3">
            <a:extLst>
              <a:ext uri="{FF2B5EF4-FFF2-40B4-BE49-F238E27FC236}">
                <a16:creationId xmlns:a16="http://schemas.microsoft.com/office/drawing/2014/main" id="{CA87B31C-A71B-7FDD-1B69-892FEDDEA290}"/>
              </a:ext>
            </a:extLst>
          </p:cNvPr>
          <p:cNvSpPr txBox="1">
            <a:spLocks noChangeArrowheads="1"/>
          </p:cNvSpPr>
          <p:nvPr/>
        </p:nvSpPr>
        <p:spPr bwMode="auto">
          <a:xfrm>
            <a:off x="2309813" y="3429000"/>
            <a:ext cx="8062912"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3400" indent="-533400">
              <a:spcBef>
                <a:spcPct val="20000"/>
              </a:spcBef>
              <a:buClr>
                <a:srgbClr val="0033CC"/>
              </a:buClr>
              <a:buSzPct val="90000"/>
              <a:buFont typeface="Wingdings" panose="05000000000000000000" pitchFamily="2" charset="2"/>
              <a:buBlip>
                <a:blip r:embed="rId2"/>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lang="en-US" altLang="zh-CN" b="1">
                <a:solidFill>
                  <a:srgbClr val="000000"/>
                </a:solidFill>
                <a:latin typeface="Times New Roman" panose="02020603050405020304" pitchFamily="18" charset="0"/>
                <a:sym typeface="Arial" panose="020B0604020202020204" pitchFamily="34" charset="0"/>
              </a:rPr>
              <a:t>Section </a:t>
            </a:r>
            <a:r>
              <a:rPr lang="zh-CN" altLang="en-US" b="1">
                <a:solidFill>
                  <a:srgbClr val="000000"/>
                </a:solidFill>
                <a:latin typeface="Times New Roman" panose="02020603050405020304" pitchFamily="18" charset="0"/>
                <a:sym typeface="Arial" panose="020B0604020202020204" pitchFamily="34" charset="0"/>
              </a:rPr>
              <a:t>4   The Relationship between Protein Structure and Function</a:t>
            </a:r>
          </a:p>
          <a:p>
            <a:pPr algn="ctr" fontAlgn="base">
              <a:spcBef>
                <a:spcPct val="0"/>
              </a:spcBef>
              <a:spcAft>
                <a:spcPct val="0"/>
              </a:spcAft>
              <a:buClrTx/>
              <a:buSzTx/>
              <a:buNone/>
            </a:pPr>
            <a:endParaRPr lang="zh-CN" altLang="en-US" b="1">
              <a:solidFill>
                <a:srgbClr val="000000"/>
              </a:solidFill>
              <a:latin typeface="Times New Roman" panose="02020603050405020304" pitchFamily="18" charset="0"/>
              <a:sym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12642"/>
                                        </p:tgtEl>
                                        <p:attrNameLst>
                                          <p:attrName>style.visibility</p:attrName>
                                        </p:attrNameLst>
                                      </p:cBhvr>
                                      <p:to>
                                        <p:strVal val="visible"/>
                                      </p:to>
                                    </p:set>
                                    <p:anim calcmode="lin" valueType="num">
                                      <p:cBhvr additive="base">
                                        <p:cTn id="7" dur="500" fill="hold"/>
                                        <p:tgtEl>
                                          <p:spTgt spid="112642"/>
                                        </p:tgtEl>
                                        <p:attrNameLst>
                                          <p:attrName>ppt_x</p:attrName>
                                        </p:attrNameLst>
                                      </p:cBhvr>
                                      <p:tavLst>
                                        <p:tav tm="0">
                                          <p:val>
                                            <p:strVal val="0-#ppt_w/2"/>
                                          </p:val>
                                        </p:tav>
                                        <p:tav tm="100000">
                                          <p:val>
                                            <p:strVal val="#ppt_x"/>
                                          </p:val>
                                        </p:tav>
                                      </p:tavLst>
                                    </p:anim>
                                    <p:anim calcmode="lin" valueType="num">
                                      <p:cBhvr additive="base">
                                        <p:cTn id="8" dur="500" fill="hold"/>
                                        <p:tgtEl>
                                          <p:spTgt spid="11264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2"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E72AB489-A4B2-9FE7-AA4B-60AC6533CAD0}"/>
              </a:ext>
            </a:extLst>
          </p:cNvPr>
          <p:cNvSpPr>
            <a:spLocks noGrp="1" noChangeArrowheads="1"/>
          </p:cNvSpPr>
          <p:nvPr>
            <p:ph idx="1"/>
          </p:nvPr>
        </p:nvSpPr>
        <p:spPr>
          <a:xfrm>
            <a:off x="2136775" y="1701801"/>
            <a:ext cx="8216900" cy="4530725"/>
          </a:xfrm>
        </p:spPr>
        <p:txBody>
          <a:bodyPr/>
          <a:lstStyle/>
          <a:p>
            <a:pPr>
              <a:lnSpc>
                <a:spcPct val="150000"/>
              </a:lnSpc>
              <a:buSzTx/>
              <a:buFont typeface="Wingdings" panose="05000000000000000000" pitchFamily="2" charset="2"/>
              <a:buChar char="u"/>
              <a:defRPr/>
            </a:pPr>
            <a:r>
              <a:rPr lang="zh-CN" altLang="en-US" sz="3200" b="1" dirty="0">
                <a:latin typeface="宋体" panose="02010600030101010101" pitchFamily="2" charset="-122"/>
              </a:rPr>
              <a:t>蛋白质的构象是可变的</a:t>
            </a:r>
          </a:p>
          <a:p>
            <a:pPr>
              <a:lnSpc>
                <a:spcPct val="150000"/>
              </a:lnSpc>
              <a:buSzTx/>
              <a:buFont typeface="Wingdings" panose="05000000000000000000" pitchFamily="2" charset="2"/>
              <a:buChar char="u"/>
              <a:defRPr/>
            </a:pPr>
            <a:r>
              <a:rPr lang="zh-CN" altLang="en-US" sz="3200" b="1" dirty="0">
                <a:latin typeface="宋体" panose="02010600030101010101" pitchFamily="2" charset="-122"/>
              </a:rPr>
              <a:t>蛋白质的构象运动不仅出现在原有的一级结构不变的蛋白质中，而且广泛存在和作用于经共价和非共价修饰后的蛋白质中</a:t>
            </a:r>
          </a:p>
          <a:p>
            <a:pPr marL="0" indent="0">
              <a:lnSpc>
                <a:spcPts val="4000"/>
              </a:lnSpc>
              <a:buSzTx/>
              <a:buNone/>
              <a:defRPr/>
            </a:pPr>
            <a:endParaRPr lang="zh-CN" altLang="zh-CN" b="1" dirty="0">
              <a:latin typeface="宋体" panose="02010600030101010101" pitchFamily="2" charset="-122"/>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08920B2E-C538-4804-274F-6CB20D62780C}"/>
              </a:ext>
            </a:extLst>
          </p:cNvPr>
          <p:cNvSpPr>
            <a:spLocks noGrp="1" noChangeArrowheads="1"/>
          </p:cNvSpPr>
          <p:nvPr>
            <p:ph idx="1"/>
          </p:nvPr>
        </p:nvSpPr>
        <p:spPr>
          <a:xfrm>
            <a:off x="1992314" y="1341439"/>
            <a:ext cx="8218487" cy="4530725"/>
          </a:xfrm>
        </p:spPr>
        <p:txBody>
          <a:bodyPr/>
          <a:lstStyle/>
          <a:p>
            <a:pPr marL="0" indent="0">
              <a:lnSpc>
                <a:spcPts val="4000"/>
              </a:lnSpc>
              <a:buSzTx/>
              <a:buNone/>
              <a:defRPr/>
            </a:pPr>
            <a:endParaRPr lang="zh-CN" altLang="zh-CN" b="1" dirty="0">
              <a:latin typeface="宋体" panose="02010600030101010101" pitchFamily="2" charset="-122"/>
            </a:endParaRPr>
          </a:p>
          <a:p>
            <a:pPr>
              <a:lnSpc>
                <a:spcPct val="150000"/>
              </a:lnSpc>
              <a:buSzTx/>
              <a:buFont typeface="Wingdings" panose="05000000000000000000" pitchFamily="2" charset="2"/>
              <a:buChar char="u"/>
              <a:defRPr/>
            </a:pPr>
            <a:r>
              <a:rPr lang="zh-CN" b="1" dirty="0">
                <a:solidFill>
                  <a:srgbClr val="0000FF"/>
                </a:solidFill>
                <a:latin typeface="宋体" panose="02010600030101010101" pitchFamily="2" charset="-122"/>
              </a:rPr>
              <a:t>别构效应</a:t>
            </a:r>
            <a:r>
              <a:rPr lang="zh-CN" b="1" dirty="0">
                <a:latin typeface="宋体" panose="02010600030101010101" pitchFamily="2" charset="-122"/>
              </a:rPr>
              <a:t>（</a:t>
            </a:r>
            <a:r>
              <a:rPr lang="zh-CN" altLang="zh-CN" b="1" dirty="0">
                <a:latin typeface="Times New Roman" panose="02020603050405020304" pitchFamily="18" charset="0"/>
              </a:rPr>
              <a:t>allosteric effect</a:t>
            </a:r>
            <a:r>
              <a:rPr lang="zh-CN" b="1" dirty="0">
                <a:latin typeface="宋体" panose="02010600030101010101" pitchFamily="2" charset="-122"/>
              </a:rPr>
              <a:t>）又称为变构效应，是蛋白质与配基（或配体、效应物）结合改变蛋白质的构象，导致蛋白质生物活性改变的现象。影响蛋白质活性的物质称为别构配体或别构效应物</a:t>
            </a: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a:extLst>
              <a:ext uri="{FF2B5EF4-FFF2-40B4-BE49-F238E27FC236}">
                <a16:creationId xmlns:a16="http://schemas.microsoft.com/office/drawing/2014/main" id="{C18E749D-F99B-70E7-14C3-06D07A061981}"/>
              </a:ext>
            </a:extLst>
          </p:cNvPr>
          <p:cNvSpPr>
            <a:spLocks noGrp="1" noChangeArrowheads="1"/>
          </p:cNvSpPr>
          <p:nvPr>
            <p:ph idx="1"/>
          </p:nvPr>
        </p:nvSpPr>
        <p:spPr/>
        <p:txBody>
          <a:bodyPr/>
          <a:lstStyle/>
          <a:p>
            <a:pPr>
              <a:lnSpc>
                <a:spcPct val="150000"/>
              </a:lnSpc>
              <a:buSzPct val="100000"/>
              <a:buFont typeface="Wingdings" panose="05000000000000000000" pitchFamily="2" charset="2"/>
              <a:buChar char="u"/>
            </a:pPr>
            <a:r>
              <a:rPr lang="zh-CN" altLang="en-US" b="1"/>
              <a:t>别构效应可分为同促效应和异促效应两类。</a:t>
            </a:r>
          </a:p>
          <a:p>
            <a:pPr>
              <a:lnSpc>
                <a:spcPct val="150000"/>
              </a:lnSpc>
              <a:buSzPct val="100000"/>
              <a:buFont typeface="Wingdings" panose="05000000000000000000" pitchFamily="2" charset="2"/>
              <a:buChar char="u"/>
            </a:pPr>
            <a:r>
              <a:rPr lang="zh-CN" altLang="en-US" b="1"/>
              <a:t>当一个效应物分子与蛋白质结合之后，影响另一相同的效应物分子与蛋白质的另一部位结合称为同促效应</a:t>
            </a:r>
          </a:p>
          <a:p>
            <a:pPr>
              <a:lnSpc>
                <a:spcPct val="150000"/>
              </a:lnSpc>
              <a:buSzPct val="100000"/>
              <a:buFont typeface="Wingdings" panose="05000000000000000000" pitchFamily="2" charset="2"/>
              <a:buChar char="u"/>
            </a:pPr>
            <a:r>
              <a:rPr lang="zh-CN" altLang="en-US" b="1"/>
              <a:t>若一分子效应物和蛋白质结合之后，影响到另一不同的效应物分子与蛋白质的另一部位结合则称为异促效应</a:t>
            </a: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a:extLst>
              <a:ext uri="{FF2B5EF4-FFF2-40B4-BE49-F238E27FC236}">
                <a16:creationId xmlns:a16="http://schemas.microsoft.com/office/drawing/2014/main" id="{4DC026B0-980C-7672-7F91-B0A69F76FE5C}"/>
              </a:ext>
            </a:extLst>
          </p:cNvPr>
          <p:cNvSpPr>
            <a:spLocks noGrp="1" noChangeArrowheads="1"/>
          </p:cNvSpPr>
          <p:nvPr>
            <p:ph type="title"/>
          </p:nvPr>
        </p:nvSpPr>
        <p:spPr>
          <a:xfrm>
            <a:off x="2208214" y="277813"/>
            <a:ext cx="8461375" cy="1143000"/>
          </a:xfrm>
        </p:spPr>
        <p:txBody>
          <a:bodyPr/>
          <a:lstStyle/>
          <a:p>
            <a:r>
              <a:rPr lang="zh-CN" altLang="en-US" sz="3600" b="1">
                <a:solidFill>
                  <a:schemeClr val="tx1"/>
                </a:solidFill>
                <a:ea typeface="黑体" panose="02010609060101010101" pitchFamily="49" charset="-122"/>
              </a:rPr>
              <a:t>一、肌红蛋白和血红蛋白的结构与功能</a:t>
            </a:r>
          </a:p>
        </p:txBody>
      </p:sp>
      <p:sp>
        <p:nvSpPr>
          <p:cNvPr id="166915" name="Rectangle 3">
            <a:extLst>
              <a:ext uri="{FF2B5EF4-FFF2-40B4-BE49-F238E27FC236}">
                <a16:creationId xmlns:a16="http://schemas.microsoft.com/office/drawing/2014/main" id="{AC3B1951-9722-A63D-AA59-CBA1F94D17DB}"/>
              </a:ext>
            </a:extLst>
          </p:cNvPr>
          <p:cNvSpPr>
            <a:spLocks noGrp="1" noChangeArrowheads="1"/>
          </p:cNvSpPr>
          <p:nvPr>
            <p:ph idx="1"/>
          </p:nvPr>
        </p:nvSpPr>
        <p:spPr>
          <a:xfrm>
            <a:off x="2166939" y="1989139"/>
            <a:ext cx="3843337" cy="4530725"/>
          </a:xfrm>
        </p:spPr>
        <p:txBody>
          <a:bodyPr/>
          <a:lstStyle/>
          <a:p>
            <a:pPr marL="0" indent="0">
              <a:buNone/>
            </a:pPr>
            <a:r>
              <a:rPr lang="zh-CN" altLang="en-US" b="1" dirty="0">
                <a:latin typeface="楷体_GB2312" pitchFamily="49" charset="-122"/>
                <a:ea typeface="楷体_GB2312" pitchFamily="49" charset="-122"/>
              </a:rPr>
              <a:t>（一）肌红蛋白的结构与功能</a:t>
            </a:r>
          </a:p>
          <a:p>
            <a:pPr marL="0" indent="0">
              <a:buNone/>
            </a:pPr>
            <a:r>
              <a:rPr lang="zh-CN" altLang="en-US" b="1" dirty="0">
                <a:solidFill>
                  <a:srgbClr val="0000FF"/>
                </a:solidFill>
                <a:latin typeface="宋体" panose="02010600030101010101" pitchFamily="2" charset="-122"/>
              </a:rPr>
              <a:t>1.肌红蛋白的结构</a:t>
            </a:r>
          </a:p>
          <a:p>
            <a:pPr marL="0" indent="0" algn="just">
              <a:lnSpc>
                <a:spcPct val="115000"/>
              </a:lnSpc>
              <a:buSzPct val="100000"/>
              <a:buNone/>
            </a:pPr>
            <a:r>
              <a:rPr lang="zh-CN" altLang="en-US" b="1" dirty="0">
                <a:latin typeface="宋体" panose="02010600030101010101" pitchFamily="2" charset="-122"/>
              </a:rPr>
              <a:t>肌红蛋白是一个只有三级结构的单链蛋白质，有8段</a:t>
            </a:r>
            <a:r>
              <a:rPr lang="el-GR" altLang="en-US" b="1" dirty="0">
                <a:latin typeface="宋体" panose="02010600030101010101" pitchFamily="2" charset="-122"/>
              </a:rPr>
              <a:t>α</a:t>
            </a:r>
            <a:r>
              <a:rPr lang="zh-CN" altLang="en-US" b="1" dirty="0">
                <a:latin typeface="宋体" panose="02010600030101010101" pitchFamily="2" charset="-122"/>
              </a:rPr>
              <a:t>-螺旋结构。</a:t>
            </a:r>
          </a:p>
        </p:txBody>
      </p:sp>
      <p:pic>
        <p:nvPicPr>
          <p:cNvPr id="166916" name="Picture 4" descr="MB">
            <a:extLst>
              <a:ext uri="{FF2B5EF4-FFF2-40B4-BE49-F238E27FC236}">
                <a16:creationId xmlns:a16="http://schemas.microsoft.com/office/drawing/2014/main" id="{F301D259-2389-6D8D-F273-796623D296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69025" y="1989139"/>
            <a:ext cx="4248150" cy="453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a:extLst>
              <a:ext uri="{FF2B5EF4-FFF2-40B4-BE49-F238E27FC236}">
                <a16:creationId xmlns:a16="http://schemas.microsoft.com/office/drawing/2014/main" id="{788C0229-164E-62EE-D71A-2C9E371EE520}"/>
              </a:ext>
            </a:extLst>
          </p:cNvPr>
          <p:cNvSpPr>
            <a:spLocks noGrp="1" noChangeArrowheads="1"/>
          </p:cNvSpPr>
          <p:nvPr/>
        </p:nvSpPr>
        <p:spPr bwMode="auto">
          <a:xfrm>
            <a:off x="2208214" y="277813"/>
            <a:ext cx="84613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0033CC"/>
              </a:buClr>
              <a:buSzPct val="90000"/>
              <a:buFont typeface="Wingdings" panose="05000000000000000000" pitchFamily="2" charset="2"/>
              <a:buBlip>
                <a:blip r:embed="rId2"/>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ClrTx/>
              <a:buSzTx/>
              <a:buNone/>
            </a:pPr>
            <a:r>
              <a:rPr lang="zh-CN" altLang="en-US" sz="3600" b="1">
                <a:solidFill>
                  <a:srgbClr val="000000"/>
                </a:solidFill>
                <a:latin typeface="Times New Roman" panose="02020603050405020304" pitchFamily="18" charset="0"/>
                <a:ea typeface="黑体" panose="02010609060101010101" pitchFamily="49" charset="-122"/>
              </a:rPr>
              <a:t>一、肌红蛋白和血红蛋白的结构与功能</a:t>
            </a:r>
            <a:endParaRPr lang="zh-CN" altLang="en-US" sz="4200">
              <a:solidFill>
                <a:srgbClr val="660033"/>
              </a:solidFill>
              <a:latin typeface="Times New Roman" panose="02020603050405020304" pitchFamily="18" charset="0"/>
            </a:endParaRPr>
          </a:p>
        </p:txBody>
      </p:sp>
      <p:sp>
        <p:nvSpPr>
          <p:cNvPr id="167939" name="Text Box 3">
            <a:extLst>
              <a:ext uri="{FF2B5EF4-FFF2-40B4-BE49-F238E27FC236}">
                <a16:creationId xmlns:a16="http://schemas.microsoft.com/office/drawing/2014/main" id="{C77D5791-B324-7DCC-188D-F1E34F4DE6CB}"/>
              </a:ext>
            </a:extLst>
          </p:cNvPr>
          <p:cNvSpPr txBox="1">
            <a:spLocks noChangeArrowheads="1"/>
          </p:cNvSpPr>
          <p:nvPr/>
        </p:nvSpPr>
        <p:spPr bwMode="auto">
          <a:xfrm>
            <a:off x="2138363" y="1485901"/>
            <a:ext cx="4894262" cy="526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SzPct val="90000"/>
              <a:buFont typeface="Wingdings" panose="05000000000000000000" pitchFamily="2" charset="2"/>
              <a:buBlip>
                <a:blip r:embed="rId2"/>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fontAlgn="base">
              <a:lnSpc>
                <a:spcPct val="150000"/>
              </a:lnSpc>
              <a:spcBef>
                <a:spcPct val="0"/>
              </a:spcBef>
              <a:spcAft>
                <a:spcPct val="0"/>
              </a:spcAft>
              <a:buClrTx/>
              <a:buSzTx/>
              <a:buNone/>
            </a:pPr>
            <a:r>
              <a:rPr lang="zh-CN" altLang="en-US" b="1" dirty="0">
                <a:solidFill>
                  <a:srgbClr val="000000"/>
                </a:solidFill>
                <a:latin typeface="楷体_GB2312" pitchFamily="49" charset="-122"/>
                <a:ea typeface="楷体_GB2312" pitchFamily="49" charset="-122"/>
              </a:rPr>
              <a:t>（一）肌红蛋白的结构与功能</a:t>
            </a:r>
          </a:p>
          <a:p>
            <a:pPr fontAlgn="base">
              <a:lnSpc>
                <a:spcPct val="150000"/>
              </a:lnSpc>
              <a:spcBef>
                <a:spcPct val="0"/>
              </a:spcBef>
              <a:spcAft>
                <a:spcPct val="0"/>
              </a:spcAft>
              <a:buClrTx/>
              <a:buSzTx/>
              <a:buNone/>
            </a:pPr>
            <a:r>
              <a:rPr lang="zh-CN" altLang="en-US" b="1" dirty="0">
                <a:solidFill>
                  <a:srgbClr val="0000FF"/>
                </a:solidFill>
                <a:latin typeface="宋体" panose="02010600030101010101" pitchFamily="2" charset="-122"/>
              </a:rPr>
              <a:t>2.辅基血红素</a:t>
            </a:r>
            <a:r>
              <a:rPr lang="zh-CN" altLang="en-US" b="1" dirty="0">
                <a:solidFill>
                  <a:srgbClr val="000000"/>
                </a:solidFill>
                <a:latin typeface="宋体" panose="02010600030101010101" pitchFamily="2" charset="-122"/>
              </a:rPr>
              <a:t>：血红素分子中的两个丙酸侧链以离子键形式与肽链中的两个碱性氨基酸侧链上的正电荷相连，加之肽链中的组氨酸残基与Fe</a:t>
            </a:r>
            <a:r>
              <a:rPr lang="zh-CN" altLang="en-US" b="1" baseline="30000" dirty="0">
                <a:solidFill>
                  <a:srgbClr val="000000"/>
                </a:solidFill>
                <a:latin typeface="宋体" panose="02010600030101010101" pitchFamily="2" charset="-122"/>
              </a:rPr>
              <a:t>2+</a:t>
            </a:r>
            <a:r>
              <a:rPr lang="zh-CN" altLang="en-US" b="1" dirty="0">
                <a:solidFill>
                  <a:srgbClr val="000000"/>
                </a:solidFill>
                <a:latin typeface="宋体" panose="02010600030101010101" pitchFamily="2" charset="-122"/>
              </a:rPr>
              <a:t>形成配位结合，所以血红素辅基与蛋白质部分稳定结合。</a:t>
            </a:r>
          </a:p>
        </p:txBody>
      </p:sp>
      <p:pic>
        <p:nvPicPr>
          <p:cNvPr id="167940" name="Picture 4">
            <a:extLst>
              <a:ext uri="{FF2B5EF4-FFF2-40B4-BE49-F238E27FC236}">
                <a16:creationId xmlns:a16="http://schemas.microsoft.com/office/drawing/2014/main" id="{1F66D705-93E4-0FF7-7D90-EF501ACCBC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1189" y="2214563"/>
            <a:ext cx="3692525" cy="459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8962" name="Rectangle 2">
            <a:extLst>
              <a:ext uri="{FF2B5EF4-FFF2-40B4-BE49-F238E27FC236}">
                <a16:creationId xmlns:a16="http://schemas.microsoft.com/office/drawing/2014/main" id="{E8CAA5AC-6CA4-4BF2-8A23-A0788A53F718}"/>
              </a:ext>
            </a:extLst>
          </p:cNvPr>
          <p:cNvSpPr>
            <a:spLocks noChangeArrowheads="1"/>
          </p:cNvSpPr>
          <p:nvPr/>
        </p:nvSpPr>
        <p:spPr bwMode="auto">
          <a:xfrm>
            <a:off x="1919288" y="333376"/>
            <a:ext cx="82804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rgbClr val="0033CC"/>
              </a:buClr>
              <a:buSzPct val="90000"/>
              <a:buFont typeface="Wingdings" panose="05000000000000000000" pitchFamily="2" charset="2"/>
              <a:buBlip>
                <a:blip r:embed="rId2"/>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fontAlgn="base">
              <a:lnSpc>
                <a:spcPct val="105000"/>
              </a:lnSpc>
              <a:spcBef>
                <a:spcPct val="0"/>
              </a:spcBef>
              <a:spcAft>
                <a:spcPct val="0"/>
              </a:spcAft>
              <a:buClr>
                <a:srgbClr val="0000FF"/>
              </a:buClr>
              <a:buSzTx/>
              <a:buFont typeface="Wingdings" panose="05000000000000000000" pitchFamily="2" charset="2"/>
              <a:buChar char="Ø"/>
            </a:pPr>
            <a:r>
              <a:rPr lang="en-US" altLang="zh-CN" b="1" dirty="0">
                <a:solidFill>
                  <a:srgbClr val="000000"/>
                </a:solidFill>
                <a:latin typeface="宋体" panose="02010600030101010101" pitchFamily="2" charset="-122"/>
              </a:rPr>
              <a:t>Fe</a:t>
            </a:r>
            <a:r>
              <a:rPr lang="en-US" altLang="zh-CN" b="1" baseline="30000" dirty="0">
                <a:solidFill>
                  <a:srgbClr val="000000"/>
                </a:solidFill>
                <a:latin typeface="宋体" panose="02010600030101010101" pitchFamily="2" charset="-122"/>
              </a:rPr>
              <a:t>2+</a:t>
            </a:r>
            <a:r>
              <a:rPr lang="zh-CN" altLang="en-US" b="1" dirty="0">
                <a:solidFill>
                  <a:srgbClr val="000000"/>
                </a:solidFill>
                <a:latin typeface="宋体" panose="02010600030101010101" pitchFamily="2" charset="-122"/>
              </a:rPr>
              <a:t>以配位键形式结合氧分子</a:t>
            </a:r>
          </a:p>
        </p:txBody>
      </p:sp>
      <p:graphicFrame>
        <p:nvGraphicFramePr>
          <p:cNvPr id="168963" name="Object 2">
            <a:extLst>
              <a:ext uri="{FF2B5EF4-FFF2-40B4-BE49-F238E27FC236}">
                <a16:creationId xmlns:a16="http://schemas.microsoft.com/office/drawing/2014/main" id="{BCB2B5B4-5FDB-BD4A-2AD8-AB0C29EA4A4C}"/>
              </a:ext>
            </a:extLst>
          </p:cNvPr>
          <p:cNvGraphicFramePr>
            <a:graphicFrameLocks/>
          </p:cNvGraphicFramePr>
          <p:nvPr/>
        </p:nvGraphicFramePr>
        <p:xfrm>
          <a:off x="1992313" y="1268413"/>
          <a:ext cx="3917950" cy="4679950"/>
        </p:xfrm>
        <a:graphic>
          <a:graphicData uri="http://schemas.openxmlformats.org/presentationml/2006/ole">
            <mc:AlternateContent xmlns:mc="http://schemas.openxmlformats.org/markup-compatibility/2006">
              <mc:Choice xmlns:v="urn:schemas-microsoft-com:vml" Requires="v">
                <p:oleObj r:id="rId3" imgW="4346089" imgH="4175415" progId="">
                  <p:embed/>
                </p:oleObj>
              </mc:Choice>
              <mc:Fallback>
                <p:oleObj r:id="rId3" imgW="4346089" imgH="4175415" progId="">
                  <p:embed/>
                  <p:pic>
                    <p:nvPicPr>
                      <p:cNvPr id="168963" name="Object 2">
                        <a:extLst>
                          <a:ext uri="{FF2B5EF4-FFF2-40B4-BE49-F238E27FC236}">
                            <a16:creationId xmlns:a16="http://schemas.microsoft.com/office/drawing/2014/main" id="{BCB2B5B4-5FDB-BD4A-2AD8-AB0C29EA4A4C}"/>
                          </a:ext>
                        </a:extLst>
                      </p:cNvPr>
                      <p:cNvPicPr>
                        <a:picLocks noChangeArrowheads="1"/>
                      </p:cNvPicPr>
                      <p:nvPr/>
                    </p:nvPicPr>
                    <p:blipFill>
                      <a:blip r:embed="rId4">
                        <a:extLst>
                          <a:ext uri="{28A0092B-C50C-407E-A947-70E740481C1C}">
                            <a14:useLocalDpi xmlns:a14="http://schemas.microsoft.com/office/drawing/2010/main" val="0"/>
                          </a:ext>
                        </a:extLst>
                      </a:blip>
                      <a:srcRect l="12425" t="4311" r="12425" b="17244"/>
                      <a:stretch>
                        <a:fillRect/>
                      </a:stretch>
                    </p:blipFill>
                    <p:spPr bwMode="auto">
                      <a:xfrm>
                        <a:off x="1992313" y="1268413"/>
                        <a:ext cx="3917950" cy="467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68964" name="Rectangle 4">
            <a:extLst>
              <a:ext uri="{FF2B5EF4-FFF2-40B4-BE49-F238E27FC236}">
                <a16:creationId xmlns:a16="http://schemas.microsoft.com/office/drawing/2014/main" id="{6DB74089-3DD8-5217-262A-96231CC9534F}"/>
              </a:ext>
            </a:extLst>
          </p:cNvPr>
          <p:cNvSpPr>
            <a:spLocks noChangeArrowheads="1"/>
          </p:cNvSpPr>
          <p:nvPr/>
        </p:nvSpPr>
        <p:spPr bwMode="auto">
          <a:xfrm>
            <a:off x="2063751" y="5949950"/>
            <a:ext cx="3382963"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0033CC"/>
              </a:buClr>
              <a:buSzPct val="90000"/>
              <a:buFont typeface="Wingdings" panose="05000000000000000000" pitchFamily="2" charset="2"/>
              <a:buBlip>
                <a:blip r:embed="rId2"/>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ClrTx/>
              <a:buSzTx/>
              <a:buNone/>
            </a:pPr>
            <a:r>
              <a:rPr lang="zh-CN" altLang="en-US" sz="3200" b="1">
                <a:solidFill>
                  <a:srgbClr val="000000"/>
                </a:solidFill>
                <a:latin typeface="Times New Roman" panose="02020603050405020304" pitchFamily="18" charset="0"/>
              </a:rPr>
              <a:t>血红素辅基</a:t>
            </a:r>
          </a:p>
        </p:txBody>
      </p:sp>
      <p:pic>
        <p:nvPicPr>
          <p:cNvPr id="168965" name="Picture 5" descr="15-25">
            <a:extLst>
              <a:ext uri="{FF2B5EF4-FFF2-40B4-BE49-F238E27FC236}">
                <a16:creationId xmlns:a16="http://schemas.microsoft.com/office/drawing/2014/main" id="{EB0AF6E0-F618-89DE-DEF1-297ECC3A7FF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r="34448"/>
          <a:stretch>
            <a:fillRect/>
          </a:stretch>
        </p:blipFill>
        <p:spPr bwMode="auto">
          <a:xfrm>
            <a:off x="2063751" y="908050"/>
            <a:ext cx="3763963" cy="511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8966" name="Picture 6" descr="7a3">
            <a:extLst>
              <a:ext uri="{FF2B5EF4-FFF2-40B4-BE49-F238E27FC236}">
                <a16:creationId xmlns:a16="http://schemas.microsoft.com/office/drawing/2014/main" id="{EA81D80C-E496-5803-1F46-85065B9CC8D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b="18808"/>
          <a:stretch>
            <a:fillRect/>
          </a:stretch>
        </p:blipFill>
        <p:spPr bwMode="auto">
          <a:xfrm>
            <a:off x="6527800" y="809626"/>
            <a:ext cx="3824288" cy="6075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Text Box 2">
            <a:extLst>
              <a:ext uri="{FF2B5EF4-FFF2-40B4-BE49-F238E27FC236}">
                <a16:creationId xmlns:a16="http://schemas.microsoft.com/office/drawing/2014/main" id="{CBE1D627-8293-5480-9CB1-F8A1A00A110D}"/>
              </a:ext>
            </a:extLst>
          </p:cNvPr>
          <p:cNvSpPr txBox="1">
            <a:spLocks noChangeArrowheads="1"/>
          </p:cNvSpPr>
          <p:nvPr/>
        </p:nvSpPr>
        <p:spPr bwMode="auto">
          <a:xfrm>
            <a:off x="2098714" y="908051"/>
            <a:ext cx="554029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33CC"/>
              </a:buClr>
              <a:buSzPct val="90000"/>
              <a:buFont typeface="Wingdings" panose="05000000000000000000" pitchFamily="2" charset="2"/>
              <a:buBlip>
                <a:blip r:embed="rId2"/>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ClrTx/>
              <a:buSzTx/>
              <a:buNone/>
            </a:pPr>
            <a:r>
              <a:rPr lang="zh-CN" altLang="en-US" sz="3200" b="1">
                <a:solidFill>
                  <a:srgbClr val="000000"/>
                </a:solidFill>
                <a:latin typeface="Times New Roman" panose="02020603050405020304" pitchFamily="18" charset="0"/>
                <a:ea typeface="楷体" panose="02010609060101010101" pitchFamily="49" charset="-122"/>
              </a:rPr>
              <a:t>（二）血红蛋白的结构与功能</a:t>
            </a:r>
          </a:p>
        </p:txBody>
      </p:sp>
      <p:sp>
        <p:nvSpPr>
          <p:cNvPr id="124931" name="Text Box 3">
            <a:extLst>
              <a:ext uri="{FF2B5EF4-FFF2-40B4-BE49-F238E27FC236}">
                <a16:creationId xmlns:a16="http://schemas.microsoft.com/office/drawing/2014/main" id="{966DC1AD-CFAC-BB19-0930-C8BAACCA6996}"/>
              </a:ext>
            </a:extLst>
          </p:cNvPr>
          <p:cNvSpPr txBox="1">
            <a:spLocks noChangeArrowheads="1"/>
          </p:cNvSpPr>
          <p:nvPr/>
        </p:nvSpPr>
        <p:spPr bwMode="auto">
          <a:xfrm>
            <a:off x="2063750" y="1558926"/>
            <a:ext cx="8066088" cy="5478463"/>
          </a:xfrm>
          <a:prstGeom prst="rect">
            <a:avLst/>
          </a:prstGeom>
          <a:noFill/>
          <a:ln w="9525">
            <a:noFill/>
            <a:miter lim="800000"/>
          </a:ln>
        </p:spPr>
        <p:txBody>
          <a:bodyPr>
            <a:spAutoFit/>
          </a:bodyPr>
          <a:lstStyle/>
          <a:p>
            <a:pPr fontAlgn="base">
              <a:spcBef>
                <a:spcPct val="0"/>
              </a:spcBef>
              <a:spcAft>
                <a:spcPct val="0"/>
              </a:spcAft>
              <a:defRPr/>
            </a:pPr>
            <a:r>
              <a:rPr lang="zh-CN" altLang="en-US" sz="2800" b="1" dirty="0">
                <a:solidFill>
                  <a:srgbClr val="0000FF"/>
                </a:solidFill>
                <a:latin typeface="宋体" panose="02010600030101010101" pitchFamily="2" charset="-122"/>
                <a:ea typeface="宋体" panose="02010600030101010101" pitchFamily="2" charset="-122"/>
              </a:rPr>
              <a:t>1.血红蛋白结构</a:t>
            </a:r>
          </a:p>
          <a:p>
            <a:pPr marL="342900" indent="-342900" fontAlgn="base">
              <a:lnSpc>
                <a:spcPct val="150000"/>
              </a:lnSpc>
              <a:spcBef>
                <a:spcPct val="0"/>
              </a:spcBef>
              <a:spcAft>
                <a:spcPct val="0"/>
              </a:spcAft>
              <a:buClr>
                <a:srgbClr val="0000FF"/>
              </a:buClr>
              <a:buFont typeface="Wingdings" panose="05000000000000000000" pitchFamily="2" charset="2"/>
              <a:buChar char="u"/>
              <a:defRPr/>
            </a:pPr>
            <a:r>
              <a:rPr lang="zh-CN" altLang="en-US" sz="2800" b="1" dirty="0">
                <a:solidFill>
                  <a:srgbClr val="000000"/>
                </a:solidFill>
                <a:latin typeface="宋体" panose="02010600030101010101" pitchFamily="2" charset="-122"/>
                <a:ea typeface="宋体" panose="02010600030101010101" pitchFamily="2" charset="-122"/>
              </a:rPr>
              <a:t>血红蛋白具有4个亚基组成的四级结构；</a:t>
            </a:r>
          </a:p>
          <a:p>
            <a:pPr marL="342900" indent="-342900" fontAlgn="base">
              <a:lnSpc>
                <a:spcPct val="150000"/>
              </a:lnSpc>
              <a:spcBef>
                <a:spcPct val="0"/>
              </a:spcBef>
              <a:spcAft>
                <a:spcPct val="0"/>
              </a:spcAft>
              <a:buClr>
                <a:srgbClr val="0000FF"/>
              </a:buClr>
              <a:buFont typeface="Wingdings" panose="05000000000000000000" pitchFamily="2" charset="2"/>
              <a:buChar char="u"/>
              <a:defRPr/>
            </a:pPr>
            <a:r>
              <a:rPr lang="zh-CN" altLang="en-US" sz="2800" b="1" dirty="0">
                <a:solidFill>
                  <a:srgbClr val="000000"/>
                </a:solidFill>
                <a:latin typeface="宋体" panose="02010600030101010101" pitchFamily="2" charset="-122"/>
                <a:ea typeface="宋体" panose="02010600030101010101" pitchFamily="2" charset="-122"/>
              </a:rPr>
              <a:t>各亚基均由一条肽链和一个血红素分子组成，其三级结构与肌红蛋白相似，并各携带1分子氧。</a:t>
            </a:r>
          </a:p>
          <a:p>
            <a:pPr marL="342900" indent="-342900" fontAlgn="base">
              <a:lnSpc>
                <a:spcPct val="150000"/>
              </a:lnSpc>
              <a:spcBef>
                <a:spcPct val="0"/>
              </a:spcBef>
              <a:spcAft>
                <a:spcPct val="0"/>
              </a:spcAft>
              <a:buClr>
                <a:srgbClr val="0000FF"/>
              </a:buClr>
              <a:buFont typeface="Wingdings" panose="05000000000000000000" pitchFamily="2" charset="2"/>
              <a:buChar char="u"/>
              <a:defRPr/>
            </a:pPr>
            <a:r>
              <a:rPr lang="zh-CN" altLang="en-US" sz="2800" b="1" dirty="0">
                <a:solidFill>
                  <a:srgbClr val="000000"/>
                </a:solidFill>
                <a:latin typeface="宋体" panose="02010600030101010101" pitchFamily="2" charset="-122"/>
                <a:ea typeface="宋体" panose="02010600030101010101" pitchFamily="2" charset="-122"/>
              </a:rPr>
              <a:t>亚基之间以盐键及疏水相互作用力结合，形成紧密而亲水的球状分子；</a:t>
            </a:r>
          </a:p>
          <a:p>
            <a:pPr marL="342900" indent="-342900" fontAlgn="base">
              <a:lnSpc>
                <a:spcPct val="150000"/>
              </a:lnSpc>
              <a:spcBef>
                <a:spcPct val="0"/>
              </a:spcBef>
              <a:spcAft>
                <a:spcPct val="0"/>
              </a:spcAft>
              <a:buClr>
                <a:srgbClr val="0000FF"/>
              </a:buClr>
              <a:buFont typeface="Wingdings" panose="05000000000000000000" pitchFamily="2" charset="2"/>
              <a:buChar char="u"/>
              <a:defRPr/>
            </a:pPr>
            <a:r>
              <a:rPr lang="zh-CN" altLang="en-US" sz="2800" b="1" dirty="0">
                <a:solidFill>
                  <a:srgbClr val="000000"/>
                </a:solidFill>
                <a:latin typeface="宋体" panose="02010600030101010101" pitchFamily="2" charset="-122"/>
                <a:ea typeface="宋体" panose="02010600030101010101" pitchFamily="2" charset="-122"/>
              </a:rPr>
              <a:t>分子内部</a:t>
            </a:r>
            <a:r>
              <a:rPr lang="zh-CN" altLang="en-US" sz="2800" b="1" dirty="0">
                <a:solidFill>
                  <a:srgbClr val="000000"/>
                </a:solidFill>
                <a:latin typeface="宋体" panose="02010600030101010101" pitchFamily="2" charset="-122"/>
                <a:ea typeface="宋体" panose="02010600030101010101" pitchFamily="2" charset="-122"/>
                <a:sym typeface="Arial" panose="020B0604020202020204" pitchFamily="34" charset="0"/>
              </a:rPr>
              <a:t>疏</a:t>
            </a:r>
            <a:r>
              <a:rPr lang="zh-CN" altLang="en-US" sz="2800" b="1" dirty="0">
                <a:solidFill>
                  <a:srgbClr val="000000"/>
                </a:solidFill>
                <a:latin typeface="宋体" panose="02010600030101010101" pitchFamily="2" charset="-122"/>
                <a:ea typeface="宋体" panose="02010600030101010101" pitchFamily="2" charset="-122"/>
              </a:rPr>
              <a:t>水</a:t>
            </a:r>
          </a:p>
          <a:p>
            <a:pPr fontAlgn="base">
              <a:lnSpc>
                <a:spcPct val="150000"/>
              </a:lnSpc>
              <a:spcBef>
                <a:spcPct val="0"/>
              </a:spcBef>
              <a:spcAft>
                <a:spcPct val="0"/>
              </a:spcAft>
              <a:defRPr/>
            </a:pPr>
            <a:r>
              <a:rPr lang="zh-CN" altLang="en-US" sz="2800" dirty="0">
                <a:solidFill>
                  <a:srgbClr val="660033"/>
                </a:solidFill>
                <a:latin typeface="Times New Roman" panose="02020603050405020304" pitchFamily="18" charset="0"/>
                <a:ea typeface="华文楷体" pitchFamily="2" charset="-122"/>
              </a:rPr>
              <a:t> </a:t>
            </a:r>
          </a:p>
          <a:p>
            <a:pPr fontAlgn="base">
              <a:spcBef>
                <a:spcPct val="0"/>
              </a:spcBef>
              <a:spcAft>
                <a:spcPct val="0"/>
              </a:spcAft>
              <a:defRPr/>
            </a:pPr>
            <a:endParaRPr lang="zh-CN" altLang="en-US" sz="2800" dirty="0">
              <a:solidFill>
                <a:srgbClr val="660033"/>
              </a:solidFill>
              <a:latin typeface="Times New Roman" panose="02020603050405020304" pitchFamily="18" charset="0"/>
              <a:ea typeface="华文楷体" pitchFamily="2" charset="-122"/>
            </a:endParaRPr>
          </a:p>
        </p:txBody>
      </p:sp>
      <p:pic>
        <p:nvPicPr>
          <p:cNvPr id="175108" name="Picture 4" descr="hb">
            <a:extLst>
              <a:ext uri="{FF2B5EF4-FFF2-40B4-BE49-F238E27FC236}">
                <a16:creationId xmlns:a16="http://schemas.microsoft.com/office/drawing/2014/main" id="{F98930E0-D961-BF26-AD1A-8C849C72EB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69251" y="4508501"/>
            <a:ext cx="2403475" cy="2316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a:extLst>
              <a:ext uri="{FF2B5EF4-FFF2-40B4-BE49-F238E27FC236}">
                <a16:creationId xmlns:a16="http://schemas.microsoft.com/office/drawing/2014/main" id="{10432CE3-32D5-0942-6946-E99FFCB0943C}"/>
              </a:ext>
            </a:extLst>
          </p:cNvPr>
          <p:cNvSpPr>
            <a:spLocks noGrp="1" noChangeArrowheads="1"/>
          </p:cNvSpPr>
          <p:nvPr>
            <p:ph type="title"/>
          </p:nvPr>
        </p:nvSpPr>
        <p:spPr>
          <a:xfrm>
            <a:off x="2136776" y="620714"/>
            <a:ext cx="8208963" cy="1000125"/>
          </a:xfrm>
        </p:spPr>
        <p:txBody>
          <a:bodyPr/>
          <a:lstStyle/>
          <a:p>
            <a:pPr algn="ctr">
              <a:buClr>
                <a:srgbClr val="0000FF"/>
              </a:buClr>
            </a:pPr>
            <a:r>
              <a:rPr lang="zh-CN" altLang="en-US" sz="3200" b="1">
                <a:solidFill>
                  <a:srgbClr val="0000FF"/>
                </a:solidFill>
                <a:ea typeface="楷体" panose="02010609060101010101" pitchFamily="49" charset="-122"/>
              </a:rPr>
              <a:t>血红蛋白与氧的结合具有正协同效应</a:t>
            </a:r>
          </a:p>
        </p:txBody>
      </p:sp>
      <p:sp>
        <p:nvSpPr>
          <p:cNvPr id="178179" name="Rectangle 3">
            <a:extLst>
              <a:ext uri="{FF2B5EF4-FFF2-40B4-BE49-F238E27FC236}">
                <a16:creationId xmlns:a16="http://schemas.microsoft.com/office/drawing/2014/main" id="{F4AD95E4-D54D-9C5C-6F41-B1F2D23D4F57}"/>
              </a:ext>
            </a:extLst>
          </p:cNvPr>
          <p:cNvSpPr>
            <a:spLocks noGrp="1" noChangeArrowheads="1"/>
          </p:cNvSpPr>
          <p:nvPr>
            <p:ph idx="1"/>
          </p:nvPr>
        </p:nvSpPr>
        <p:spPr>
          <a:xfrm>
            <a:off x="2309814" y="1714500"/>
            <a:ext cx="3527425" cy="5327650"/>
          </a:xfrm>
        </p:spPr>
        <p:txBody>
          <a:bodyPr/>
          <a:lstStyle/>
          <a:p>
            <a:pPr marL="0" indent="0">
              <a:lnSpc>
                <a:spcPct val="150000"/>
              </a:lnSpc>
              <a:spcBef>
                <a:spcPct val="10000"/>
              </a:spcBef>
              <a:buClr>
                <a:srgbClr val="FF0000"/>
              </a:buClr>
              <a:buSzPct val="80000"/>
              <a:buNone/>
            </a:pPr>
            <a:r>
              <a:rPr lang="zh-CN" altLang="en-US" sz="2400" b="1">
                <a:solidFill>
                  <a:srgbClr val="0000FF"/>
                </a:solidFill>
                <a:latin typeface="宋体" panose="02010600030101010101" pitchFamily="2" charset="-122"/>
              </a:rPr>
              <a:t>   </a:t>
            </a:r>
            <a:r>
              <a:rPr lang="zh-CN" altLang="en-US" b="1">
                <a:latin typeface="宋体" panose="02010600030101010101" pitchFamily="2" charset="-122"/>
              </a:rPr>
              <a:t>血红蛋白的氧合曲线呈</a:t>
            </a:r>
            <a:r>
              <a:rPr lang="en-US" altLang="zh-CN" b="1">
                <a:latin typeface="宋体" panose="02010600030101010101" pitchFamily="2" charset="-122"/>
              </a:rPr>
              <a:t>S</a:t>
            </a:r>
            <a:r>
              <a:rPr lang="zh-CN" altLang="en-US" b="1">
                <a:latin typeface="宋体" panose="02010600030101010101" pitchFamily="2" charset="-122"/>
              </a:rPr>
              <a:t>形，血红蛋白结合氧的协同性正是血红蛋白高效率运输氧的机制</a:t>
            </a:r>
          </a:p>
          <a:p>
            <a:pPr marL="0" indent="0">
              <a:lnSpc>
                <a:spcPct val="150000"/>
              </a:lnSpc>
              <a:spcBef>
                <a:spcPct val="10000"/>
              </a:spcBef>
              <a:buClr>
                <a:srgbClr val="FF0000"/>
              </a:buClr>
              <a:buSzPct val="80000"/>
              <a:buNone/>
            </a:pPr>
            <a:r>
              <a:rPr lang="zh-CN" altLang="en-US" sz="2400" b="1">
                <a:latin typeface="Times New Roman" panose="02020603050405020304" pitchFamily="18" charset="0"/>
                <a:ea typeface="仿宋_GB2312" pitchFamily="49" charset="-122"/>
              </a:rPr>
              <a:t>    </a:t>
            </a:r>
            <a:endParaRPr lang="en-US" altLang="zh-CN" b="1">
              <a:latin typeface="仿宋_GB2312" pitchFamily="49" charset="-122"/>
              <a:ea typeface="楷体_GB2312" pitchFamily="49" charset="-122"/>
            </a:endParaRPr>
          </a:p>
        </p:txBody>
      </p:sp>
      <p:pic>
        <p:nvPicPr>
          <p:cNvPr id="178180" name="Picture 4" descr="a15-3">
            <a:extLst>
              <a:ext uri="{FF2B5EF4-FFF2-40B4-BE49-F238E27FC236}">
                <a16:creationId xmlns:a16="http://schemas.microsoft.com/office/drawing/2014/main" id="{D4450373-A5E7-0151-E386-17922FAEF9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64200" y="2205039"/>
            <a:ext cx="4787900" cy="453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a:extLst>
              <a:ext uri="{FF2B5EF4-FFF2-40B4-BE49-F238E27FC236}">
                <a16:creationId xmlns:a16="http://schemas.microsoft.com/office/drawing/2014/main" id="{0B51AAC1-9FB9-4452-1E1B-4AA41AD4419A}"/>
              </a:ext>
            </a:extLst>
          </p:cNvPr>
          <p:cNvSpPr>
            <a:spLocks noGrp="1" noChangeArrowheads="1"/>
          </p:cNvSpPr>
          <p:nvPr>
            <p:ph idx="1"/>
          </p:nvPr>
        </p:nvSpPr>
        <p:spPr>
          <a:xfrm>
            <a:off x="1631950" y="407988"/>
            <a:ext cx="8858250" cy="6335712"/>
          </a:xfrm>
        </p:spPr>
        <p:txBody>
          <a:bodyPr/>
          <a:lstStyle/>
          <a:p>
            <a:pPr>
              <a:lnSpc>
                <a:spcPct val="105000"/>
              </a:lnSpc>
              <a:spcBef>
                <a:spcPct val="10000"/>
              </a:spcBef>
              <a:buFont typeface="Wingdings" panose="05000000000000000000" pitchFamily="2" charset="2"/>
              <a:buNone/>
              <a:defRPr/>
            </a:pPr>
            <a:r>
              <a:rPr lang="en-US" sz="3200" b="1" dirty="0">
                <a:latin typeface="楷体" panose="02010609060101010101" pitchFamily="49" charset="-122"/>
                <a:ea typeface="楷体" panose="02010609060101010101" pitchFamily="49" charset="-122"/>
              </a:rPr>
              <a:t> </a:t>
            </a:r>
            <a:r>
              <a:rPr lang="zh-CN" altLang="en-US" sz="3200" b="1" dirty="0">
                <a:latin typeface="楷体" panose="02010609060101010101" pitchFamily="49" charset="-122"/>
                <a:ea typeface="楷体" panose="02010609060101010101" pitchFamily="49" charset="-122"/>
              </a:rPr>
              <a:t>   氧合引起血红蛋白构象的改变</a:t>
            </a:r>
          </a:p>
          <a:p>
            <a:pPr>
              <a:lnSpc>
                <a:spcPct val="105000"/>
              </a:lnSpc>
              <a:spcBef>
                <a:spcPct val="10000"/>
              </a:spcBef>
              <a:buFont typeface="Wingdings" panose="05000000000000000000" pitchFamily="2" charset="2"/>
              <a:buNone/>
              <a:defRPr/>
            </a:pPr>
            <a:r>
              <a:rPr lang="zh-CN" altLang="en-US" sz="3200" b="1" dirty="0">
                <a:latin typeface="楷体" panose="02010609060101010101" pitchFamily="49" charset="-122"/>
                <a:ea typeface="楷体" panose="02010609060101010101" pitchFamily="49" charset="-122"/>
              </a:rPr>
              <a:t>                   </a:t>
            </a:r>
            <a:r>
              <a:rPr lang="en-US" sz="3200" b="1" dirty="0">
                <a:solidFill>
                  <a:srgbClr val="FF0000"/>
                </a:solidFill>
                <a:latin typeface="楷体" panose="02010609060101010101" pitchFamily="49" charset="-122"/>
                <a:ea typeface="楷体" panose="02010609060101010101" pitchFamily="49" charset="-122"/>
              </a:rPr>
              <a:t>——</a:t>
            </a:r>
            <a:r>
              <a:rPr lang="zh-CN" altLang="en-US" sz="3200" b="1" dirty="0">
                <a:solidFill>
                  <a:srgbClr val="FF0000"/>
                </a:solidFill>
                <a:latin typeface="楷体" panose="02010609060101010101" pitchFamily="49" charset="-122"/>
                <a:ea typeface="楷体" panose="02010609060101010101" pitchFamily="49" charset="-122"/>
              </a:rPr>
              <a:t>协同效应的机制</a:t>
            </a:r>
          </a:p>
          <a:p>
            <a:pPr>
              <a:lnSpc>
                <a:spcPct val="105000"/>
              </a:lnSpc>
              <a:spcBef>
                <a:spcPct val="10000"/>
              </a:spcBef>
              <a:buFont typeface="Wingdings" panose="05000000000000000000" pitchFamily="2" charset="2"/>
              <a:buNone/>
              <a:defRPr/>
            </a:pPr>
            <a:endParaRPr lang="zh-CN" altLang="en-US" sz="2000" b="1" dirty="0">
              <a:solidFill>
                <a:srgbClr val="FF0000"/>
              </a:solidFill>
              <a:latin typeface="楷体" panose="02010609060101010101" pitchFamily="49" charset="-122"/>
              <a:ea typeface="楷体" panose="02010609060101010101" pitchFamily="49" charset="-122"/>
            </a:endParaRPr>
          </a:p>
          <a:p>
            <a:pPr lvl="1">
              <a:lnSpc>
                <a:spcPct val="150000"/>
              </a:lnSpc>
              <a:spcBef>
                <a:spcPct val="10000"/>
              </a:spcBef>
              <a:buClr>
                <a:srgbClr val="0000FF"/>
              </a:buClr>
              <a:buSzTx/>
              <a:buFont typeface="Wingdings" panose="05000000000000000000" pitchFamily="2" charset="2"/>
              <a:buChar char="u"/>
              <a:defRPr/>
            </a:pPr>
            <a:r>
              <a:rPr lang="zh-CN" altLang="en-US" sz="2800" b="1" dirty="0">
                <a:latin typeface="宋体" panose="02010600030101010101" pitchFamily="2" charset="-122"/>
                <a:cs typeface="+mn-ea"/>
              </a:rPr>
              <a:t>血红素</a:t>
            </a:r>
            <a:r>
              <a:rPr lang="en-US" sz="2800" b="1" dirty="0">
                <a:latin typeface="宋体" panose="02010600030101010101" pitchFamily="2" charset="-122"/>
                <a:cs typeface="+mn-ea"/>
              </a:rPr>
              <a:t>Fe(Ⅱ)</a:t>
            </a:r>
            <a:r>
              <a:rPr lang="zh-CN" altLang="en-US" sz="2800" b="1" dirty="0">
                <a:latin typeface="宋体" panose="02010600030101010101" pitchFamily="2" charset="-122"/>
                <a:cs typeface="+mn-ea"/>
              </a:rPr>
              <a:t>与</a:t>
            </a:r>
            <a:r>
              <a:rPr lang="en-US" sz="2800" b="1" dirty="0">
                <a:latin typeface="宋体" panose="02010600030101010101" pitchFamily="2" charset="-122"/>
                <a:cs typeface="+mn-ea"/>
              </a:rPr>
              <a:t>O</a:t>
            </a:r>
            <a:r>
              <a:rPr lang="en-US" sz="2800" b="1" baseline="-25000" dirty="0">
                <a:latin typeface="宋体" panose="02010600030101010101" pitchFamily="2" charset="-122"/>
                <a:cs typeface="+mn-ea"/>
              </a:rPr>
              <a:t>2</a:t>
            </a:r>
            <a:r>
              <a:rPr lang="zh-CN" altLang="en-US" sz="2800" b="1" dirty="0">
                <a:latin typeface="宋体" panose="02010600030101010101" pitchFamily="2" charset="-122"/>
                <a:cs typeface="+mn-ea"/>
              </a:rPr>
              <a:t>结合引起的微小移动导致血红蛋白构象改变</a:t>
            </a:r>
          </a:p>
          <a:p>
            <a:pPr lvl="1">
              <a:lnSpc>
                <a:spcPct val="150000"/>
              </a:lnSpc>
              <a:spcBef>
                <a:spcPct val="10000"/>
              </a:spcBef>
              <a:buClr>
                <a:srgbClr val="0000FF"/>
              </a:buClr>
              <a:buSzTx/>
              <a:buFont typeface="Wingdings" panose="05000000000000000000" pitchFamily="2" charset="2"/>
              <a:buChar char="u"/>
              <a:defRPr/>
            </a:pPr>
            <a:r>
              <a:rPr lang="zh-CN" altLang="en-US" sz="2800" b="1" dirty="0">
                <a:latin typeface="宋体" panose="02010600030101010101" pitchFamily="2" charset="-122"/>
                <a:cs typeface="+mn-ea"/>
              </a:rPr>
              <a:t>去氧血红蛋白</a:t>
            </a:r>
            <a:r>
              <a:rPr lang="en-US" sz="2800" b="1" dirty="0">
                <a:latin typeface="宋体" panose="02010600030101010101" pitchFamily="2" charset="-122"/>
                <a:cs typeface="+mn-ea"/>
              </a:rPr>
              <a:t>T</a:t>
            </a:r>
            <a:r>
              <a:rPr lang="zh-CN" altLang="en-US" sz="2800" b="1" dirty="0">
                <a:latin typeface="宋体" panose="02010600030101010101" pitchFamily="2" charset="-122"/>
                <a:cs typeface="+mn-ea"/>
              </a:rPr>
              <a:t>态</a:t>
            </a:r>
            <a:r>
              <a:rPr lang="en-US" sz="2800" b="1" dirty="0">
                <a:latin typeface="宋体" panose="02010600030101010101" pitchFamily="2" charset="-122"/>
                <a:cs typeface="+mn-ea"/>
              </a:rPr>
              <a:t>(</a:t>
            </a:r>
            <a:r>
              <a:rPr lang="zh-CN" altLang="en-US" sz="2800" b="1" dirty="0">
                <a:latin typeface="宋体" panose="02010600030101010101" pitchFamily="2" charset="-122"/>
                <a:cs typeface="+mn-ea"/>
              </a:rPr>
              <a:t>紧张态</a:t>
            </a:r>
            <a:r>
              <a:rPr lang="en-US" sz="2800" b="1" dirty="0">
                <a:latin typeface="宋体" panose="02010600030101010101" pitchFamily="2" charset="-122"/>
                <a:cs typeface="+mn-ea"/>
              </a:rPr>
              <a:t>)</a:t>
            </a:r>
            <a:r>
              <a:rPr lang="zh-CN" altLang="en-US" sz="2800" b="1" dirty="0">
                <a:latin typeface="宋体" panose="02010600030101010101" pitchFamily="2" charset="-122"/>
                <a:cs typeface="+mn-ea"/>
              </a:rPr>
              <a:t>与氧合血红蛋白</a:t>
            </a:r>
            <a:r>
              <a:rPr lang="en-US" sz="2800" b="1" dirty="0">
                <a:latin typeface="宋体" panose="02010600030101010101" pitchFamily="2" charset="-122"/>
                <a:cs typeface="+mn-ea"/>
              </a:rPr>
              <a:t>R</a:t>
            </a:r>
            <a:r>
              <a:rPr lang="zh-CN" altLang="en-US" sz="2800" b="1" dirty="0">
                <a:latin typeface="宋体" panose="02010600030101010101" pitchFamily="2" charset="-122"/>
                <a:cs typeface="+mn-ea"/>
              </a:rPr>
              <a:t>态</a:t>
            </a:r>
            <a:r>
              <a:rPr lang="en-US" sz="2800" b="1" dirty="0">
                <a:latin typeface="宋体" panose="02010600030101010101" pitchFamily="2" charset="-122"/>
                <a:cs typeface="+mn-ea"/>
              </a:rPr>
              <a:t>(</a:t>
            </a:r>
            <a:r>
              <a:rPr lang="zh-CN" altLang="en-US" sz="2800" b="1" dirty="0">
                <a:latin typeface="宋体" panose="02010600030101010101" pitchFamily="2" charset="-122"/>
                <a:cs typeface="+mn-ea"/>
              </a:rPr>
              <a:t>松弛态</a:t>
            </a:r>
            <a:r>
              <a:rPr lang="en-US" sz="2800" b="1" dirty="0">
                <a:latin typeface="宋体" panose="02010600030101010101" pitchFamily="2" charset="-122"/>
                <a:cs typeface="+mn-ea"/>
              </a:rPr>
              <a:t>)</a:t>
            </a:r>
            <a:r>
              <a:rPr lang="zh-CN" altLang="en-US" sz="2800" b="1" dirty="0">
                <a:latin typeface="宋体" panose="02010600030101010101" pitchFamily="2" charset="-122"/>
                <a:cs typeface="+mn-ea"/>
              </a:rPr>
              <a:t>，</a:t>
            </a:r>
            <a:r>
              <a:rPr lang="en-US" sz="2800" b="1" dirty="0">
                <a:solidFill>
                  <a:srgbClr val="0000FF"/>
                </a:solidFill>
                <a:latin typeface="宋体" panose="02010600030101010101" pitchFamily="2" charset="-122"/>
                <a:cs typeface="+mn-ea"/>
              </a:rPr>
              <a:t>T</a:t>
            </a:r>
            <a:r>
              <a:rPr lang="zh-CN" altLang="en-US" sz="2800" b="1" dirty="0">
                <a:solidFill>
                  <a:srgbClr val="0000FF"/>
                </a:solidFill>
                <a:latin typeface="宋体" panose="02010600030101010101" pitchFamily="2" charset="-122"/>
                <a:cs typeface="+mn-ea"/>
              </a:rPr>
              <a:t>态</a:t>
            </a:r>
            <a:r>
              <a:rPr lang="zh-CN" altLang="en-US" sz="2800" b="1" dirty="0">
                <a:latin typeface="宋体" panose="02010600030101010101" pitchFamily="2" charset="-122"/>
                <a:cs typeface="+mn-ea"/>
              </a:rPr>
              <a:t>对</a:t>
            </a:r>
            <a:r>
              <a:rPr lang="en-US" sz="2800" b="1" dirty="0">
                <a:latin typeface="宋体" panose="02010600030101010101" pitchFamily="2" charset="-122"/>
                <a:cs typeface="+mn-ea"/>
              </a:rPr>
              <a:t>O</a:t>
            </a:r>
            <a:r>
              <a:rPr lang="en-US" sz="2800" b="1" baseline="-12000" dirty="0">
                <a:latin typeface="宋体" panose="02010600030101010101" pitchFamily="2" charset="-122"/>
                <a:cs typeface="+mn-ea"/>
              </a:rPr>
              <a:t>2</a:t>
            </a:r>
            <a:r>
              <a:rPr lang="zh-CN" altLang="en-US" sz="2800" b="1" dirty="0">
                <a:latin typeface="宋体" panose="02010600030101010101" pitchFamily="2" charset="-122"/>
                <a:cs typeface="+mn-ea"/>
              </a:rPr>
              <a:t>的亲和力较</a:t>
            </a:r>
            <a:r>
              <a:rPr lang="en-US" sz="2800" b="1" dirty="0">
                <a:solidFill>
                  <a:srgbClr val="0000FF"/>
                </a:solidFill>
                <a:latin typeface="宋体" panose="02010600030101010101" pitchFamily="2" charset="-122"/>
                <a:cs typeface="+mn-ea"/>
              </a:rPr>
              <a:t>R</a:t>
            </a:r>
            <a:r>
              <a:rPr lang="zh-CN" altLang="en-US" sz="2800" b="1" dirty="0">
                <a:solidFill>
                  <a:srgbClr val="0000FF"/>
                </a:solidFill>
                <a:latin typeface="宋体" panose="02010600030101010101" pitchFamily="2" charset="-122"/>
                <a:cs typeface="+mn-ea"/>
              </a:rPr>
              <a:t>态</a:t>
            </a:r>
            <a:r>
              <a:rPr lang="zh-CN" altLang="en-US" sz="2800" b="1" dirty="0">
                <a:latin typeface="宋体" panose="02010600030101010101" pitchFamily="2" charset="-122"/>
                <a:cs typeface="+mn-ea"/>
              </a:rPr>
              <a:t>对</a:t>
            </a:r>
            <a:r>
              <a:rPr lang="en-US" sz="2800" b="1" dirty="0">
                <a:latin typeface="宋体" panose="02010600030101010101" pitchFamily="2" charset="-122"/>
                <a:cs typeface="+mn-ea"/>
              </a:rPr>
              <a:t>O</a:t>
            </a:r>
            <a:r>
              <a:rPr lang="en-US" sz="2800" b="1" baseline="-12000" dirty="0">
                <a:latin typeface="宋体" panose="02010600030101010101" pitchFamily="2" charset="-122"/>
                <a:cs typeface="+mn-ea"/>
              </a:rPr>
              <a:t>2</a:t>
            </a:r>
            <a:r>
              <a:rPr lang="zh-CN" altLang="en-US" sz="2800" b="1" dirty="0">
                <a:latin typeface="宋体" panose="02010600030101010101" pitchFamily="2" charset="-122"/>
                <a:cs typeface="+mn-ea"/>
              </a:rPr>
              <a:t>的</a:t>
            </a:r>
            <a:r>
              <a:rPr lang="zh-CN" altLang="en-US" sz="2800" b="1" dirty="0">
                <a:solidFill>
                  <a:srgbClr val="0000FF"/>
                </a:solidFill>
                <a:latin typeface="宋体" panose="02010600030101010101" pitchFamily="2" charset="-122"/>
                <a:cs typeface="+mn-ea"/>
              </a:rPr>
              <a:t>亲和力低。</a:t>
            </a:r>
            <a:endParaRPr lang="zh-CN" altLang="en-US" sz="2800" b="1" dirty="0">
              <a:latin typeface="宋体" panose="02010600030101010101" pitchFamily="2" charset="-122"/>
              <a:cs typeface="+mn-ea"/>
            </a:endParaRPr>
          </a:p>
          <a:p>
            <a:pPr lvl="1">
              <a:lnSpc>
                <a:spcPct val="150000"/>
              </a:lnSpc>
              <a:spcBef>
                <a:spcPct val="10000"/>
              </a:spcBef>
              <a:buClr>
                <a:srgbClr val="0000FF"/>
              </a:buClr>
              <a:buSzTx/>
              <a:buFont typeface="Wingdings" panose="05000000000000000000" pitchFamily="2" charset="2"/>
              <a:buChar char="u"/>
              <a:defRPr/>
            </a:pPr>
            <a:r>
              <a:rPr lang="zh-CN" altLang="en-US" sz="2800" b="1" dirty="0">
                <a:latin typeface="宋体" panose="02010600030101010101" pitchFamily="2" charset="-122"/>
                <a:cs typeface="+mn-ea"/>
              </a:rPr>
              <a:t>其中一个亚基与</a:t>
            </a:r>
            <a:r>
              <a:rPr lang="en-US" sz="2800" b="1" dirty="0">
                <a:latin typeface="宋体" panose="02010600030101010101" pitchFamily="2" charset="-122"/>
                <a:cs typeface="+mn-ea"/>
              </a:rPr>
              <a:t>O</a:t>
            </a:r>
            <a:r>
              <a:rPr lang="en-US" sz="2800" b="1" baseline="-12000" dirty="0">
                <a:latin typeface="宋体" panose="02010600030101010101" pitchFamily="2" charset="-122"/>
                <a:cs typeface="+mn-ea"/>
              </a:rPr>
              <a:t>2</a:t>
            </a:r>
            <a:r>
              <a:rPr lang="zh-CN" altLang="en-US" sz="2800" b="1" dirty="0">
                <a:latin typeface="宋体" panose="02010600030101010101" pitchFamily="2" charset="-122"/>
                <a:cs typeface="+mn-ea"/>
              </a:rPr>
              <a:t>的结合，就可导致血红蛋白由</a:t>
            </a:r>
            <a:r>
              <a:rPr lang="en-US" sz="2800" b="1" dirty="0">
                <a:latin typeface="宋体" panose="02010600030101010101" pitchFamily="2" charset="-122"/>
                <a:cs typeface="+mn-ea"/>
              </a:rPr>
              <a:t>T</a:t>
            </a:r>
            <a:r>
              <a:rPr lang="zh-CN" altLang="en-US" sz="2800" b="1" dirty="0">
                <a:latin typeface="宋体" panose="02010600030101010101" pitchFamily="2" charset="-122"/>
                <a:cs typeface="+mn-ea"/>
              </a:rPr>
              <a:t>态转变为</a:t>
            </a:r>
            <a:r>
              <a:rPr lang="en-US" sz="2800" b="1" dirty="0">
                <a:latin typeface="宋体" panose="02010600030101010101" pitchFamily="2" charset="-122"/>
                <a:cs typeface="+mn-ea"/>
              </a:rPr>
              <a:t>R</a:t>
            </a:r>
            <a:r>
              <a:rPr lang="zh-CN" altLang="en-US" sz="2800" b="1" dirty="0">
                <a:latin typeface="宋体" panose="02010600030101010101" pitchFamily="2" charset="-122"/>
                <a:cs typeface="+mn-ea"/>
              </a:rPr>
              <a:t>态，促进其他亚基与</a:t>
            </a:r>
            <a:r>
              <a:rPr lang="en-US" sz="2800" b="1" dirty="0">
                <a:latin typeface="宋体" panose="02010600030101010101" pitchFamily="2" charset="-122"/>
                <a:cs typeface="+mn-ea"/>
              </a:rPr>
              <a:t>O</a:t>
            </a:r>
            <a:r>
              <a:rPr lang="en-US" sz="2800" b="1" baseline="-12000" dirty="0">
                <a:latin typeface="宋体" panose="02010600030101010101" pitchFamily="2" charset="-122"/>
                <a:cs typeface="+mn-ea"/>
              </a:rPr>
              <a:t>2</a:t>
            </a:r>
            <a:r>
              <a:rPr lang="zh-CN" altLang="en-US" sz="2800" b="1" dirty="0">
                <a:latin typeface="宋体" panose="02010600030101010101" pitchFamily="2" charset="-122"/>
                <a:cs typeface="+mn-ea"/>
              </a:rPr>
              <a:t>的结合。</a:t>
            </a:r>
          </a:p>
          <a:p>
            <a:pPr marL="457200" lvl="1" indent="0">
              <a:lnSpc>
                <a:spcPts val="4000"/>
              </a:lnSpc>
              <a:spcBef>
                <a:spcPct val="10000"/>
              </a:spcBef>
              <a:buClr>
                <a:srgbClr val="0000FF"/>
              </a:buClr>
              <a:buSzTx/>
              <a:buNone/>
              <a:defRPr/>
            </a:pPr>
            <a:endParaRPr lang="zh-CN" altLang="en-US" sz="3200" b="1" dirty="0">
              <a:solidFill>
                <a:srgbClr val="FF0000"/>
              </a:solidFill>
              <a:latin typeface="宋体" panose="02010600030101010101" pitchFamily="2" charset="-122"/>
              <a:cs typeface="+mn-ea"/>
            </a:endParaRPr>
          </a:p>
          <a:p>
            <a:pPr lvl="1">
              <a:lnSpc>
                <a:spcPct val="150000"/>
              </a:lnSpc>
              <a:spcBef>
                <a:spcPct val="10000"/>
              </a:spcBef>
              <a:buClr>
                <a:srgbClr val="0000FF"/>
              </a:buClr>
              <a:buSzTx/>
              <a:buFont typeface="Wingdings" panose="05000000000000000000" pitchFamily="2" charset="2"/>
              <a:buChar char="u"/>
              <a:defRPr/>
            </a:pPr>
            <a:endParaRPr lang="zh-CN" altLang="en-US" sz="2800" b="1" dirty="0">
              <a:solidFill>
                <a:srgbClr val="FF0000"/>
              </a:solidFill>
              <a:latin typeface="宋体" panose="02010600030101010101" pitchFamily="2" charset="-122"/>
              <a:cs typeface="+mn-ea"/>
            </a:endParaRPr>
          </a:p>
          <a:p>
            <a:pPr lvl="1">
              <a:lnSpc>
                <a:spcPct val="150000"/>
              </a:lnSpc>
              <a:spcBef>
                <a:spcPct val="10000"/>
              </a:spcBef>
              <a:buClr>
                <a:srgbClr val="0000FF"/>
              </a:buClr>
              <a:buSzTx/>
              <a:buFont typeface="Wingdings" panose="05000000000000000000" pitchFamily="2" charset="2"/>
              <a:buChar char="u"/>
              <a:defRPr/>
            </a:pPr>
            <a:endParaRPr lang="zh-CN" altLang="en-US" sz="2400" b="1" dirty="0">
              <a:solidFill>
                <a:srgbClr val="FF0000"/>
              </a:solidFill>
              <a:latin typeface="宋体" panose="02010600030101010101" pitchFamily="2" charset="-122"/>
              <a:cs typeface="+mn-ea"/>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0226" name="Text Box 2">
            <a:extLst>
              <a:ext uri="{FF2B5EF4-FFF2-40B4-BE49-F238E27FC236}">
                <a16:creationId xmlns:a16="http://schemas.microsoft.com/office/drawing/2014/main" id="{768A7D58-36EA-8603-AA3B-BEAC6818277A}"/>
              </a:ext>
            </a:extLst>
          </p:cNvPr>
          <p:cNvSpPr txBox="1">
            <a:spLocks noChangeArrowheads="1"/>
          </p:cNvSpPr>
          <p:nvPr/>
        </p:nvSpPr>
        <p:spPr bwMode="auto">
          <a:xfrm>
            <a:off x="1992314" y="1701801"/>
            <a:ext cx="8569325" cy="3869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lr>
                <a:srgbClr val="0033CC"/>
              </a:buClr>
              <a:buSzPct val="90000"/>
              <a:buFont typeface="Wingdings" panose="05000000000000000000" pitchFamily="2" charset="2"/>
              <a:buBlip>
                <a:blip r:embed="rId2"/>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fontAlgn="base">
              <a:lnSpc>
                <a:spcPct val="150000"/>
              </a:lnSpc>
              <a:spcBef>
                <a:spcPct val="0"/>
              </a:spcBef>
              <a:spcAft>
                <a:spcPct val="0"/>
              </a:spcAft>
              <a:buClr>
                <a:srgbClr val="0000FF"/>
              </a:buClr>
              <a:buSzPct val="100000"/>
              <a:buFont typeface="Wingdings" panose="05000000000000000000" pitchFamily="2" charset="2"/>
              <a:buChar char="u"/>
            </a:pPr>
            <a:r>
              <a:rPr lang="zh-CN" altLang="en-US" b="1" dirty="0">
                <a:solidFill>
                  <a:srgbClr val="000000"/>
                </a:solidFill>
                <a:latin typeface="宋体" panose="02010600030101010101" pitchFamily="2" charset="-122"/>
              </a:rPr>
              <a:t>氧合作用显著改变</a:t>
            </a:r>
            <a:r>
              <a:rPr lang="zh-CN" altLang="en-US" b="1" dirty="0">
                <a:solidFill>
                  <a:srgbClr val="000000"/>
                </a:solidFill>
                <a:latin typeface="宋体" panose="02010600030101010101" pitchFamily="2" charset="-122"/>
                <a:cs typeface="+mn-ea"/>
              </a:rPr>
              <a:t>血红蛋白</a:t>
            </a:r>
            <a:r>
              <a:rPr lang="zh-CN" altLang="en-US" b="1" dirty="0">
                <a:solidFill>
                  <a:srgbClr val="000000"/>
                </a:solidFill>
                <a:latin typeface="宋体" panose="02010600030101010101" pitchFamily="2" charset="-122"/>
              </a:rPr>
              <a:t>的四级结构，血红素铁的微小移动导致血红蛋白构象的转变，即从</a:t>
            </a:r>
            <a:r>
              <a:rPr lang="en-US" altLang="zh-CN" b="1" dirty="0">
                <a:solidFill>
                  <a:srgbClr val="0000FF"/>
                </a:solidFill>
                <a:latin typeface="宋体" panose="02010600030101010101" pitchFamily="2" charset="-122"/>
              </a:rPr>
              <a:t>T</a:t>
            </a:r>
            <a:r>
              <a:rPr lang="zh-CN" altLang="en-US" b="1" dirty="0">
                <a:solidFill>
                  <a:srgbClr val="0000FF"/>
                </a:solidFill>
                <a:latin typeface="宋体" panose="02010600030101010101" pitchFamily="2" charset="-122"/>
              </a:rPr>
              <a:t>态</a:t>
            </a:r>
            <a:r>
              <a:rPr lang="en-US" altLang="zh-CN" b="1" dirty="0">
                <a:solidFill>
                  <a:srgbClr val="000000"/>
                </a:solidFill>
                <a:latin typeface="宋体" panose="02010600030101010101" pitchFamily="2" charset="-122"/>
              </a:rPr>
              <a:t>→</a:t>
            </a:r>
            <a:r>
              <a:rPr lang="en-US" altLang="zh-CN" b="1" dirty="0">
                <a:solidFill>
                  <a:srgbClr val="0000FF"/>
                </a:solidFill>
                <a:latin typeface="宋体" panose="02010600030101010101" pitchFamily="2" charset="-122"/>
              </a:rPr>
              <a:t>R</a:t>
            </a:r>
            <a:r>
              <a:rPr lang="zh-CN" altLang="en-US" b="1" dirty="0">
                <a:solidFill>
                  <a:srgbClr val="0000FF"/>
                </a:solidFill>
                <a:latin typeface="宋体" panose="02010600030101010101" pitchFamily="2" charset="-122"/>
              </a:rPr>
              <a:t>态</a:t>
            </a:r>
            <a:r>
              <a:rPr lang="zh-CN" altLang="en-US" b="1" dirty="0">
                <a:solidFill>
                  <a:srgbClr val="000000"/>
                </a:solidFill>
                <a:latin typeface="宋体" panose="02010600030101010101" pitchFamily="2" charset="-122"/>
              </a:rPr>
              <a:t>。易于与氧结合，使血红蛋白与氧的亲和力大大增加 </a:t>
            </a:r>
          </a:p>
          <a:p>
            <a:pPr fontAlgn="base">
              <a:lnSpc>
                <a:spcPct val="150000"/>
              </a:lnSpc>
              <a:spcBef>
                <a:spcPct val="0"/>
              </a:spcBef>
              <a:spcAft>
                <a:spcPct val="0"/>
              </a:spcAft>
              <a:buClr>
                <a:srgbClr val="0000FF"/>
              </a:buClr>
              <a:buSzPct val="100000"/>
              <a:buFont typeface="Wingdings" panose="05000000000000000000" pitchFamily="2" charset="2"/>
              <a:buChar char="u"/>
            </a:pPr>
            <a:r>
              <a:rPr lang="zh-CN" altLang="en-US" b="1" dirty="0">
                <a:solidFill>
                  <a:srgbClr val="000000"/>
                </a:solidFill>
                <a:latin typeface="宋体" panose="02010600030101010101" pitchFamily="2" charset="-122"/>
              </a:rPr>
              <a:t>血红蛋白结合氧的协同效应即是</a:t>
            </a:r>
            <a:r>
              <a:rPr lang="zh-CN" altLang="en-US" b="1" dirty="0">
                <a:solidFill>
                  <a:srgbClr val="0000FF"/>
                </a:solidFill>
                <a:latin typeface="宋体" panose="02010600030101010101" pitchFamily="2" charset="-122"/>
              </a:rPr>
              <a:t>变构作用</a:t>
            </a:r>
            <a:r>
              <a:rPr lang="zh-CN" altLang="en-US" b="1" dirty="0">
                <a:solidFill>
                  <a:srgbClr val="000000"/>
                </a:solidFill>
                <a:latin typeface="宋体" panose="02010600030101010101" pitchFamily="2" charset="-122"/>
              </a:rPr>
              <a:t>的结果；</a:t>
            </a:r>
          </a:p>
          <a:p>
            <a:pPr fontAlgn="base">
              <a:lnSpc>
                <a:spcPct val="150000"/>
              </a:lnSpc>
              <a:spcBef>
                <a:spcPct val="0"/>
              </a:spcBef>
              <a:spcAft>
                <a:spcPct val="0"/>
              </a:spcAft>
              <a:buClr>
                <a:srgbClr val="0000FF"/>
              </a:buClr>
              <a:buSzPct val="100000"/>
              <a:buFont typeface="Wingdings" panose="05000000000000000000" pitchFamily="2" charset="2"/>
              <a:buChar char="u"/>
            </a:pPr>
            <a:r>
              <a:rPr lang="zh-CN" altLang="en-US" b="1" dirty="0">
                <a:solidFill>
                  <a:srgbClr val="000000"/>
                </a:solidFill>
                <a:latin typeface="宋体" panose="02010600030101010101" pitchFamily="2" charset="-122"/>
              </a:rPr>
              <a:t>变构作用是寡聚体蛋白质行使功能时的重要特征</a:t>
            </a:r>
            <a:r>
              <a:rPr lang="zh-CN" altLang="en-US" dirty="0">
                <a:solidFill>
                  <a:srgbClr val="000000"/>
                </a:solidFill>
                <a:latin typeface="宋体" panose="02010600030101010101" pitchFamily="2" charset="-122"/>
              </a:rPr>
              <a:t>。</a:t>
            </a: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3">
            <a:extLst>
              <a:ext uri="{FF2B5EF4-FFF2-40B4-BE49-F238E27FC236}">
                <a16:creationId xmlns:a16="http://schemas.microsoft.com/office/drawing/2014/main" id="{4A72F11B-D7D7-1D2A-AE67-98458DA5A453}"/>
              </a:ext>
            </a:extLst>
          </p:cNvPr>
          <p:cNvSpPr>
            <a:spLocks noGrp="1" noChangeArrowheads="1"/>
          </p:cNvSpPr>
          <p:nvPr>
            <p:ph type="body" idx="4294967295"/>
          </p:nvPr>
        </p:nvSpPr>
        <p:spPr>
          <a:xfrm>
            <a:off x="2438401" y="1600201"/>
            <a:ext cx="8050213" cy="4530725"/>
          </a:xfrm>
        </p:spPr>
        <p:txBody>
          <a:bodyPr/>
          <a:lstStyle/>
          <a:p>
            <a:pPr marL="0" indent="0">
              <a:buNone/>
              <a:defRPr/>
            </a:pPr>
            <a:r>
              <a:rPr lang="zh-CN" altLang="en-US" b="1" dirty="0">
                <a:solidFill>
                  <a:srgbClr val="0000FF"/>
                </a:solidFill>
                <a:latin typeface="宋体" panose="02010600030101010101" pitchFamily="2" charset="-122"/>
              </a:rPr>
              <a:t>3. H</a:t>
            </a:r>
            <a:r>
              <a:rPr lang="zh-CN" altLang="en-US" b="1" baseline="30000" dirty="0">
                <a:solidFill>
                  <a:srgbClr val="0000FF"/>
                </a:solidFill>
                <a:latin typeface="宋体" panose="02010600030101010101" pitchFamily="2" charset="-122"/>
              </a:rPr>
              <a:t>＋</a:t>
            </a:r>
            <a:r>
              <a:rPr lang="zh-CN" altLang="en-US" b="1" dirty="0">
                <a:solidFill>
                  <a:srgbClr val="0000FF"/>
                </a:solidFill>
                <a:latin typeface="宋体" panose="02010600030101010101" pitchFamily="2" charset="-122"/>
              </a:rPr>
              <a:t>、CO</a:t>
            </a:r>
            <a:r>
              <a:rPr lang="zh-CN" altLang="en-US" b="1" baseline="-25000" dirty="0">
                <a:solidFill>
                  <a:srgbClr val="0000FF"/>
                </a:solidFill>
                <a:latin typeface="宋体" panose="02010600030101010101" pitchFamily="2" charset="-122"/>
              </a:rPr>
              <a:t>2</a:t>
            </a:r>
            <a:r>
              <a:rPr lang="zh-CN" altLang="en-US" b="1" dirty="0">
                <a:solidFill>
                  <a:srgbClr val="0000FF"/>
                </a:solidFill>
                <a:latin typeface="宋体" panose="02010600030101010101" pitchFamily="2" charset="-122"/>
              </a:rPr>
              <a:t>对血红蛋白结合的影响</a:t>
            </a:r>
          </a:p>
          <a:p>
            <a:pPr>
              <a:lnSpc>
                <a:spcPct val="150000"/>
              </a:lnSpc>
              <a:buSzTx/>
              <a:buFont typeface="Wingdings" panose="05000000000000000000" pitchFamily="2" charset="2"/>
              <a:buChar char="u"/>
              <a:defRPr/>
            </a:pPr>
            <a:r>
              <a:rPr lang="zh-CN" altLang="en-US" b="1" dirty="0">
                <a:latin typeface="宋体" panose="02010600030101010101" pitchFamily="2" charset="-122"/>
              </a:rPr>
              <a:t>质子、二氧化碳可极大地影响血红蛋白的氧合性质</a:t>
            </a:r>
          </a:p>
          <a:p>
            <a:pPr>
              <a:lnSpc>
                <a:spcPct val="150000"/>
              </a:lnSpc>
              <a:buSzTx/>
              <a:buFont typeface="Wingdings" panose="05000000000000000000" pitchFamily="2" charset="2"/>
              <a:buChar char="u"/>
              <a:defRPr/>
            </a:pPr>
            <a:r>
              <a:rPr lang="zh-CN" altLang="en-US" b="1" dirty="0">
                <a:latin typeface="宋体" panose="02010600030101010101" pitchFamily="2" charset="-122"/>
              </a:rPr>
              <a:t>增加 H</a:t>
            </a:r>
            <a:r>
              <a:rPr lang="zh-CN" altLang="en-US" b="1" baseline="30000" dirty="0">
                <a:latin typeface="宋体" panose="02010600030101010101" pitchFamily="2" charset="-122"/>
                <a:sym typeface="Arial" panose="020B0604020202020204" pitchFamily="34" charset="0"/>
              </a:rPr>
              <a:t>＋</a:t>
            </a:r>
            <a:r>
              <a:rPr lang="zh-CN" altLang="en-US" b="1" dirty="0">
                <a:latin typeface="宋体" panose="02010600030101010101" pitchFamily="2" charset="-122"/>
              </a:rPr>
              <a:t>浓度将提高 O</a:t>
            </a:r>
            <a:r>
              <a:rPr lang="zh-CN" altLang="en-US" b="1" baseline="-25000" dirty="0">
                <a:latin typeface="宋体" panose="02010600030101010101" pitchFamily="2" charset="-122"/>
              </a:rPr>
              <a:t>2</a:t>
            </a:r>
            <a:r>
              <a:rPr lang="zh-CN" altLang="en-US" b="1" dirty="0">
                <a:latin typeface="宋体" panose="02010600030101010101" pitchFamily="2" charset="-122"/>
              </a:rPr>
              <a:t>从血红蛋白中的释放</a:t>
            </a:r>
          </a:p>
          <a:p>
            <a:pPr>
              <a:lnSpc>
                <a:spcPct val="150000"/>
              </a:lnSpc>
              <a:buSzTx/>
              <a:buFont typeface="Wingdings" panose="05000000000000000000" pitchFamily="2" charset="2"/>
              <a:buChar char="u"/>
              <a:defRPr/>
            </a:pPr>
            <a:r>
              <a:rPr lang="zh-CN" altLang="en-US" b="1" dirty="0">
                <a:latin typeface="宋体" panose="02010600030101010101" pitchFamily="2" charset="-122"/>
              </a:rPr>
              <a:t>CO</a:t>
            </a:r>
            <a:r>
              <a:rPr lang="zh-CN" altLang="en-US" b="1" baseline="-25000" dirty="0">
                <a:latin typeface="宋体" panose="02010600030101010101" pitchFamily="2" charset="-122"/>
              </a:rPr>
              <a:t>2</a:t>
            </a:r>
            <a:r>
              <a:rPr lang="zh-CN" altLang="en-US" b="1" dirty="0">
                <a:latin typeface="宋体" panose="02010600030101010101" pitchFamily="2" charset="-122"/>
              </a:rPr>
              <a:t>水合将转变成碳酸氢盐和 H</a:t>
            </a:r>
            <a:r>
              <a:rPr lang="zh-CN" altLang="en-US" b="1" baseline="30000" dirty="0">
                <a:latin typeface="宋体" panose="02010600030101010101" pitchFamily="2" charset="-122"/>
              </a:rPr>
              <a:t>＋</a:t>
            </a:r>
            <a:r>
              <a:rPr lang="zh-CN" altLang="en-US" b="1" dirty="0">
                <a:latin typeface="宋体" panose="02010600030101010101" pitchFamily="2" charset="-122"/>
              </a:rPr>
              <a:t>；</a:t>
            </a: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3">
            <a:extLst>
              <a:ext uri="{FF2B5EF4-FFF2-40B4-BE49-F238E27FC236}">
                <a16:creationId xmlns:a16="http://schemas.microsoft.com/office/drawing/2014/main" id="{1840F223-0890-CA81-0A20-2E8E062CDCFE}"/>
              </a:ext>
            </a:extLst>
          </p:cNvPr>
          <p:cNvSpPr>
            <a:spLocks noGrp="1" noChangeArrowheads="1"/>
          </p:cNvSpPr>
          <p:nvPr>
            <p:ph type="body" idx="4294967295"/>
          </p:nvPr>
        </p:nvSpPr>
        <p:spPr>
          <a:xfrm>
            <a:off x="2136775" y="692151"/>
            <a:ext cx="8280400" cy="4530725"/>
          </a:xfrm>
        </p:spPr>
        <p:txBody>
          <a:bodyPr/>
          <a:lstStyle/>
          <a:p>
            <a:pPr marL="0" indent="0">
              <a:lnSpc>
                <a:spcPct val="150000"/>
              </a:lnSpc>
              <a:buNone/>
              <a:defRPr/>
            </a:pPr>
            <a:r>
              <a:rPr lang="zh-CN" altLang="en-US" b="1" dirty="0">
                <a:solidFill>
                  <a:srgbClr val="0000FF"/>
                </a:solidFill>
                <a:latin typeface="宋体" panose="02010600030101010101" pitchFamily="2" charset="-122"/>
              </a:rPr>
              <a:t>4.血红蛋白分子病</a:t>
            </a:r>
          </a:p>
          <a:p>
            <a:pPr marL="0" indent="0">
              <a:lnSpc>
                <a:spcPct val="150000"/>
              </a:lnSpc>
              <a:buSzTx/>
              <a:buNone/>
              <a:defRPr/>
            </a:pPr>
            <a:r>
              <a:rPr lang="zh-CN" altLang="en-US" b="1" dirty="0">
                <a:latin typeface="宋体" panose="02010600030101010101" pitchFamily="2" charset="-122"/>
              </a:rPr>
              <a:t>血红蛋白</a:t>
            </a:r>
            <a:r>
              <a:rPr lang="zh-CN" altLang="en-US" b="1" dirty="0">
                <a:solidFill>
                  <a:srgbClr val="0000FF"/>
                </a:solidFill>
                <a:latin typeface="宋体" panose="02010600030101010101" pitchFamily="2" charset="-122"/>
              </a:rPr>
              <a:t>分子结构或合成量异常</a:t>
            </a:r>
            <a:r>
              <a:rPr lang="zh-CN" altLang="en-US" b="1" dirty="0">
                <a:latin typeface="宋体" panose="02010600030101010101" pitchFamily="2" charset="-122"/>
              </a:rPr>
              <a:t>所引起的疾病，分为两大类：</a:t>
            </a:r>
          </a:p>
          <a:p>
            <a:pPr>
              <a:lnSpc>
                <a:spcPct val="150000"/>
              </a:lnSpc>
              <a:buSzTx/>
              <a:buFont typeface="Wingdings" panose="05000000000000000000" pitchFamily="2" charset="2"/>
              <a:buChar char="u"/>
              <a:defRPr/>
            </a:pPr>
            <a:r>
              <a:rPr lang="zh-CN" altLang="en-US" b="1" dirty="0">
                <a:latin typeface="宋体" panose="02010600030101010101" pitchFamily="2" charset="-122"/>
              </a:rPr>
              <a:t>血红蛋白病：由于α或β链发生了变化，如镰刀状细胞贫血病等；</a:t>
            </a:r>
          </a:p>
          <a:p>
            <a:pPr>
              <a:lnSpc>
                <a:spcPct val="150000"/>
              </a:lnSpc>
              <a:buSzTx/>
              <a:buFont typeface="Wingdings" panose="05000000000000000000" pitchFamily="2" charset="2"/>
              <a:buChar char="u"/>
              <a:defRPr/>
            </a:pPr>
            <a:r>
              <a:rPr lang="zh-CN" altLang="en-US" b="1" dirty="0">
                <a:latin typeface="宋体" panose="02010600030101010101" pitchFamily="2" charset="-122"/>
              </a:rPr>
              <a:t>地中海贫血：由于缺少了α或β链，或由于突变产生了缩短了的多肽链、不正确的氨基酸序列、转录被阻断或前体 mRNA 的不正确加工等。</a:t>
            </a: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3">
            <a:extLst>
              <a:ext uri="{FF2B5EF4-FFF2-40B4-BE49-F238E27FC236}">
                <a16:creationId xmlns:a16="http://schemas.microsoft.com/office/drawing/2014/main" id="{08128CAD-97BD-55E2-EB59-667C8412CBAE}"/>
              </a:ext>
            </a:extLst>
          </p:cNvPr>
          <p:cNvSpPr>
            <a:spLocks noGrp="1" noChangeArrowheads="1"/>
          </p:cNvSpPr>
          <p:nvPr>
            <p:ph type="body" idx="4294967295"/>
          </p:nvPr>
        </p:nvSpPr>
        <p:spPr/>
        <p:txBody>
          <a:bodyPr/>
          <a:lstStyle/>
          <a:p>
            <a:pPr marL="0" indent="0">
              <a:lnSpc>
                <a:spcPct val="150000"/>
              </a:lnSpc>
              <a:buNone/>
            </a:pPr>
            <a:r>
              <a:rPr lang="zh-CN" altLang="en-US" b="1">
                <a:latin typeface="宋体" panose="02010600030101010101" pitchFamily="2" charset="-122"/>
              </a:rPr>
              <a:t>镰刀状细胞贫血病（</a:t>
            </a:r>
            <a:r>
              <a:rPr lang="zh-CN" altLang="en-US" b="1">
                <a:latin typeface="Times New Roman" panose="02020603050405020304" pitchFamily="18" charset="0"/>
              </a:rPr>
              <a:t>sickle-cell anemia</a:t>
            </a:r>
            <a:r>
              <a:rPr lang="zh-CN" altLang="en-US" b="1">
                <a:latin typeface="宋体" panose="02010600030101010101" pitchFamily="2" charset="-122"/>
              </a:rPr>
              <a:t>）</a:t>
            </a:r>
          </a:p>
          <a:p>
            <a:pPr marL="0" indent="0">
              <a:lnSpc>
                <a:spcPct val="150000"/>
              </a:lnSpc>
              <a:buNone/>
            </a:pPr>
            <a:r>
              <a:rPr lang="zh-CN" altLang="en-US" b="1">
                <a:latin typeface="宋体" panose="02010600030101010101" pitchFamily="2" charset="-122"/>
              </a:rPr>
              <a:t>基因突变:血红蛋白分子中β链上N-末端开始的第6位的谷基酸残基被缬氨酸所代替</a:t>
            </a: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a:extLst>
              <a:ext uri="{FF2B5EF4-FFF2-40B4-BE49-F238E27FC236}">
                <a16:creationId xmlns:a16="http://schemas.microsoft.com/office/drawing/2014/main" id="{B703D36C-01CB-298F-D0E0-6C372D708AE9}"/>
              </a:ext>
            </a:extLst>
          </p:cNvPr>
          <p:cNvSpPr>
            <a:spLocks noGrp="1" noChangeArrowheads="1"/>
          </p:cNvSpPr>
          <p:nvPr>
            <p:ph type="title" idx="4294967295"/>
          </p:nvPr>
        </p:nvSpPr>
        <p:spPr>
          <a:xfrm>
            <a:off x="2136776" y="620714"/>
            <a:ext cx="4259263" cy="769937"/>
          </a:xfrm>
        </p:spPr>
        <p:txBody>
          <a:bodyPr anchor="b"/>
          <a:lstStyle/>
          <a:p>
            <a:pPr eaLnBrk="1" hangingPunct="1"/>
            <a:r>
              <a:rPr lang="zh-CN" altLang="en-US" sz="2800" b="1">
                <a:solidFill>
                  <a:schemeClr val="tx1"/>
                </a:solidFill>
              </a:rPr>
              <a:t>镰状细胞贫血</a:t>
            </a:r>
          </a:p>
        </p:txBody>
      </p:sp>
      <p:pic>
        <p:nvPicPr>
          <p:cNvPr id="184323" name="Picture 4" descr="2">
            <a:extLst>
              <a:ext uri="{FF2B5EF4-FFF2-40B4-BE49-F238E27FC236}">
                <a16:creationId xmlns:a16="http://schemas.microsoft.com/office/drawing/2014/main" id="{E9571645-3984-FEC0-D0FC-2DB75C0081B1}"/>
              </a:ext>
            </a:extLst>
          </p:cNvPr>
          <p:cNvPicPr>
            <a:picLocks noChangeAspect="1" noChangeArrowheads="1"/>
          </p:cNvPicPr>
          <p:nvPr/>
        </p:nvPicPr>
        <p:blipFill>
          <a:blip r:embed="rId2">
            <a:lum contrast="24000"/>
            <a:extLst>
              <a:ext uri="{28A0092B-C50C-407E-A947-70E740481C1C}">
                <a14:useLocalDpi xmlns:a14="http://schemas.microsoft.com/office/drawing/2010/main" val="0"/>
              </a:ext>
            </a:extLst>
          </a:blip>
          <a:srcRect l="16795" t="33917" r="52002" b="48451"/>
          <a:stretch>
            <a:fillRect/>
          </a:stretch>
        </p:blipFill>
        <p:spPr bwMode="auto">
          <a:xfrm>
            <a:off x="2136775" y="1485901"/>
            <a:ext cx="4395788" cy="309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24" name="Picture 5" descr="2">
            <a:extLst>
              <a:ext uri="{FF2B5EF4-FFF2-40B4-BE49-F238E27FC236}">
                <a16:creationId xmlns:a16="http://schemas.microsoft.com/office/drawing/2014/main" id="{F4140054-712F-0640-0C5C-9043C7117909}"/>
              </a:ext>
            </a:extLst>
          </p:cNvPr>
          <p:cNvPicPr>
            <a:picLocks noChangeAspect="1" noChangeArrowheads="1"/>
          </p:cNvPicPr>
          <p:nvPr/>
        </p:nvPicPr>
        <p:blipFill>
          <a:blip r:embed="rId2">
            <a:lum contrast="24000"/>
            <a:extLst>
              <a:ext uri="{28A0092B-C50C-407E-A947-70E740481C1C}">
                <a14:useLocalDpi xmlns:a14="http://schemas.microsoft.com/office/drawing/2010/main" val="0"/>
              </a:ext>
            </a:extLst>
          </a:blip>
          <a:srcRect l="49004" t="33917" r="17781" b="48451"/>
          <a:stretch>
            <a:fillRect/>
          </a:stretch>
        </p:blipFill>
        <p:spPr bwMode="auto">
          <a:xfrm>
            <a:off x="6384926" y="3286125"/>
            <a:ext cx="4238625" cy="280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25" name="Text Box 6">
            <a:extLst>
              <a:ext uri="{FF2B5EF4-FFF2-40B4-BE49-F238E27FC236}">
                <a16:creationId xmlns:a16="http://schemas.microsoft.com/office/drawing/2014/main" id="{5C638044-0762-BACB-11C0-6744D84CC2FF}"/>
              </a:ext>
            </a:extLst>
          </p:cNvPr>
          <p:cNvSpPr txBox="1">
            <a:spLocks noChangeArrowheads="1"/>
          </p:cNvSpPr>
          <p:nvPr/>
        </p:nvSpPr>
        <p:spPr bwMode="auto">
          <a:xfrm>
            <a:off x="2787404" y="4652963"/>
            <a:ext cx="198804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33CC"/>
              </a:buClr>
              <a:buSzPct val="90000"/>
              <a:buFont typeface="Wingdings" panose="05000000000000000000" pitchFamily="2" charset="2"/>
              <a:buBlip>
                <a:blip r:embed="rId3"/>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ClrTx/>
              <a:buSzTx/>
              <a:buNone/>
            </a:pPr>
            <a:r>
              <a:rPr lang="zh-CN" altLang="en-US" b="1">
                <a:solidFill>
                  <a:srgbClr val="000000"/>
                </a:solidFill>
                <a:latin typeface="Tahoma" panose="020B0604030504040204" pitchFamily="34" charset="0"/>
              </a:rPr>
              <a:t>正常血涂片</a:t>
            </a:r>
          </a:p>
        </p:txBody>
      </p:sp>
      <p:sp>
        <p:nvSpPr>
          <p:cNvPr id="184326" name="Text Box 8">
            <a:extLst>
              <a:ext uri="{FF2B5EF4-FFF2-40B4-BE49-F238E27FC236}">
                <a16:creationId xmlns:a16="http://schemas.microsoft.com/office/drawing/2014/main" id="{D76F4558-B12F-2BDA-F961-2E85B3062237}"/>
              </a:ext>
            </a:extLst>
          </p:cNvPr>
          <p:cNvSpPr txBox="1">
            <a:spLocks noChangeArrowheads="1"/>
          </p:cNvSpPr>
          <p:nvPr/>
        </p:nvSpPr>
        <p:spPr bwMode="auto">
          <a:xfrm>
            <a:off x="6456364" y="6165850"/>
            <a:ext cx="410368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SzPct val="90000"/>
              <a:buFont typeface="Wingdings" panose="05000000000000000000" pitchFamily="2" charset="2"/>
              <a:buBlip>
                <a:blip r:embed="rId3"/>
              </a:buBlip>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ClrTx/>
              <a:buSzTx/>
              <a:buNone/>
            </a:pPr>
            <a:r>
              <a:rPr lang="zh-CN" altLang="en-US" b="1">
                <a:solidFill>
                  <a:srgbClr val="000000"/>
                </a:solidFill>
                <a:latin typeface="Tahoma" panose="020B0604030504040204" pitchFamily="34" charset="0"/>
              </a:rPr>
              <a:t>血涂片中可见镰状细胞</a:t>
            </a:r>
          </a:p>
        </p:txBody>
      </p:sp>
    </p:spTree>
  </p:cSld>
  <p:clrMapOvr>
    <a:masterClrMapping/>
  </p:clrMapOvr>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Layers">
  <a:themeElements>
    <a:clrScheme name="Layers 10">
      <a:dk1>
        <a:srgbClr val="000000"/>
      </a:dk1>
      <a:lt1>
        <a:srgbClr val="FFFFFF"/>
      </a:lt1>
      <a:dk2>
        <a:srgbClr val="660033"/>
      </a:dk2>
      <a:lt2>
        <a:srgbClr val="666699"/>
      </a:lt2>
      <a:accent1>
        <a:srgbClr val="95A3D1"/>
      </a:accent1>
      <a:accent2>
        <a:srgbClr val="FFFF66"/>
      </a:accent2>
      <a:accent3>
        <a:srgbClr val="FFFFFF"/>
      </a:accent3>
      <a:accent4>
        <a:srgbClr val="000000"/>
      </a:accent4>
      <a:accent5>
        <a:srgbClr val="C8CEE5"/>
      </a:accent5>
      <a:accent6>
        <a:srgbClr val="E7E75C"/>
      </a:accent6>
      <a:hlink>
        <a:srgbClr val="5A84D8"/>
      </a:hlink>
      <a:folHlink>
        <a:srgbClr val="CCCC99"/>
      </a:folHlink>
    </a:clrScheme>
    <a:fontScheme name="Layers">
      <a:majorFont>
        <a:latin typeface="Times New Roman"/>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31750" cap="sq" cmpd="sng" algn="ctr">
          <a:solidFill>
            <a:srgbClr val="800000"/>
          </a:solidFill>
          <a:prstDash val="solid"/>
          <a:round/>
          <a:headEnd type="none" w="med" len="med"/>
          <a:tailEnd type="stealth" w="med" len="lg"/>
        </a:ln>
      </a:spPr>
      <a:bodyPr vert="horz" wrap="none" lIns="91440" tIns="45720" rIns="91440" bIns="45720" numCol="1" anchor="t" anchorCtr="0" compatLnSpc="1">
        <a:spAutoFit/>
      </a:bodyPr>
      <a:lstStyle>
        <a:def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2400" b="1" i="0" u="none" strike="noStrike" cap="none" normalizeH="0" baseline="0" smtClean="0">
            <a:ln>
              <a:noFill/>
            </a:ln>
            <a:solidFill>
              <a:schemeClr val="tx2"/>
            </a:solidFill>
            <a:effectLst/>
            <a:latin typeface="Times New Roman" panose="02020603050405020304" pitchFamily="18" charset="0"/>
            <a:ea typeface="楷体_GB2312" pitchFamily="49" charset="-122"/>
          </a:defRPr>
        </a:defPPr>
      </a:lstStyle>
    </a:spDef>
    <a:lnDef>
      <a:spPr bwMode="auto">
        <a:xfrm>
          <a:off x="0" y="0"/>
          <a:ext cx="1" cy="1"/>
        </a:xfrm>
        <a:custGeom>
          <a:avLst/>
          <a:gdLst/>
          <a:ahLst/>
          <a:cxnLst/>
          <a:rect l="0" t="0" r="0" b="0"/>
          <a:pathLst/>
        </a:custGeom>
        <a:solidFill>
          <a:schemeClr val="accent1"/>
        </a:solidFill>
        <a:ln w="31750" cap="sq" cmpd="sng" algn="ctr">
          <a:solidFill>
            <a:srgbClr val="800000"/>
          </a:solidFill>
          <a:prstDash val="solid"/>
          <a:round/>
          <a:headEnd type="none" w="med" len="med"/>
          <a:tailEnd type="stealth" w="med" len="lg"/>
        </a:ln>
      </a:spPr>
      <a:bodyPr vert="horz" wrap="none" lIns="91440" tIns="45720" rIns="91440" bIns="45720" numCol="1" anchor="t" anchorCtr="0" compatLnSpc="1">
        <a:spAutoFit/>
      </a:bodyPr>
      <a:lstStyle>
        <a:def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2400" b="1" i="0" u="none" strike="noStrike" cap="none" normalizeH="0" baseline="0" smtClean="0">
            <a:ln>
              <a:noFill/>
            </a:ln>
            <a:solidFill>
              <a:schemeClr val="tx2"/>
            </a:solidFill>
            <a:effectLst/>
            <a:latin typeface="Times New Roman" panose="02020603050405020304" pitchFamily="18" charset="0"/>
            <a:ea typeface="楷体_GB2312" pitchFamily="49" charset="-122"/>
          </a:defRPr>
        </a:defPPr>
      </a:lstStyle>
    </a:lnDef>
  </a:objectDefaults>
  <a:extraClrSchemeLst>
    <a:extraClrScheme>
      <a:clrScheme name="Layers 1">
        <a:dk1>
          <a:srgbClr val="993300"/>
        </a:dk1>
        <a:lt1>
          <a:srgbClr val="CCCCCC"/>
        </a:lt1>
        <a:dk2>
          <a:srgbClr val="000000"/>
        </a:dk2>
        <a:lt2>
          <a:srgbClr val="FFFFFF"/>
        </a:lt2>
        <a:accent1>
          <a:srgbClr val="576F2B"/>
        </a:accent1>
        <a:accent2>
          <a:srgbClr val="666699"/>
        </a:accent2>
        <a:accent3>
          <a:srgbClr val="AAAAAA"/>
        </a:accent3>
        <a:accent4>
          <a:srgbClr val="AEAEAE"/>
        </a:accent4>
        <a:accent5>
          <a:srgbClr val="B4BBAC"/>
        </a:accent5>
        <a:accent6>
          <a:srgbClr val="5C5C8A"/>
        </a:accent6>
        <a:hlink>
          <a:srgbClr val="993300"/>
        </a:hlink>
        <a:folHlink>
          <a:srgbClr val="CC9900"/>
        </a:folHlink>
      </a:clrScheme>
      <a:clrMap bg1="dk2" tx1="lt1" bg2="dk1" tx2="lt2" accent1="accent1" accent2="accent2" accent3="accent3" accent4="accent4" accent5="accent5" accent6="accent6" hlink="hlink" folHlink="folHlink"/>
    </a:extraClrScheme>
    <a:extraClrScheme>
      <a:clrScheme name="Layers 2">
        <a:dk1>
          <a:srgbClr val="993300"/>
        </a:dk1>
        <a:lt1>
          <a:srgbClr val="CCCCCC"/>
        </a:lt1>
        <a:dk2>
          <a:srgbClr val="330000"/>
        </a:dk2>
        <a:lt2>
          <a:srgbClr val="FFFFFF"/>
        </a:lt2>
        <a:accent1>
          <a:srgbClr val="996633"/>
        </a:accent1>
        <a:accent2>
          <a:srgbClr val="FF0000"/>
        </a:accent2>
        <a:accent3>
          <a:srgbClr val="ADAAAA"/>
        </a:accent3>
        <a:accent4>
          <a:srgbClr val="AEAEAE"/>
        </a:accent4>
        <a:accent5>
          <a:srgbClr val="CAB8AD"/>
        </a:accent5>
        <a:accent6>
          <a:srgbClr val="E70000"/>
        </a:accent6>
        <a:hlink>
          <a:srgbClr val="FF3300"/>
        </a:hlink>
        <a:folHlink>
          <a:srgbClr val="CC9933"/>
        </a:folHlink>
      </a:clrScheme>
      <a:clrMap bg1="dk2" tx1="lt1" bg2="dk1" tx2="lt2" accent1="accent1" accent2="accent2" accent3="accent3" accent4="accent4" accent5="accent5" accent6="accent6" hlink="hlink" folHlink="folHlink"/>
    </a:extraClrScheme>
    <a:extraClrScheme>
      <a:clrScheme name="Layers 3">
        <a:dk1>
          <a:srgbClr val="79788A"/>
        </a:dk1>
        <a:lt1>
          <a:srgbClr val="FFFFFF"/>
        </a:lt1>
        <a:dk2>
          <a:srgbClr val="21203C"/>
        </a:dk2>
        <a:lt2>
          <a:srgbClr val="FFFFCC"/>
        </a:lt2>
        <a:accent1>
          <a:srgbClr val="476077"/>
        </a:accent1>
        <a:accent2>
          <a:srgbClr val="676C5A"/>
        </a:accent2>
        <a:accent3>
          <a:srgbClr val="ABABAF"/>
        </a:accent3>
        <a:accent4>
          <a:srgbClr val="DADADA"/>
        </a:accent4>
        <a:accent5>
          <a:srgbClr val="B1B6BD"/>
        </a:accent5>
        <a:accent6>
          <a:srgbClr val="5D6151"/>
        </a:accent6>
        <a:hlink>
          <a:srgbClr val="666699"/>
        </a:hlink>
        <a:folHlink>
          <a:srgbClr val="8CB0A2"/>
        </a:folHlink>
      </a:clrScheme>
      <a:clrMap bg1="dk2" tx1="lt1" bg2="dk1" tx2="lt2" accent1="accent1" accent2="accent2" accent3="accent3" accent4="accent4" accent5="accent5" accent6="accent6" hlink="hlink" folHlink="folHlink"/>
    </a:extraClrScheme>
    <a:extraClrScheme>
      <a:clrScheme name="Layers 4">
        <a:dk1>
          <a:srgbClr val="455B41"/>
        </a:dk1>
        <a:lt1>
          <a:srgbClr val="FFFFCC"/>
        </a:lt1>
        <a:dk2>
          <a:srgbClr val="79A994"/>
        </a:dk2>
        <a:lt2>
          <a:srgbClr val="FFFFCC"/>
        </a:lt2>
        <a:accent1>
          <a:srgbClr val="517087"/>
        </a:accent1>
        <a:accent2>
          <a:srgbClr val="666699"/>
        </a:accent2>
        <a:accent3>
          <a:srgbClr val="BED1C8"/>
        </a:accent3>
        <a:accent4>
          <a:srgbClr val="DADAAE"/>
        </a:accent4>
        <a:accent5>
          <a:srgbClr val="B3BBC3"/>
        </a:accent5>
        <a:accent6>
          <a:srgbClr val="5C5C8A"/>
        </a:accent6>
        <a:hlink>
          <a:srgbClr val="993300"/>
        </a:hlink>
        <a:folHlink>
          <a:srgbClr val="A4AF6B"/>
        </a:folHlink>
      </a:clrScheme>
      <a:clrMap bg1="dk2" tx1="lt1" bg2="dk1" tx2="lt2" accent1="accent1" accent2="accent2" accent3="accent3" accent4="accent4" accent5="accent5" accent6="accent6" hlink="hlink" folHlink="folHlink"/>
    </a:extraClrScheme>
    <a:extraClrScheme>
      <a:clrScheme name="Layers 5">
        <a:dk1>
          <a:srgbClr val="330000"/>
        </a:dk1>
        <a:lt1>
          <a:srgbClr val="FF9900"/>
        </a:lt1>
        <a:dk2>
          <a:srgbClr val="FFFFFF"/>
        </a:dk2>
        <a:lt2>
          <a:srgbClr val="8B3111"/>
        </a:lt2>
        <a:accent1>
          <a:srgbClr val="DD6D07"/>
        </a:accent1>
        <a:accent2>
          <a:srgbClr val="CC9900"/>
        </a:accent2>
        <a:accent3>
          <a:srgbClr val="FFCAAA"/>
        </a:accent3>
        <a:accent4>
          <a:srgbClr val="2A0000"/>
        </a:accent4>
        <a:accent5>
          <a:srgbClr val="EBBAAA"/>
        </a:accent5>
        <a:accent6>
          <a:srgbClr val="B98A00"/>
        </a:accent6>
        <a:hlink>
          <a:srgbClr val="CC3300"/>
        </a:hlink>
        <a:folHlink>
          <a:srgbClr val="CCCC66"/>
        </a:folHlink>
      </a:clrScheme>
      <a:clrMap bg1="lt1" tx1="dk1" bg2="lt2" tx2="dk2" accent1="accent1" accent2="accent2" accent3="accent3" accent4="accent4" accent5="accent5" accent6="accent6" hlink="hlink" folHlink="folHlink"/>
    </a:extraClrScheme>
    <a:extraClrScheme>
      <a:clrScheme name="Layers 6">
        <a:dk1>
          <a:srgbClr val="000000"/>
        </a:dk1>
        <a:lt1>
          <a:srgbClr val="FFFFE1"/>
        </a:lt1>
        <a:dk2>
          <a:srgbClr val="330033"/>
        </a:dk2>
        <a:lt2>
          <a:srgbClr val="330033"/>
        </a:lt2>
        <a:accent1>
          <a:srgbClr val="CCCC99"/>
        </a:accent1>
        <a:accent2>
          <a:srgbClr val="FF0000"/>
        </a:accent2>
        <a:accent3>
          <a:srgbClr val="FFFFEE"/>
        </a:accent3>
        <a:accent4>
          <a:srgbClr val="000000"/>
        </a:accent4>
        <a:accent5>
          <a:srgbClr val="E2E2CA"/>
        </a:accent5>
        <a:accent6>
          <a:srgbClr val="E70000"/>
        </a:accent6>
        <a:hlink>
          <a:srgbClr val="990033"/>
        </a:hlink>
        <a:folHlink>
          <a:srgbClr val="B2B2B2"/>
        </a:folHlink>
      </a:clrScheme>
      <a:clrMap bg1="lt1" tx1="dk1" bg2="lt2" tx2="dk2" accent1="accent1" accent2="accent2" accent3="accent3" accent4="accent4" accent5="accent5" accent6="accent6" hlink="hlink" folHlink="folHlink"/>
    </a:extraClrScheme>
    <a:extraClrScheme>
      <a:clrScheme name="Layers 7">
        <a:dk1>
          <a:srgbClr val="000000"/>
        </a:dk1>
        <a:lt1>
          <a:srgbClr val="FFFFFF"/>
        </a:lt1>
        <a:dk2>
          <a:srgbClr val="000000"/>
        </a:dk2>
        <a:lt2>
          <a:srgbClr val="891411"/>
        </a:lt2>
        <a:accent1>
          <a:srgbClr val="4F917E"/>
        </a:accent1>
        <a:accent2>
          <a:srgbClr val="CC9900"/>
        </a:accent2>
        <a:accent3>
          <a:srgbClr val="FFFFFF"/>
        </a:accent3>
        <a:accent4>
          <a:srgbClr val="000000"/>
        </a:accent4>
        <a:accent5>
          <a:srgbClr val="B2C7C0"/>
        </a:accent5>
        <a:accent6>
          <a:srgbClr val="B98A00"/>
        </a:accent6>
        <a:hlink>
          <a:srgbClr val="5A84D8"/>
        </a:hlink>
        <a:folHlink>
          <a:srgbClr val="A0C6BA"/>
        </a:folHlink>
      </a:clrScheme>
      <a:clrMap bg1="lt1" tx1="dk1" bg2="lt2" tx2="dk2" accent1="accent1" accent2="accent2" accent3="accent3" accent4="accent4" accent5="accent5" accent6="accent6" hlink="hlink" folHlink="folHlink"/>
    </a:extraClrScheme>
    <a:extraClrScheme>
      <a:clrScheme name="Layers 8">
        <a:dk1>
          <a:srgbClr val="000000"/>
        </a:dk1>
        <a:lt1>
          <a:srgbClr val="FFFFFF"/>
        </a:lt1>
        <a:dk2>
          <a:srgbClr val="CC0000"/>
        </a:dk2>
        <a:lt2>
          <a:srgbClr val="999966"/>
        </a:lt2>
        <a:accent1>
          <a:srgbClr val="CCCCCC"/>
        </a:accent1>
        <a:accent2>
          <a:srgbClr val="CCCC66"/>
        </a:accent2>
        <a:accent3>
          <a:srgbClr val="FFFFFF"/>
        </a:accent3>
        <a:accent4>
          <a:srgbClr val="000000"/>
        </a:accent4>
        <a:accent5>
          <a:srgbClr val="E2E2E2"/>
        </a:accent5>
        <a:accent6>
          <a:srgbClr val="B9B95C"/>
        </a:accent6>
        <a:hlink>
          <a:srgbClr val="666699"/>
        </a:hlink>
        <a:folHlink>
          <a:srgbClr val="CCCC99"/>
        </a:folHlink>
      </a:clrScheme>
      <a:clrMap bg1="lt1" tx1="dk1" bg2="lt2" tx2="dk2" accent1="accent1" accent2="accent2" accent3="accent3" accent4="accent4" accent5="accent5" accent6="accent6" hlink="hlink" folHlink="folHlink"/>
    </a:extraClrScheme>
    <a:extraClrScheme>
      <a:clrScheme name="Layers 9">
        <a:dk1>
          <a:srgbClr val="000000"/>
        </a:dk1>
        <a:lt1>
          <a:srgbClr val="FFFFFF"/>
        </a:lt1>
        <a:dk2>
          <a:srgbClr val="FF0000"/>
        </a:dk2>
        <a:lt2>
          <a:srgbClr val="009999"/>
        </a:lt2>
        <a:accent1>
          <a:srgbClr val="C7B505"/>
        </a:accent1>
        <a:accent2>
          <a:srgbClr val="FFFF66"/>
        </a:accent2>
        <a:accent3>
          <a:srgbClr val="FFFFFF"/>
        </a:accent3>
        <a:accent4>
          <a:srgbClr val="000000"/>
        </a:accent4>
        <a:accent5>
          <a:srgbClr val="E0D7AA"/>
        </a:accent5>
        <a:accent6>
          <a:srgbClr val="E7E75C"/>
        </a:accent6>
        <a:hlink>
          <a:srgbClr val="5A84D8"/>
        </a:hlink>
        <a:folHlink>
          <a:srgbClr val="A0C6BA"/>
        </a:folHlink>
      </a:clrScheme>
      <a:clrMap bg1="lt1" tx1="dk1" bg2="lt2" tx2="dk2" accent1="accent1" accent2="accent2" accent3="accent3" accent4="accent4" accent5="accent5" accent6="accent6" hlink="hlink" folHlink="folHlink"/>
    </a:extraClrScheme>
    <a:extraClrScheme>
      <a:clrScheme name="Layers 10">
        <a:dk1>
          <a:srgbClr val="000000"/>
        </a:dk1>
        <a:lt1>
          <a:srgbClr val="FFFFFF"/>
        </a:lt1>
        <a:dk2>
          <a:srgbClr val="660033"/>
        </a:dk2>
        <a:lt2>
          <a:srgbClr val="666699"/>
        </a:lt2>
        <a:accent1>
          <a:srgbClr val="95A3D1"/>
        </a:accent1>
        <a:accent2>
          <a:srgbClr val="FFFF66"/>
        </a:accent2>
        <a:accent3>
          <a:srgbClr val="FFFFFF"/>
        </a:accent3>
        <a:accent4>
          <a:srgbClr val="000000"/>
        </a:accent4>
        <a:accent5>
          <a:srgbClr val="C8CEE5"/>
        </a:accent5>
        <a:accent6>
          <a:srgbClr val="E7E75C"/>
        </a:accent6>
        <a:hlink>
          <a:srgbClr val="5A84D8"/>
        </a:hlink>
        <a:folHlink>
          <a:srgbClr val="CCCC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565</TotalTime>
  <Words>2853</Words>
  <Application>Microsoft Office PowerPoint</Application>
  <PresentationFormat>宽屏</PresentationFormat>
  <Paragraphs>205</Paragraphs>
  <Slides>60</Slides>
  <Notes>13</Notes>
  <HiddenSlides>2</HiddenSlides>
  <MMClips>0</MMClips>
  <ScaleCrop>false</ScaleCrop>
  <HeadingPairs>
    <vt:vector size="8" baseType="variant">
      <vt:variant>
        <vt:lpstr>已用的字体</vt:lpstr>
      </vt:variant>
      <vt:variant>
        <vt:i4>12</vt:i4>
      </vt:variant>
      <vt:variant>
        <vt:lpstr>主题</vt:lpstr>
      </vt:variant>
      <vt:variant>
        <vt:i4>2</vt:i4>
      </vt:variant>
      <vt:variant>
        <vt:lpstr>嵌入 OLE 服务器</vt:lpstr>
      </vt:variant>
      <vt:variant>
        <vt:i4>1</vt:i4>
      </vt:variant>
      <vt:variant>
        <vt:lpstr>幻灯片标题</vt:lpstr>
      </vt:variant>
      <vt:variant>
        <vt:i4>60</vt:i4>
      </vt:variant>
    </vt:vector>
  </HeadingPairs>
  <TitlesOfParts>
    <vt:vector size="75" baseType="lpstr">
      <vt:lpstr>等线</vt:lpstr>
      <vt:lpstr>等线 Light</vt:lpstr>
      <vt:lpstr>仿宋_GB2312</vt:lpstr>
      <vt:lpstr>黑体</vt:lpstr>
      <vt:lpstr>楷体</vt:lpstr>
      <vt:lpstr>楷体_GB2312</vt:lpstr>
      <vt:lpstr>宋体</vt:lpstr>
      <vt:lpstr>Arial</vt:lpstr>
      <vt:lpstr>Garamond</vt:lpstr>
      <vt:lpstr>Tahoma</vt:lpstr>
      <vt:lpstr>Times New Roman</vt:lpstr>
      <vt:lpstr>Wingdings</vt:lpstr>
      <vt:lpstr>Office 主题​​</vt:lpstr>
      <vt:lpstr>Layers</vt:lpstr>
      <vt:lpstr>Microsoft PowerPoint 97-2003 Slide</vt:lpstr>
      <vt:lpstr>第三节  蛋白质结构</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β-折叠</vt:lpstr>
      <vt:lpstr>PowerPoint 演示文稿</vt:lpstr>
      <vt:lpstr>PowerPoint 演示文稿</vt:lpstr>
      <vt:lpstr>PowerPoint 演示文稿</vt:lpstr>
      <vt:lpstr>PowerPoint 演示文稿</vt:lpstr>
      <vt:lpstr>3.β-转角结构</vt:lpstr>
      <vt:lpstr>4.无规卷曲</vt:lpstr>
      <vt:lpstr>（三）超二级结构和结构域</vt:lpstr>
      <vt:lpstr>PowerPoint 演示文稿</vt:lpstr>
      <vt:lpstr>（三）超二级结构和结构域</vt:lpstr>
      <vt:lpstr>PowerPoint 演示文稿</vt:lpstr>
      <vt:lpstr>（四）蛋白质的三级结构</vt:lpstr>
      <vt:lpstr>PowerPoint 演示文稿</vt:lpstr>
      <vt:lpstr>（五）蛋白质的四级结构</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第四节  蛋白质结构与功能关系</vt:lpstr>
      <vt:lpstr>PowerPoint 演示文稿</vt:lpstr>
      <vt:lpstr>PowerPoint 演示文稿</vt:lpstr>
      <vt:lpstr>PowerPoint 演示文稿</vt:lpstr>
      <vt:lpstr>一、肌红蛋白和血红蛋白的结构与功能</vt:lpstr>
      <vt:lpstr>PowerPoint 演示文稿</vt:lpstr>
      <vt:lpstr>PowerPoint 演示文稿</vt:lpstr>
      <vt:lpstr>PowerPoint 演示文稿</vt:lpstr>
      <vt:lpstr>血红蛋白与氧的结合具有正协同效应</vt:lpstr>
      <vt:lpstr>PowerPoint 演示文稿</vt:lpstr>
      <vt:lpstr>PowerPoint 演示文稿</vt:lpstr>
      <vt:lpstr>PowerPoint 演示文稿</vt:lpstr>
      <vt:lpstr>PowerPoint 演示文稿</vt:lpstr>
      <vt:lpstr>PowerPoint 演示文稿</vt:lpstr>
      <vt:lpstr>镰状细胞贫血</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春凯 顾</dc:creator>
  <cp:lastModifiedBy>春凯 顾</cp:lastModifiedBy>
  <cp:revision>5</cp:revision>
  <dcterms:created xsi:type="dcterms:W3CDTF">2024-09-01T07:00:09Z</dcterms:created>
  <dcterms:modified xsi:type="dcterms:W3CDTF">2026-09-03T08:52:25Z</dcterms:modified>
</cp:coreProperties>
</file>